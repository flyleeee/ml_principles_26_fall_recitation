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11C9E08-46AE-C32D-E792-9B592C658516}">
          <p14:sldIdLst>
            <p14:sldId id="256"/>
            <p14:sldId id="257"/>
          </p14:sldIdLst>
        </p14:section>
        <p14:section name="Quiz 1" id="{A9A57774-842D-9F5F-D9B6-86830BDC7E5F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Quiz 2" id="{5DE7C53B-702D-0C5F-0C37-4BDEB50680DE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Wrap-up" id="{7E34D1C6-A09C-4033-FE28-6CF3B784138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21"/>
    <p:restoredTop sz="93048"/>
  </p:normalViewPr>
  <p:slideViewPr>
    <p:cSldViewPr snapToGrid="0" snapToObjects="1">
      <p:cViewPr>
        <p:scale>
          <a:sx n="125" d="100"/>
          <a:sy n="125" d="100"/>
        </p:scale>
        <p:origin x="60" y="-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3340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Thirty minutes. For each question type: the original quiz question, then the answer and the common trap, then a new variation. Commit to an answer on every question slide before we flip.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These are the question types students found hardest on Quiz 1 and Quiz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quiz question. Give 60-90 seconds, take a show of hands on the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Least: A · Most: D. Boundary: p(y=1|x) = σ(a) = 0.5, i.e. model output a = 0 (L4). Certainty grows with distance from it: A sits on it (C is close too); D is farthest away. Certain ≠ correct: several Xs, e.g. E, lie on the O side, so the model labels them O. Common trap: Picking the point ON the boundary as the most certain one. Lecture 4 writes sigm(wᵀx + b) for a straight boundary; a curved boundary like this one needs basis functions (L4, Polynomials), so a is the model output, not wᵀx + b. "Distance = certainty" is exact only for a linear boundary; here it is the intended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variation. Give 60-90 seconds, poll answers, then advance to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S → P → R → Q. Scores wᵀx + b: S = 0, P = 0.1, R = −2, Q = 3. Larger |score| = more certain. Q: σ(3) ≈ 0.95 for class 1. R: σ(−2) ≈ 0.12, so class 0 with ~88% confidence. Certain, and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quiz question. Give 60-90 seconds, take a show of hands on the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D — all three are true. (A) MLE maximizes p(D | θ): the “most likely estimate” (L1). (B) Little data, big swings: 3 heads in 3 flips gives an estimate of 1. (C) More data: the estimate converges to the true value (if the model is right). Common trap: Choosing one true statement and stopping, instead of checking every option. Careful wording: MLE maximizes the likelihood p(D | θ), not the posterior p(θ | D); that is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variation. Give 60-90 seconds, poll answers, then advance to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 is false. MLE uses no prior. Adding a prior (pseudo-counts α, β) gives MAP (L2). Follow-up: how would you stop p̂ = 1 after three flips? Add pseudo-counts (next question).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quiz question. Give 60-90 seconds, take a show of hands on the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 — 20 heads, 10 tails. Ratio of pseudo-counts = what you believe (2 : 1). Total pseudo-count = how strongly you believe it. “Very certain” needs a large total. “Small suspicion, 2 : 1” would be 2 heads, 1 tails. Common trap: Matching the ratio but ignoring that the total encodes strength.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variation. Give 60-90 seconds, poll answers, then advance to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 — 10 heads, 30 tails. MLE: 8 / 10 = 0.80 MAP, strong prior (α = 10, β = 30): (8 + 10) / (10 + 40) = 0.36 MAP, weak prior (α = 1, β = 3): (8 + 1) / (10 + 4) ≈ 0.64 Same ratio, very different pull. With more data, MAP moves toward the MLE (L2). Formula and notation follow Lecture 2 (Pseudo Counts): θ̂_map = (N₁ + α) / (N₀ + β + N₁ + α).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quiz question. Give 60-90 seconds, take a show of hands on the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8 pixels (8 × 8). Trace one layer-3 pixel back: it sees 2 layer-2 pixels per side, each of those 2 layer-1 pixels: 2 → 4 → 8. Versions B/D: 3 → 9 → 27. General rule: rₗ = rₗ₋₁ + (kₗ − 1) × (product of earlier strides), r₀ = 1. Number of filters and channels never enters the receptive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variation. Give 60-90 seconds, poll answers, then advance to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(a) 7 · (b) 15. (a) 3 → 5 → 7: each layer adds k − 1 = 2. (b) 3 → 7 → 15: layer 2 adds 2 × 2, layer 3 adds 2 × 4. (c) 50 → 25 → 12 → 6 (floor).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quiz question. Give 60-90 seconds, take a show of hands on the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Conv: 120 W, 10 b · Linear: 1,000 W, 10 b. Conv: kernel h × kernel w × input channels × filters = 2·2·3·10 = 120; one bias per filter. Image size and stride never appear. Linear: inputs × outputs = 1,000; one bias per output. Versions B/D: 270 + 10; 2,000 + 20. Common trap: Dropping input channels (2·2·10 = 40 instead of 120).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variation. Give 60-90 seconds, poll answers, then advance to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800 + 20 · 2,400 + 30 · 75,000. Layer 2: 2·2·10·20 = 800 weights, 20 biases (input channels = 10 filters of layer 1). Layer 3: 2·2·20·30 = 2,400 weights, 30 biases. Linear: 7,500 × 10 = 75,000 weights vs. 120 for conv layer 1: one small kernel is reused at every position (L7). Not an equal-output comparison: conv layer 1 produces 25×25×10 values, the linear layer only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quiz question. Give 60-90 seconds, take a show of hands on the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 — shattered gradients. Deep plain nets: early-layer gradients look like noise, with no consistent direction (Balduzzi et al., 2017; L8). Skip connections keep an identity path, so gradients stay structured. Vanishing gradients were mostly handled earlier by initialization and normalization (He et al., 2016, Sec. 1). Common trap: Choosing “All of the above” or the vanishing-gradients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variation. Give 60-90 seconds, poll answers, then advance to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Overfitting lowers training error; it cannot explain higher training error. The effect is Fig. 1 of He et al. (2016), who only conjecture a cause. B is the shattered-gradients account (Balduzzi et al., 2017; L8). He et al. Sec. 4.1 argue the difficulty is unlikely to be vanishing gradients and conjecture exponentially low convergence rates; Lecture 8 presents shattered gradients as the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quiz question. Give 60-90 seconds, take a show of hands on the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A: small batches add gradient noise that knocks SGD out of sharp minima (L6). B: momentum keeps the gradient direction and carries updates past sharp, local minima (L6). C is a capacity choice, not an escape mechanism; deeper plain nets can even train worse (L8). Common trap: Choosing D, “All of the above decrease the chance.” Heads-up for TAs: Lecture 6 (Bad Minima) also says adding parameters improves the chance of finding good minima. If a student raises this, acknowledge it: the key is C because A and B are the training techniques L6 gives for escaping minima, while C changes capacity. Send disputes to 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variation. Give 60-90 seconds, poll answers, then advance to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A. A huge batch makes the gradient nearly exact, removing the noise that helps escape sharp minima (L6; Keskar et al., 2017). B and C both help escape. Sharp ≠ high training loss: sharp minima mainly hurt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quiz question. Give 60-90 seconds, take a show of hands on the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“Linear” names the layers (L6); the ReLUs between them make the network nonlinear. Wide enough, with ReLU: universal approximation on compact sets (L6; Leshno et al., 1993). Against A: basis expansion is fixed; a network learns its basis. Common trap: Picking A, the basis-function statement. In research papers, "deep linear network" usually means no activations at all; the quiz uses "linear" for the layer type, as in Lecture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variation. Give 60-90 seconds, poll answers, then advance to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(a) a hyperplane · (b) 4 pieces. (a) With no activations the stack collapses to one linear layer (L6), so the boundary is a single hyperplane. (b) Each ReLU adds at most one kink: 3 kinks, 4 linear pieces.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quiz question. Give 60-90 seconds, take a show of hands on the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 and A. “Switch every 4 rolls on average” → P(switch) = 1/4 (expected run length = 1 / P(switch)).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quiz question. Give 60-90 seconds, take a show of hands on the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Fair, Fair, Unfair, Unfair. Roll 2 must be Fair: the unfair die never shows 2. The δ tie at roll 3 is not “equal”: backtracking from the end decides. Viterbi returns the single most likely sequence z* (MAP; L11, MAP vs MPE). Here the per-roll posterior (MPM) gives the same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variation. Give 60-90 seconds, poll answers, then advance to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Unfair, Unfair, Fair, equal. The final values tie, and both paths share rolls 1–3, so roll 4 is “equal”. Viterbi returns the MAP sequence z* (L11). Two paths tie (UUFF and UUFU); the per-roll posterior for roll 4 is exactly 0.5 as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dirty="0">
                <a:solidFill>
                  <a:srgbClr val="D6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B3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1188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CS461 Midterm Review · Recitation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B8BC"/>
                </a:solidFill>
              </a:rPr>
              <a:t>CS461 MACHINE LEARNING PRINCIPLES · RECITATION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Midterm Review</a:t>
            </a:r>
            <a:endParaRPr lang="en-US" sz="5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D6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most-missed questions from Quiz 1 and Quiz 2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question types, each as question → answer → variation</a:t>
            </a:r>
            <a:endParaRPr lang="en-US" sz="2400" dirty="0"/>
          </a:p>
        </p:txBody>
      </p:sp>
      <p:sp>
        <p:nvSpPr>
          <p:cNvPr id="3" name="agenda-0"/>
          <p:cNvSpPr/>
          <p:nvPr/>
        </p:nvSpPr>
        <p:spPr>
          <a:xfrm>
            <a:off x="548640" y="201168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F7E6E7"/>
          </a:solidFill>
          <a:ln w="6350">
            <a:solidFill>
              <a:srgbClr val="F7E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22402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83464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F2A44"/>
                </a:solidFill>
              </a:rPr>
              <a:t>Classifier certainty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F2A44"/>
                </a:solidFill>
              </a:rPr>
              <a:t>Properties of MLE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F2A44"/>
                </a:solidFill>
              </a:rPr>
              <a:t>Priors as pseudo-counts</a:t>
            </a:r>
            <a:endParaRPr lang="en-US" sz="1800" dirty="0"/>
          </a:p>
        </p:txBody>
      </p:sp>
      <p:sp>
        <p:nvSpPr>
          <p:cNvPr id="6" name="agenda-1"/>
          <p:cNvSpPr/>
          <p:nvPr/>
        </p:nvSpPr>
        <p:spPr>
          <a:xfrm>
            <a:off x="6172200" y="201168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E6EDF6"/>
          </a:solidFill>
          <a:ln w="6350">
            <a:solidFill>
              <a:srgbClr val="E6ED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92240" y="22402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5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83464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F2A44"/>
                </a:solidFill>
              </a:rPr>
              <a:t>Receptive field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F2A44"/>
                </a:solidFill>
              </a:rPr>
              <a:t>Parameter counting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F2A44"/>
                </a:solidFill>
              </a:rPr>
              <a:t>What ResNets solve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F2A44"/>
                </a:solidFill>
              </a:rPr>
              <a:t>Bad local minima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F2A44"/>
                </a:solidFill>
              </a:rPr>
              <a:t>Expressive power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F2A44"/>
                </a:solidFill>
              </a:rPr>
              <a:t>HMM setup and Viterbi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1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11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certainty, MLE, and priors as pseudo-counts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3008376" cy="329184"/>
          </a:xfrm>
          <a:prstGeom prst="roundRect">
            <a:avLst>
              <a:gd name="adj" fmla="val 50000"/>
            </a:avLst>
          </a:prstGeom>
          <a:solidFill>
            <a:srgbClr val="F7E6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2E"/>
                </a:solidFill>
              </a:rPr>
              <a:t>Quiz 1 · Q5–Q6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the points marked A–E, which does the model classify with the least certainty? With the most certainty?</a:t>
            </a:r>
            <a:endParaRPr lang="en-US" sz="2400" dirty="0"/>
          </a:p>
        </p:txBody>
      </p:sp>
      <p:sp>
        <p:nvSpPr>
          <p:cNvPr id="4" name="plot-frame"/>
          <p:cNvSpPr/>
          <p:nvPr/>
        </p:nvSpPr>
        <p:spPr>
          <a:xfrm>
            <a:off x="548640" y="2011680"/>
            <a:ext cx="5767578" cy="3977640"/>
          </a:xfrm>
          <a:prstGeom prst="rect">
            <a:avLst/>
          </a:prstGeom>
          <a:solidFill>
            <a:srgbClr val="FBFCFD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boundary-0"/>
          <p:cNvSpPr/>
          <p:nvPr/>
        </p:nvSpPr>
        <p:spPr>
          <a:xfrm flipV="1">
            <a:off x="728877" y="5526804"/>
            <a:ext cx="360474" cy="407014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boundary-1"/>
          <p:cNvSpPr/>
          <p:nvPr/>
        </p:nvSpPr>
        <p:spPr>
          <a:xfrm flipV="1">
            <a:off x="1089350" y="5193792"/>
            <a:ext cx="360474" cy="333012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boundary-2"/>
          <p:cNvSpPr/>
          <p:nvPr/>
        </p:nvSpPr>
        <p:spPr>
          <a:xfrm flipV="1">
            <a:off x="1449824" y="4953284"/>
            <a:ext cx="360474" cy="240508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oundary-3"/>
          <p:cNvSpPr/>
          <p:nvPr/>
        </p:nvSpPr>
        <p:spPr>
          <a:xfrm flipV="1">
            <a:off x="1810298" y="4786778"/>
            <a:ext cx="360474" cy="166506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oundary-4"/>
          <p:cNvSpPr/>
          <p:nvPr/>
        </p:nvSpPr>
        <p:spPr>
          <a:xfrm flipV="1">
            <a:off x="2170771" y="4601771"/>
            <a:ext cx="360474" cy="185007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oundary-5"/>
          <p:cNvSpPr/>
          <p:nvPr/>
        </p:nvSpPr>
        <p:spPr>
          <a:xfrm flipV="1">
            <a:off x="2531245" y="4435265"/>
            <a:ext cx="360474" cy="166506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boundary-6"/>
          <p:cNvSpPr/>
          <p:nvPr/>
        </p:nvSpPr>
        <p:spPr>
          <a:xfrm flipV="1">
            <a:off x="2891719" y="4287260"/>
            <a:ext cx="360474" cy="148005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oundary-7"/>
          <p:cNvSpPr/>
          <p:nvPr/>
        </p:nvSpPr>
        <p:spPr>
          <a:xfrm flipV="1">
            <a:off x="3252192" y="4157756"/>
            <a:ext cx="360474" cy="129505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boundary-8"/>
          <p:cNvSpPr/>
          <p:nvPr/>
        </p:nvSpPr>
        <p:spPr>
          <a:xfrm flipV="1">
            <a:off x="3612666" y="4028251"/>
            <a:ext cx="360474" cy="129505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boundary-9"/>
          <p:cNvSpPr/>
          <p:nvPr/>
        </p:nvSpPr>
        <p:spPr>
          <a:xfrm flipV="1">
            <a:off x="3973139" y="3935748"/>
            <a:ext cx="360474" cy="92503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oundary-10"/>
          <p:cNvSpPr/>
          <p:nvPr/>
        </p:nvSpPr>
        <p:spPr>
          <a:xfrm flipV="1">
            <a:off x="4333613" y="3843244"/>
            <a:ext cx="360474" cy="92503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oundary-11"/>
          <p:cNvSpPr/>
          <p:nvPr/>
        </p:nvSpPr>
        <p:spPr>
          <a:xfrm flipV="1">
            <a:off x="4694087" y="3769242"/>
            <a:ext cx="360474" cy="74003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oundary-12"/>
          <p:cNvSpPr/>
          <p:nvPr/>
        </p:nvSpPr>
        <p:spPr>
          <a:xfrm flipV="1">
            <a:off x="5054560" y="3676739"/>
            <a:ext cx="540710" cy="92503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oundary-13"/>
          <p:cNvSpPr/>
          <p:nvPr/>
        </p:nvSpPr>
        <p:spPr>
          <a:xfrm flipV="1">
            <a:off x="5595271" y="3602736"/>
            <a:ext cx="612805" cy="74003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-0"/>
          <p:cNvSpPr/>
          <p:nvPr/>
        </p:nvSpPr>
        <p:spPr>
          <a:xfrm>
            <a:off x="2273284" y="2636981"/>
            <a:ext cx="155448" cy="155448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-1"/>
          <p:cNvSpPr/>
          <p:nvPr/>
        </p:nvSpPr>
        <p:spPr>
          <a:xfrm>
            <a:off x="2525616" y="2488976"/>
            <a:ext cx="155448" cy="155448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-2"/>
          <p:cNvSpPr/>
          <p:nvPr/>
        </p:nvSpPr>
        <p:spPr>
          <a:xfrm>
            <a:off x="2705852" y="2211466"/>
            <a:ext cx="155448" cy="155448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-3"/>
          <p:cNvSpPr/>
          <p:nvPr/>
        </p:nvSpPr>
        <p:spPr>
          <a:xfrm>
            <a:off x="2777947" y="2525977"/>
            <a:ext cx="155448" cy="155448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-4"/>
          <p:cNvSpPr/>
          <p:nvPr/>
        </p:nvSpPr>
        <p:spPr>
          <a:xfrm>
            <a:off x="3102373" y="3080996"/>
            <a:ext cx="155448" cy="155448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-5"/>
          <p:cNvSpPr/>
          <p:nvPr/>
        </p:nvSpPr>
        <p:spPr>
          <a:xfrm>
            <a:off x="3534942" y="2821987"/>
            <a:ext cx="155448" cy="155448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-6"/>
          <p:cNvSpPr/>
          <p:nvPr/>
        </p:nvSpPr>
        <p:spPr>
          <a:xfrm>
            <a:off x="3643084" y="3173500"/>
            <a:ext cx="155448" cy="155448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-7"/>
          <p:cNvSpPr/>
          <p:nvPr/>
        </p:nvSpPr>
        <p:spPr>
          <a:xfrm>
            <a:off x="4075652" y="3654517"/>
            <a:ext cx="155448" cy="155448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x-0"/>
          <p:cNvSpPr/>
          <p:nvPr/>
        </p:nvSpPr>
        <p:spPr>
          <a:xfrm>
            <a:off x="2268183" y="4334894"/>
            <a:ext cx="237744" cy="237744"/>
          </a:xfrm>
          <a:prstGeom prst="mathMultiply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x-1"/>
          <p:cNvSpPr/>
          <p:nvPr/>
        </p:nvSpPr>
        <p:spPr>
          <a:xfrm>
            <a:off x="2484468" y="4057384"/>
            <a:ext cx="237744" cy="237744"/>
          </a:xfrm>
          <a:prstGeom prst="mathMultiply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x-2"/>
          <p:cNvSpPr/>
          <p:nvPr/>
        </p:nvSpPr>
        <p:spPr>
          <a:xfrm>
            <a:off x="2700752" y="3964881"/>
            <a:ext cx="237744" cy="237744"/>
          </a:xfrm>
          <a:prstGeom prst="mathMultiply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x-3"/>
          <p:cNvSpPr/>
          <p:nvPr/>
        </p:nvSpPr>
        <p:spPr>
          <a:xfrm>
            <a:off x="3061225" y="4297893"/>
            <a:ext cx="237744" cy="237744"/>
          </a:xfrm>
          <a:prstGeom prst="mathMultiply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x-4"/>
          <p:cNvSpPr/>
          <p:nvPr/>
        </p:nvSpPr>
        <p:spPr>
          <a:xfrm>
            <a:off x="3493794" y="3742873"/>
            <a:ext cx="237744" cy="237744"/>
          </a:xfrm>
          <a:prstGeom prst="mathMultiply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x-5"/>
          <p:cNvSpPr/>
          <p:nvPr/>
        </p:nvSpPr>
        <p:spPr>
          <a:xfrm>
            <a:off x="3601936" y="4020383"/>
            <a:ext cx="237744" cy="237744"/>
          </a:xfrm>
          <a:prstGeom prst="mathMultiply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x-6"/>
          <p:cNvSpPr/>
          <p:nvPr/>
        </p:nvSpPr>
        <p:spPr>
          <a:xfrm>
            <a:off x="4034504" y="4260891"/>
            <a:ext cx="237744" cy="237744"/>
          </a:xfrm>
          <a:prstGeom prst="mathMultiply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point-A"/>
          <p:cNvSpPr/>
          <p:nvPr/>
        </p:nvSpPr>
        <p:spPr>
          <a:xfrm>
            <a:off x="4719404" y="3687371"/>
            <a:ext cx="237744" cy="237744"/>
          </a:xfrm>
          <a:prstGeom prst="mathMultiply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label-A"/>
          <p:cNvSpPr txBox="1"/>
          <p:nvPr/>
        </p:nvSpPr>
        <p:spPr>
          <a:xfrm>
            <a:off x="5008840" y="3872803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</a:t>
            </a:r>
            <a:endParaRPr lang="en-US" sz="1600" dirty="0"/>
          </a:p>
        </p:txBody>
      </p:sp>
      <p:sp>
        <p:nvSpPr>
          <p:cNvPr id="36" name="point-B"/>
          <p:cNvSpPr/>
          <p:nvPr/>
        </p:nvSpPr>
        <p:spPr>
          <a:xfrm>
            <a:off x="2160041" y="4815911"/>
            <a:ext cx="237744" cy="237744"/>
          </a:xfrm>
          <a:prstGeom prst="mathMultiply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label-B"/>
          <p:cNvSpPr txBox="1"/>
          <p:nvPr/>
        </p:nvSpPr>
        <p:spPr>
          <a:xfrm>
            <a:off x="2449478" y="487183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</a:t>
            </a:r>
            <a:endParaRPr lang="en-US" sz="1600" dirty="0"/>
          </a:p>
        </p:txBody>
      </p:sp>
      <p:sp>
        <p:nvSpPr>
          <p:cNvPr id="38" name="point-C"/>
          <p:cNvSpPr/>
          <p:nvPr/>
        </p:nvSpPr>
        <p:spPr>
          <a:xfrm>
            <a:off x="4760552" y="3599015"/>
            <a:ext cx="155448" cy="155448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label-C"/>
          <p:cNvSpPr txBox="1"/>
          <p:nvPr/>
        </p:nvSpPr>
        <p:spPr>
          <a:xfrm>
            <a:off x="5008840" y="333628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</a:t>
            </a:r>
            <a:endParaRPr lang="en-US" sz="1600" dirty="0"/>
          </a:p>
        </p:txBody>
      </p:sp>
      <p:sp>
        <p:nvSpPr>
          <p:cNvPr id="40" name="point-D"/>
          <p:cNvSpPr/>
          <p:nvPr/>
        </p:nvSpPr>
        <p:spPr>
          <a:xfrm>
            <a:off x="2201189" y="3099497"/>
            <a:ext cx="155448" cy="155448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label-D"/>
          <p:cNvSpPr txBox="1"/>
          <p:nvPr/>
        </p:nvSpPr>
        <p:spPr>
          <a:xfrm>
            <a:off x="1872720" y="3132777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</a:t>
            </a:r>
            <a:endParaRPr lang="en-US" sz="1600" dirty="0"/>
          </a:p>
        </p:txBody>
      </p:sp>
      <p:sp>
        <p:nvSpPr>
          <p:cNvPr id="42" name="point-E"/>
          <p:cNvSpPr/>
          <p:nvPr/>
        </p:nvSpPr>
        <p:spPr>
          <a:xfrm>
            <a:off x="2664704" y="3668871"/>
            <a:ext cx="237744" cy="237744"/>
          </a:xfrm>
          <a:prstGeom prst="mathMultiply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label-E"/>
          <p:cNvSpPr txBox="1"/>
          <p:nvPr/>
        </p:nvSpPr>
        <p:spPr>
          <a:xfrm>
            <a:off x="2954141" y="3539791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</a:t>
            </a:r>
            <a:endParaRPr lang="en-US" sz="1600" dirty="0"/>
          </a:p>
        </p:txBody>
      </p:sp>
      <p:sp>
        <p:nvSpPr>
          <p:cNvPr id="44" name="figure-note"/>
          <p:cNvSpPr txBox="1"/>
          <p:nvPr/>
        </p:nvSpPr>
        <p:spPr>
          <a:xfrm>
            <a:off x="548640" y="6035040"/>
            <a:ext cx="57675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Xs and Os; black curve = decision boundary (redrawn from the Quiz 1 figure)</a:t>
            </a:r>
            <a:endParaRPr lang="en-US" sz="1200" dirty="0"/>
          </a:p>
        </p:txBody>
      </p:sp>
      <p:sp>
        <p:nvSpPr>
          <p:cNvPr id="45" name="think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F2F4F7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hink-text"/>
          <p:cNvSpPr txBox="1"/>
          <p:nvPr/>
        </p:nvSpPr>
        <p:spPr>
          <a:xfrm>
            <a:off x="8275320" y="228600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Your turn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Take 60–90 seconds. Commit to an answer before the next slide.</a:t>
            </a:r>
            <a:endParaRPr lang="en-US" sz="20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3008376" cy="329184"/>
          </a:xfrm>
          <a:prstGeom prst="roundRect">
            <a:avLst>
              <a:gd name="adj" fmla="val 50000"/>
            </a:avLst>
          </a:prstGeom>
          <a:solidFill>
            <a:srgbClr val="F7E6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2E"/>
                </a:solidFill>
              </a:rPr>
              <a:t>Quiz 1 · Q5–Q6</a:t>
            </a:r>
            <a:endParaRPr lang="en-US" sz="1300" dirty="0"/>
          </a:p>
        </p:txBody>
      </p:sp>
      <p:sp>
        <p:nvSpPr>
          <p:cNvPr id="3" name="answer-tag"/>
          <p:cNvSpPr txBox="1"/>
          <p:nvPr/>
        </p:nvSpPr>
        <p:spPr>
          <a:xfrm>
            <a:off x="3694176" y="3840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the points marked A–E, which does the model classify with the least certainty? With the most certainty?</a:t>
            </a:r>
            <a:endParaRPr lang="en-US" sz="2400" dirty="0"/>
          </a:p>
        </p:txBody>
      </p:sp>
      <p:sp>
        <p:nvSpPr>
          <p:cNvPr id="5" name="plot-frame"/>
          <p:cNvSpPr/>
          <p:nvPr/>
        </p:nvSpPr>
        <p:spPr>
          <a:xfrm>
            <a:off x="548640" y="2011680"/>
            <a:ext cx="5767578" cy="3977640"/>
          </a:xfrm>
          <a:prstGeom prst="rect">
            <a:avLst/>
          </a:prstGeom>
          <a:solidFill>
            <a:srgbClr val="FBFCFD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boundary-0"/>
          <p:cNvSpPr/>
          <p:nvPr/>
        </p:nvSpPr>
        <p:spPr>
          <a:xfrm flipV="1">
            <a:off x="728877" y="5526804"/>
            <a:ext cx="360474" cy="407014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boundary-1"/>
          <p:cNvSpPr/>
          <p:nvPr/>
        </p:nvSpPr>
        <p:spPr>
          <a:xfrm flipV="1">
            <a:off x="1089350" y="5193792"/>
            <a:ext cx="360474" cy="333012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oundary-2"/>
          <p:cNvSpPr/>
          <p:nvPr/>
        </p:nvSpPr>
        <p:spPr>
          <a:xfrm flipV="1">
            <a:off x="1449824" y="4953284"/>
            <a:ext cx="360474" cy="240508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oundary-3"/>
          <p:cNvSpPr/>
          <p:nvPr/>
        </p:nvSpPr>
        <p:spPr>
          <a:xfrm flipV="1">
            <a:off x="1810298" y="4786778"/>
            <a:ext cx="360474" cy="166506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oundary-4"/>
          <p:cNvSpPr/>
          <p:nvPr/>
        </p:nvSpPr>
        <p:spPr>
          <a:xfrm flipV="1">
            <a:off x="2170771" y="4601771"/>
            <a:ext cx="360474" cy="185007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boundary-5"/>
          <p:cNvSpPr/>
          <p:nvPr/>
        </p:nvSpPr>
        <p:spPr>
          <a:xfrm flipV="1">
            <a:off x="2531245" y="4435265"/>
            <a:ext cx="360474" cy="166506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oundary-6"/>
          <p:cNvSpPr/>
          <p:nvPr/>
        </p:nvSpPr>
        <p:spPr>
          <a:xfrm flipV="1">
            <a:off x="2891719" y="4287260"/>
            <a:ext cx="360474" cy="148005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boundary-7"/>
          <p:cNvSpPr/>
          <p:nvPr/>
        </p:nvSpPr>
        <p:spPr>
          <a:xfrm flipV="1">
            <a:off x="3252192" y="4157756"/>
            <a:ext cx="360474" cy="129505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boundary-8"/>
          <p:cNvSpPr/>
          <p:nvPr/>
        </p:nvSpPr>
        <p:spPr>
          <a:xfrm flipV="1">
            <a:off x="3612666" y="4028251"/>
            <a:ext cx="360474" cy="129505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oundary-9"/>
          <p:cNvSpPr/>
          <p:nvPr/>
        </p:nvSpPr>
        <p:spPr>
          <a:xfrm flipV="1">
            <a:off x="3973139" y="3935748"/>
            <a:ext cx="360474" cy="92503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oundary-10"/>
          <p:cNvSpPr/>
          <p:nvPr/>
        </p:nvSpPr>
        <p:spPr>
          <a:xfrm flipV="1">
            <a:off x="4333613" y="3843244"/>
            <a:ext cx="360474" cy="92503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oundary-11"/>
          <p:cNvSpPr/>
          <p:nvPr/>
        </p:nvSpPr>
        <p:spPr>
          <a:xfrm flipV="1">
            <a:off x="4694087" y="3769242"/>
            <a:ext cx="360474" cy="74003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oundary-12"/>
          <p:cNvSpPr/>
          <p:nvPr/>
        </p:nvSpPr>
        <p:spPr>
          <a:xfrm flipV="1">
            <a:off x="5054560" y="3676739"/>
            <a:ext cx="540710" cy="92503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oundary-13"/>
          <p:cNvSpPr/>
          <p:nvPr/>
        </p:nvSpPr>
        <p:spPr>
          <a:xfrm flipV="1">
            <a:off x="5595271" y="3602736"/>
            <a:ext cx="612805" cy="74003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-0"/>
          <p:cNvSpPr/>
          <p:nvPr/>
        </p:nvSpPr>
        <p:spPr>
          <a:xfrm>
            <a:off x="2273284" y="2636981"/>
            <a:ext cx="155448" cy="155448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-1"/>
          <p:cNvSpPr/>
          <p:nvPr/>
        </p:nvSpPr>
        <p:spPr>
          <a:xfrm>
            <a:off x="2525616" y="2488976"/>
            <a:ext cx="155448" cy="155448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-2"/>
          <p:cNvSpPr/>
          <p:nvPr/>
        </p:nvSpPr>
        <p:spPr>
          <a:xfrm>
            <a:off x="2705852" y="2211466"/>
            <a:ext cx="155448" cy="155448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-3"/>
          <p:cNvSpPr/>
          <p:nvPr/>
        </p:nvSpPr>
        <p:spPr>
          <a:xfrm>
            <a:off x="2777947" y="2525977"/>
            <a:ext cx="155448" cy="155448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-4"/>
          <p:cNvSpPr/>
          <p:nvPr/>
        </p:nvSpPr>
        <p:spPr>
          <a:xfrm>
            <a:off x="3102373" y="3080996"/>
            <a:ext cx="155448" cy="155448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-5"/>
          <p:cNvSpPr/>
          <p:nvPr/>
        </p:nvSpPr>
        <p:spPr>
          <a:xfrm>
            <a:off x="3534942" y="2821987"/>
            <a:ext cx="155448" cy="155448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-6"/>
          <p:cNvSpPr/>
          <p:nvPr/>
        </p:nvSpPr>
        <p:spPr>
          <a:xfrm>
            <a:off x="3643084" y="3173500"/>
            <a:ext cx="155448" cy="155448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-7"/>
          <p:cNvSpPr/>
          <p:nvPr/>
        </p:nvSpPr>
        <p:spPr>
          <a:xfrm>
            <a:off x="4075652" y="3654517"/>
            <a:ext cx="155448" cy="155448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x-0"/>
          <p:cNvSpPr/>
          <p:nvPr/>
        </p:nvSpPr>
        <p:spPr>
          <a:xfrm>
            <a:off x="2268183" y="4334894"/>
            <a:ext cx="237744" cy="237744"/>
          </a:xfrm>
          <a:prstGeom prst="mathMultiply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x-1"/>
          <p:cNvSpPr/>
          <p:nvPr/>
        </p:nvSpPr>
        <p:spPr>
          <a:xfrm>
            <a:off x="2484468" y="4057384"/>
            <a:ext cx="237744" cy="237744"/>
          </a:xfrm>
          <a:prstGeom prst="mathMultiply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x-2"/>
          <p:cNvSpPr/>
          <p:nvPr/>
        </p:nvSpPr>
        <p:spPr>
          <a:xfrm>
            <a:off x="2700752" y="3964881"/>
            <a:ext cx="237744" cy="237744"/>
          </a:xfrm>
          <a:prstGeom prst="mathMultiply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x-3"/>
          <p:cNvSpPr/>
          <p:nvPr/>
        </p:nvSpPr>
        <p:spPr>
          <a:xfrm>
            <a:off x="3061225" y="4297893"/>
            <a:ext cx="237744" cy="237744"/>
          </a:xfrm>
          <a:prstGeom prst="mathMultiply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x-4"/>
          <p:cNvSpPr/>
          <p:nvPr/>
        </p:nvSpPr>
        <p:spPr>
          <a:xfrm>
            <a:off x="3493794" y="3742873"/>
            <a:ext cx="237744" cy="237744"/>
          </a:xfrm>
          <a:prstGeom prst="mathMultiply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x-5"/>
          <p:cNvSpPr/>
          <p:nvPr/>
        </p:nvSpPr>
        <p:spPr>
          <a:xfrm>
            <a:off x="3601936" y="4020383"/>
            <a:ext cx="237744" cy="237744"/>
          </a:xfrm>
          <a:prstGeom prst="mathMultiply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x-6"/>
          <p:cNvSpPr/>
          <p:nvPr/>
        </p:nvSpPr>
        <p:spPr>
          <a:xfrm>
            <a:off x="4034504" y="4260891"/>
            <a:ext cx="237744" cy="237744"/>
          </a:xfrm>
          <a:prstGeom prst="mathMultiply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point-A"/>
          <p:cNvSpPr/>
          <p:nvPr/>
        </p:nvSpPr>
        <p:spPr>
          <a:xfrm>
            <a:off x="4719404" y="3687371"/>
            <a:ext cx="237744" cy="237744"/>
          </a:xfrm>
          <a:prstGeom prst="mathMultiply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label-A"/>
          <p:cNvSpPr txBox="1"/>
          <p:nvPr/>
        </p:nvSpPr>
        <p:spPr>
          <a:xfrm>
            <a:off x="5008840" y="3872803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</a:t>
            </a:r>
            <a:endParaRPr lang="en-US" sz="1600" dirty="0"/>
          </a:p>
        </p:txBody>
      </p:sp>
      <p:sp>
        <p:nvSpPr>
          <p:cNvPr id="37" name="point-B"/>
          <p:cNvSpPr/>
          <p:nvPr/>
        </p:nvSpPr>
        <p:spPr>
          <a:xfrm>
            <a:off x="2160041" y="4815911"/>
            <a:ext cx="237744" cy="237744"/>
          </a:xfrm>
          <a:prstGeom prst="mathMultiply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label-B"/>
          <p:cNvSpPr txBox="1"/>
          <p:nvPr/>
        </p:nvSpPr>
        <p:spPr>
          <a:xfrm>
            <a:off x="2449478" y="487183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</a:t>
            </a:r>
            <a:endParaRPr lang="en-US" sz="1600" dirty="0"/>
          </a:p>
        </p:txBody>
      </p:sp>
      <p:sp>
        <p:nvSpPr>
          <p:cNvPr id="39" name="point-C"/>
          <p:cNvSpPr/>
          <p:nvPr/>
        </p:nvSpPr>
        <p:spPr>
          <a:xfrm>
            <a:off x="4760552" y="3599015"/>
            <a:ext cx="155448" cy="155448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label-C"/>
          <p:cNvSpPr txBox="1"/>
          <p:nvPr/>
        </p:nvSpPr>
        <p:spPr>
          <a:xfrm>
            <a:off x="5008840" y="333628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</a:t>
            </a:r>
            <a:endParaRPr lang="en-US" sz="1600" dirty="0"/>
          </a:p>
        </p:txBody>
      </p:sp>
      <p:sp>
        <p:nvSpPr>
          <p:cNvPr id="41" name="point-D"/>
          <p:cNvSpPr/>
          <p:nvPr/>
        </p:nvSpPr>
        <p:spPr>
          <a:xfrm>
            <a:off x="2201189" y="3099497"/>
            <a:ext cx="155448" cy="155448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label-D"/>
          <p:cNvSpPr txBox="1"/>
          <p:nvPr/>
        </p:nvSpPr>
        <p:spPr>
          <a:xfrm>
            <a:off x="1872720" y="3132777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</a:t>
            </a:r>
            <a:endParaRPr lang="en-US" sz="1600" dirty="0"/>
          </a:p>
        </p:txBody>
      </p:sp>
      <p:sp>
        <p:nvSpPr>
          <p:cNvPr id="43" name="point-E"/>
          <p:cNvSpPr/>
          <p:nvPr/>
        </p:nvSpPr>
        <p:spPr>
          <a:xfrm>
            <a:off x="2664704" y="3668871"/>
            <a:ext cx="237744" cy="237744"/>
          </a:xfrm>
          <a:prstGeom prst="mathMultiply">
            <a:avLst/>
          </a:prstGeom>
          <a:solidFill>
            <a:srgbClr val="D9822B"/>
          </a:solidFill>
          <a:ln w="6350">
            <a:solidFill>
              <a:srgbClr val="D98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label-E"/>
          <p:cNvSpPr txBox="1"/>
          <p:nvPr/>
        </p:nvSpPr>
        <p:spPr>
          <a:xfrm>
            <a:off x="2954141" y="3539791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</a:t>
            </a:r>
            <a:endParaRPr lang="en-US" sz="1600" dirty="0"/>
          </a:p>
        </p:txBody>
      </p:sp>
      <p:sp>
        <p:nvSpPr>
          <p:cNvPr id="45" name="figure-note"/>
          <p:cNvSpPr txBox="1"/>
          <p:nvPr/>
        </p:nvSpPr>
        <p:spPr>
          <a:xfrm>
            <a:off x="548640" y="6035040"/>
            <a:ext cx="57675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Xs and Os; black curve = decision boundary (redrawn from the Quiz 1 figure)</a:t>
            </a:r>
            <a:endParaRPr lang="en-US" sz="1200" dirty="0"/>
          </a:p>
        </p:txBody>
      </p:sp>
      <p:sp>
        <p:nvSpPr>
          <p:cNvPr id="46" name="answer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answer-label"/>
          <p:cNvSpPr txBox="1"/>
          <p:nvPr/>
        </p:nvSpPr>
        <p:spPr>
          <a:xfrm>
            <a:off x="8229600" y="22402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C"/>
                </a:solidFill>
              </a:rPr>
              <a:t>ANSWER</a:t>
            </a:r>
            <a:endParaRPr lang="en-US" sz="1200" dirty="0"/>
          </a:p>
        </p:txBody>
      </p:sp>
      <p:sp>
        <p:nvSpPr>
          <p:cNvPr id="48" name="answer-head"/>
          <p:cNvSpPr txBox="1"/>
          <p:nvPr/>
        </p:nvSpPr>
        <p:spPr>
          <a:xfrm>
            <a:off x="8229600" y="2532888"/>
            <a:ext cx="318211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Least: A · Most: D</a:t>
            </a:r>
            <a:endParaRPr lang="en-US" sz="2000" dirty="0"/>
          </a:p>
        </p:txBody>
      </p:sp>
      <p:sp>
        <p:nvSpPr>
          <p:cNvPr id="49" name="answer-bullets"/>
          <p:cNvSpPr txBox="1"/>
          <p:nvPr/>
        </p:nvSpPr>
        <p:spPr>
          <a:xfrm>
            <a:off x="8229600" y="3025648"/>
            <a:ext cx="3182112" cy="1947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Boundary: p(y=1|x) = σ(a) = 0.5, i.e. model output a = 0 (L4).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Certainty grows with distance from it: A sits on it (C is close too); D is farthest away.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Certain ≠ correct: several Xs, e.g. E, lie on the O side, so the model labels them O.</a:t>
            </a:r>
            <a:endParaRPr lang="en-US" sz="1400" dirty="0"/>
          </a:p>
        </p:txBody>
      </p:sp>
      <p:sp>
        <p:nvSpPr>
          <p:cNvPr id="50" name="class-picks"/>
          <p:cNvSpPr txBox="1"/>
          <p:nvPr/>
        </p:nvSpPr>
        <p:spPr>
          <a:xfrm>
            <a:off x="8183880" y="5064252"/>
            <a:ext cx="3273552" cy="1016508"/>
          </a:xfrm>
          <a:prstGeom prst="roundRect">
            <a:avLst>
              <a:gd name="adj" fmla="val 5397"/>
            </a:avLst>
          </a:prstGeom>
          <a:solidFill>
            <a:srgbClr val="6E2430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8BC"/>
                </a:solidFill>
              </a:rPr>
              <a:t>Common trap: </a:t>
            </a:r>
            <a:r>
              <a:rPr lang="en-US" sz="1400" dirty="0">
                <a:solidFill>
                  <a:srgbClr val="FFFFFF"/>
                </a:solidFill>
              </a:rPr>
              <a:t>Picking the point ON the boundary as the most certain one.</a:t>
            </a:r>
            <a:endParaRPr lang="en-US" sz="14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2852928" cy="329184"/>
          </a:xfrm>
          <a:prstGeom prst="roundRect">
            <a:avLst>
              <a:gd name="adj" fmla="val 50000"/>
            </a:avLst>
          </a:prstGeom>
          <a:solidFill>
            <a:srgbClr val="E6ED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8A"/>
                </a:solidFill>
              </a:rPr>
              <a:t>Variation · classifier certainty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logistic regression model has p(y=1|x) = σ(x₁ + x₂ − 1). Rank S, P, R, Q from least to most certain.</a:t>
            </a:r>
            <a:endParaRPr lang="en-US" sz="2400" dirty="0"/>
          </a:p>
        </p:txBody>
      </p:sp>
      <p:sp>
        <p:nvSpPr>
          <p:cNvPr id="4" name="prompt"/>
          <p:cNvSpPr txBox="1"/>
          <p:nvPr/>
        </p:nvSpPr>
        <p:spPr>
          <a:xfrm>
            <a:off x="548640" y="2011680"/>
            <a:ext cx="708660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 = (0.9, 0.1) · P = (0.5, 0.6) · R = (−1, 0) · Q = (2, 2)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Follow-up: R’s true label is 1. Is the model unsure about R?</a:t>
            </a:r>
            <a:endParaRPr lang="en-US" sz="1800" dirty="0"/>
          </a:p>
        </p:txBody>
      </p:sp>
      <p:sp>
        <p:nvSpPr>
          <p:cNvPr id="5" name="plot-frame"/>
          <p:cNvSpPr/>
          <p:nvPr/>
        </p:nvSpPr>
        <p:spPr>
          <a:xfrm>
            <a:off x="548640" y="3241548"/>
            <a:ext cx="3984269" cy="2747772"/>
          </a:xfrm>
          <a:prstGeom prst="rect">
            <a:avLst/>
          </a:prstGeom>
          <a:solidFill>
            <a:srgbClr val="FBFCFD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axis-x1"/>
          <p:cNvSpPr/>
          <p:nvPr/>
        </p:nvSpPr>
        <p:spPr>
          <a:xfrm>
            <a:off x="548640" y="4958906"/>
            <a:ext cx="3984269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xis-x2"/>
          <p:cNvSpPr/>
          <p:nvPr/>
        </p:nvSpPr>
        <p:spPr>
          <a:xfrm>
            <a:off x="2042741" y="3241548"/>
            <a:ext cx="0" cy="2747772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121429" y="4977193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x₁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097605" y="32781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x₂</a:t>
            </a:r>
            <a:endParaRPr lang="en-US" sz="1400" dirty="0"/>
          </a:p>
        </p:txBody>
      </p:sp>
      <p:sp>
        <p:nvSpPr>
          <p:cNvPr id="10" name="boundary-0"/>
          <p:cNvSpPr/>
          <p:nvPr/>
        </p:nvSpPr>
        <p:spPr>
          <a:xfrm>
            <a:off x="548640" y="3241548"/>
            <a:ext cx="3984269" cy="2747772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oint-S"/>
          <p:cNvSpPr/>
          <p:nvPr/>
        </p:nvSpPr>
        <p:spPr>
          <a:xfrm>
            <a:off x="2856906" y="4807915"/>
            <a:ext cx="164592" cy="164592"/>
          </a:xfrm>
          <a:prstGeom prst="ellipse">
            <a:avLst/>
          </a:prstGeom>
          <a:solidFill>
            <a:srgbClr val="B3262E"/>
          </a:solidFill>
          <a:ln w="6350">
            <a:solidFill>
              <a:srgbClr val="B32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label-S"/>
          <p:cNvSpPr txBox="1"/>
          <p:nvPr/>
        </p:nvSpPr>
        <p:spPr>
          <a:xfrm>
            <a:off x="3013010" y="465233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</a:t>
            </a:r>
            <a:endParaRPr lang="en-US" sz="1600" dirty="0"/>
          </a:p>
        </p:txBody>
      </p:sp>
      <p:sp>
        <p:nvSpPr>
          <p:cNvPr id="13" name="point-P"/>
          <p:cNvSpPr/>
          <p:nvPr/>
        </p:nvSpPr>
        <p:spPr>
          <a:xfrm>
            <a:off x="2458479" y="4464444"/>
            <a:ext cx="164592" cy="164592"/>
          </a:xfrm>
          <a:prstGeom prst="ellipse">
            <a:avLst/>
          </a:prstGeom>
          <a:solidFill>
            <a:srgbClr val="B3262E"/>
          </a:solidFill>
          <a:ln w="6350">
            <a:solidFill>
              <a:srgbClr val="B32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label-P"/>
          <p:cNvSpPr txBox="1"/>
          <p:nvPr/>
        </p:nvSpPr>
        <p:spPr>
          <a:xfrm>
            <a:off x="2614583" y="428825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</a:t>
            </a:r>
            <a:endParaRPr lang="en-US" sz="1600" dirty="0"/>
          </a:p>
        </p:txBody>
      </p:sp>
      <p:sp>
        <p:nvSpPr>
          <p:cNvPr id="15" name="point-R"/>
          <p:cNvSpPr/>
          <p:nvPr/>
        </p:nvSpPr>
        <p:spPr>
          <a:xfrm>
            <a:off x="964378" y="4876610"/>
            <a:ext cx="164592" cy="164592"/>
          </a:xfrm>
          <a:prstGeom prst="ellipse">
            <a:avLst/>
          </a:prstGeom>
          <a:solidFill>
            <a:srgbClr val="B3262E"/>
          </a:solidFill>
          <a:ln w="6350">
            <a:solidFill>
              <a:srgbClr val="B32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label-R"/>
          <p:cNvSpPr txBox="1"/>
          <p:nvPr/>
        </p:nvSpPr>
        <p:spPr>
          <a:xfrm>
            <a:off x="1100560" y="4666069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</a:t>
            </a:r>
            <a:endParaRPr lang="en-US" sz="1600" dirty="0"/>
          </a:p>
        </p:txBody>
      </p:sp>
      <p:sp>
        <p:nvSpPr>
          <p:cNvPr id="17" name="point-Q"/>
          <p:cNvSpPr/>
          <p:nvPr/>
        </p:nvSpPr>
        <p:spPr>
          <a:xfrm>
            <a:off x="3952580" y="3502724"/>
            <a:ext cx="164592" cy="164592"/>
          </a:xfrm>
          <a:prstGeom prst="ellipse">
            <a:avLst/>
          </a:prstGeom>
          <a:solidFill>
            <a:srgbClr val="B3262E"/>
          </a:solidFill>
          <a:ln w="6350">
            <a:solidFill>
              <a:srgbClr val="B32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label-Q"/>
          <p:cNvSpPr txBox="1"/>
          <p:nvPr/>
        </p:nvSpPr>
        <p:spPr>
          <a:xfrm>
            <a:off x="4108684" y="3360877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Q</a:t>
            </a:r>
            <a:endParaRPr lang="en-US" sz="1600" dirty="0"/>
          </a:p>
        </p:txBody>
      </p:sp>
      <p:sp>
        <p:nvSpPr>
          <p:cNvPr id="19" name="figure-note"/>
          <p:cNvSpPr txBox="1"/>
          <p:nvPr/>
        </p:nvSpPr>
        <p:spPr>
          <a:xfrm>
            <a:off x="548640" y="6035040"/>
            <a:ext cx="39842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Line: x₁ + x₂ = 1 (the decision boundary)</a:t>
            </a:r>
            <a:endParaRPr lang="en-US" sz="1200" dirty="0"/>
          </a:p>
        </p:txBody>
      </p:sp>
      <p:sp>
        <p:nvSpPr>
          <p:cNvPr id="20" name="think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F2F4F7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hink-text"/>
          <p:cNvSpPr txBox="1"/>
          <p:nvPr/>
        </p:nvSpPr>
        <p:spPr>
          <a:xfrm>
            <a:off x="8275320" y="228600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Your turn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Take 60–90 seconds. Commit to an answer before the next slide.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2852928" cy="329184"/>
          </a:xfrm>
          <a:prstGeom prst="roundRect">
            <a:avLst>
              <a:gd name="adj" fmla="val 50000"/>
            </a:avLst>
          </a:prstGeom>
          <a:solidFill>
            <a:srgbClr val="E6ED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8A"/>
                </a:solidFill>
              </a:rPr>
              <a:t>Variation · classifier certainty</a:t>
            </a:r>
            <a:endParaRPr lang="en-US" sz="1300" dirty="0"/>
          </a:p>
        </p:txBody>
      </p:sp>
      <p:sp>
        <p:nvSpPr>
          <p:cNvPr id="3" name="answer-tag"/>
          <p:cNvSpPr txBox="1"/>
          <p:nvPr/>
        </p:nvSpPr>
        <p:spPr>
          <a:xfrm>
            <a:off x="3538728" y="3840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logistic regression model has p(y=1|x) = σ(x₁ + x₂ − 1). Rank S, P, R, Q from least to most certain.</a:t>
            </a:r>
            <a:endParaRPr lang="en-US" sz="2400" dirty="0"/>
          </a:p>
        </p:txBody>
      </p:sp>
      <p:sp>
        <p:nvSpPr>
          <p:cNvPr id="5" name="prompt"/>
          <p:cNvSpPr txBox="1"/>
          <p:nvPr/>
        </p:nvSpPr>
        <p:spPr>
          <a:xfrm>
            <a:off x="548640" y="2011680"/>
            <a:ext cx="708660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 = (0.9, 0.1) · P = (0.5, 0.6) · R = (−1, 0) · Q = (2, 2)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Follow-up: R’s true label is 1. Is the model unsure about R?</a:t>
            </a:r>
            <a:endParaRPr lang="en-US" sz="1800" dirty="0"/>
          </a:p>
        </p:txBody>
      </p:sp>
      <p:sp>
        <p:nvSpPr>
          <p:cNvPr id="6" name="plot-frame"/>
          <p:cNvSpPr/>
          <p:nvPr/>
        </p:nvSpPr>
        <p:spPr>
          <a:xfrm>
            <a:off x="548640" y="3241548"/>
            <a:ext cx="3984269" cy="2747772"/>
          </a:xfrm>
          <a:prstGeom prst="rect">
            <a:avLst/>
          </a:prstGeom>
          <a:solidFill>
            <a:srgbClr val="FBFCFD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xis-x1"/>
          <p:cNvSpPr/>
          <p:nvPr/>
        </p:nvSpPr>
        <p:spPr>
          <a:xfrm>
            <a:off x="548640" y="4958906"/>
            <a:ext cx="3984269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axis-x2"/>
          <p:cNvSpPr/>
          <p:nvPr/>
        </p:nvSpPr>
        <p:spPr>
          <a:xfrm>
            <a:off x="2042741" y="3241548"/>
            <a:ext cx="0" cy="2747772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121429" y="4977193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x₁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097605" y="32781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x₂</a:t>
            </a:r>
            <a:endParaRPr lang="en-US" sz="1400" dirty="0"/>
          </a:p>
        </p:txBody>
      </p:sp>
      <p:sp>
        <p:nvSpPr>
          <p:cNvPr id="11" name="boundary-0"/>
          <p:cNvSpPr/>
          <p:nvPr/>
        </p:nvSpPr>
        <p:spPr>
          <a:xfrm>
            <a:off x="548640" y="3241548"/>
            <a:ext cx="3984269" cy="2747772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point-S"/>
          <p:cNvSpPr/>
          <p:nvPr/>
        </p:nvSpPr>
        <p:spPr>
          <a:xfrm>
            <a:off x="2856906" y="4807915"/>
            <a:ext cx="164592" cy="164592"/>
          </a:xfrm>
          <a:prstGeom prst="ellipse">
            <a:avLst/>
          </a:prstGeom>
          <a:solidFill>
            <a:srgbClr val="B3262E"/>
          </a:solidFill>
          <a:ln w="6350">
            <a:solidFill>
              <a:srgbClr val="B32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abel-S"/>
          <p:cNvSpPr txBox="1"/>
          <p:nvPr/>
        </p:nvSpPr>
        <p:spPr>
          <a:xfrm>
            <a:off x="3013010" y="465233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</a:t>
            </a:r>
            <a:endParaRPr lang="en-US" sz="1600" dirty="0"/>
          </a:p>
        </p:txBody>
      </p:sp>
      <p:sp>
        <p:nvSpPr>
          <p:cNvPr id="14" name="point-P"/>
          <p:cNvSpPr/>
          <p:nvPr/>
        </p:nvSpPr>
        <p:spPr>
          <a:xfrm>
            <a:off x="2458479" y="4464444"/>
            <a:ext cx="164592" cy="164592"/>
          </a:xfrm>
          <a:prstGeom prst="ellipse">
            <a:avLst/>
          </a:prstGeom>
          <a:solidFill>
            <a:srgbClr val="B3262E"/>
          </a:solidFill>
          <a:ln w="6350">
            <a:solidFill>
              <a:srgbClr val="B32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label-P"/>
          <p:cNvSpPr txBox="1"/>
          <p:nvPr/>
        </p:nvSpPr>
        <p:spPr>
          <a:xfrm>
            <a:off x="2614583" y="428825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</a:t>
            </a:r>
            <a:endParaRPr lang="en-US" sz="1600" dirty="0"/>
          </a:p>
        </p:txBody>
      </p:sp>
      <p:sp>
        <p:nvSpPr>
          <p:cNvPr id="16" name="point-R"/>
          <p:cNvSpPr/>
          <p:nvPr/>
        </p:nvSpPr>
        <p:spPr>
          <a:xfrm>
            <a:off x="964378" y="4876610"/>
            <a:ext cx="164592" cy="164592"/>
          </a:xfrm>
          <a:prstGeom prst="ellipse">
            <a:avLst/>
          </a:prstGeom>
          <a:solidFill>
            <a:srgbClr val="B3262E"/>
          </a:solidFill>
          <a:ln w="6350">
            <a:solidFill>
              <a:srgbClr val="B32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label-R"/>
          <p:cNvSpPr txBox="1"/>
          <p:nvPr/>
        </p:nvSpPr>
        <p:spPr>
          <a:xfrm>
            <a:off x="1100560" y="4666069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</a:t>
            </a:r>
            <a:endParaRPr lang="en-US" sz="1600" dirty="0"/>
          </a:p>
        </p:txBody>
      </p:sp>
      <p:sp>
        <p:nvSpPr>
          <p:cNvPr id="18" name="point-Q"/>
          <p:cNvSpPr/>
          <p:nvPr/>
        </p:nvSpPr>
        <p:spPr>
          <a:xfrm>
            <a:off x="3952580" y="3502724"/>
            <a:ext cx="164592" cy="164592"/>
          </a:xfrm>
          <a:prstGeom prst="ellipse">
            <a:avLst/>
          </a:prstGeom>
          <a:solidFill>
            <a:srgbClr val="B3262E"/>
          </a:solidFill>
          <a:ln w="6350">
            <a:solidFill>
              <a:srgbClr val="B326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label-Q"/>
          <p:cNvSpPr txBox="1"/>
          <p:nvPr/>
        </p:nvSpPr>
        <p:spPr>
          <a:xfrm>
            <a:off x="4108684" y="3360877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Q</a:t>
            </a:r>
            <a:endParaRPr lang="en-US" sz="1600" dirty="0"/>
          </a:p>
        </p:txBody>
      </p:sp>
      <p:sp>
        <p:nvSpPr>
          <p:cNvPr id="20" name="figure-note"/>
          <p:cNvSpPr txBox="1"/>
          <p:nvPr/>
        </p:nvSpPr>
        <p:spPr>
          <a:xfrm>
            <a:off x="548640" y="6035040"/>
            <a:ext cx="39842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Line: x₁ + x₂ = 1 (the decision boundary)</a:t>
            </a:r>
            <a:endParaRPr lang="en-US" sz="1200" dirty="0"/>
          </a:p>
        </p:txBody>
      </p:sp>
      <p:sp>
        <p:nvSpPr>
          <p:cNvPr id="21" name="answer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nswer-label"/>
          <p:cNvSpPr txBox="1"/>
          <p:nvPr/>
        </p:nvSpPr>
        <p:spPr>
          <a:xfrm>
            <a:off x="8229600" y="22402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C"/>
                </a:solidFill>
              </a:rPr>
              <a:t>ANSWER</a:t>
            </a:r>
            <a:endParaRPr lang="en-US" sz="1200" dirty="0"/>
          </a:p>
        </p:txBody>
      </p:sp>
      <p:sp>
        <p:nvSpPr>
          <p:cNvPr id="23" name="answer-head"/>
          <p:cNvSpPr txBox="1"/>
          <p:nvPr/>
        </p:nvSpPr>
        <p:spPr>
          <a:xfrm>
            <a:off x="8229600" y="2532888"/>
            <a:ext cx="318211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→ P → R → Q</a:t>
            </a:r>
            <a:endParaRPr lang="en-US" sz="2000" dirty="0"/>
          </a:p>
        </p:txBody>
      </p:sp>
      <p:sp>
        <p:nvSpPr>
          <p:cNvPr id="24" name="answer-bullets"/>
          <p:cNvSpPr txBox="1"/>
          <p:nvPr/>
        </p:nvSpPr>
        <p:spPr>
          <a:xfrm>
            <a:off x="8229600" y="3025648"/>
            <a:ext cx="3182112" cy="1783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Scores wᵀx + b: S = 0, P = 0.1, R = −2, Q = 3. Larger |score| = more certain.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Q: σ(3) ≈ 0.95 for class 1.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R: σ(−2) ≈ 0.12, so class 0 with ~88% confidence. Certain, and wrong.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2386584" cy="329184"/>
          </a:xfrm>
          <a:prstGeom prst="roundRect">
            <a:avLst>
              <a:gd name="adj" fmla="val 50000"/>
            </a:avLst>
          </a:prstGeom>
          <a:solidFill>
            <a:srgbClr val="F7E6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2E"/>
                </a:solidFill>
              </a:rPr>
              <a:t>Quiz 1 · MLE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use an MLE approach to finding parameters, what can we say is true?</a:t>
            </a:r>
            <a:endParaRPr lang="en-US" sz="2400" dirty="0"/>
          </a:p>
        </p:txBody>
      </p:sp>
      <p:sp>
        <p:nvSpPr>
          <p:cNvPr id="4" name="option-A-box"/>
          <p:cNvSpPr/>
          <p:nvPr/>
        </p:nvSpPr>
        <p:spPr>
          <a:xfrm>
            <a:off x="548640" y="2011680"/>
            <a:ext cx="7086600" cy="715264"/>
          </a:xfrm>
          <a:prstGeom prst="roundRect">
            <a:avLst>
              <a:gd name="adj" fmla="val 10227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ption-A-letter"/>
          <p:cNvSpPr txBox="1"/>
          <p:nvPr/>
        </p:nvSpPr>
        <p:spPr>
          <a:xfrm>
            <a:off x="685800" y="2186432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6" name="option-A-text"/>
          <p:cNvSpPr txBox="1"/>
          <p:nvPr/>
        </p:nvSpPr>
        <p:spPr>
          <a:xfrm>
            <a:off x="1188720" y="2011680"/>
            <a:ext cx="5394960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Your estimates are the most likely values given your observations.</a:t>
            </a:r>
            <a:endParaRPr lang="en-US" sz="1600" dirty="0"/>
          </a:p>
        </p:txBody>
      </p:sp>
      <p:sp>
        <p:nvSpPr>
          <p:cNvPr id="7" name="option-B-box"/>
          <p:cNvSpPr/>
          <p:nvPr/>
        </p:nvSpPr>
        <p:spPr>
          <a:xfrm>
            <a:off x="548640" y="2845816"/>
            <a:ext cx="7086600" cy="715264"/>
          </a:xfrm>
          <a:prstGeom prst="roundRect">
            <a:avLst>
              <a:gd name="adj" fmla="val 10227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ption-B-letter"/>
          <p:cNvSpPr txBox="1"/>
          <p:nvPr/>
        </p:nvSpPr>
        <p:spPr>
          <a:xfrm>
            <a:off x="685800" y="3020568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9" name="option-B-text"/>
          <p:cNvSpPr txBox="1"/>
          <p:nvPr/>
        </p:nvSpPr>
        <p:spPr>
          <a:xfrm>
            <a:off x="1188720" y="2845816"/>
            <a:ext cx="5394960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Your estimates may have significant variance as you collect more data.</a:t>
            </a:r>
            <a:endParaRPr lang="en-US" sz="1600" dirty="0"/>
          </a:p>
        </p:txBody>
      </p:sp>
      <p:sp>
        <p:nvSpPr>
          <p:cNvPr id="10" name="option-C-box"/>
          <p:cNvSpPr/>
          <p:nvPr/>
        </p:nvSpPr>
        <p:spPr>
          <a:xfrm>
            <a:off x="548640" y="3679952"/>
            <a:ext cx="7086600" cy="963168"/>
          </a:xfrm>
          <a:prstGeom prst="roundRect">
            <a:avLst>
              <a:gd name="adj" fmla="val 7595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ption-C-letter"/>
          <p:cNvSpPr txBox="1"/>
          <p:nvPr/>
        </p:nvSpPr>
        <p:spPr>
          <a:xfrm>
            <a:off x="685800" y="3978656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2" name="option-C-text"/>
          <p:cNvSpPr txBox="1"/>
          <p:nvPr/>
        </p:nvSpPr>
        <p:spPr>
          <a:xfrm>
            <a:off x="1188720" y="3679952"/>
            <a:ext cx="539496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Your estimates will converge to the true values as the size of your dataset grows to cover the entire population.</a:t>
            </a:r>
            <a:endParaRPr lang="en-US" sz="1600" dirty="0"/>
          </a:p>
        </p:txBody>
      </p:sp>
      <p:sp>
        <p:nvSpPr>
          <p:cNvPr id="13" name="option-D-box"/>
          <p:cNvSpPr/>
          <p:nvPr/>
        </p:nvSpPr>
        <p:spPr>
          <a:xfrm>
            <a:off x="548640" y="4761992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ption-D-letter"/>
          <p:cNvSpPr txBox="1"/>
          <p:nvPr/>
        </p:nvSpPr>
        <p:spPr>
          <a:xfrm>
            <a:off x="685800" y="4812792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15" name="option-D-text"/>
          <p:cNvSpPr txBox="1"/>
          <p:nvPr/>
        </p:nvSpPr>
        <p:spPr>
          <a:xfrm>
            <a:off x="1188720" y="4761992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All of the above are true.</a:t>
            </a:r>
            <a:endParaRPr lang="en-US" sz="1600" dirty="0"/>
          </a:p>
        </p:txBody>
      </p:sp>
      <p:sp>
        <p:nvSpPr>
          <p:cNvPr id="16" name="option-E-box"/>
          <p:cNvSpPr/>
          <p:nvPr/>
        </p:nvSpPr>
        <p:spPr>
          <a:xfrm>
            <a:off x="548640" y="5348224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ption-E-letter"/>
          <p:cNvSpPr txBox="1"/>
          <p:nvPr/>
        </p:nvSpPr>
        <p:spPr>
          <a:xfrm>
            <a:off x="685800" y="5399024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</a:t>
            </a:r>
            <a:endParaRPr lang="en-US" sz="1400" dirty="0"/>
          </a:p>
        </p:txBody>
      </p:sp>
      <p:sp>
        <p:nvSpPr>
          <p:cNvPr id="18" name="option-E-text"/>
          <p:cNvSpPr txBox="1"/>
          <p:nvPr/>
        </p:nvSpPr>
        <p:spPr>
          <a:xfrm>
            <a:off x="1188720" y="5348224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None of the above are true.</a:t>
            </a:r>
            <a:endParaRPr lang="en-US" sz="1600" dirty="0"/>
          </a:p>
        </p:txBody>
      </p:sp>
      <p:sp>
        <p:nvSpPr>
          <p:cNvPr id="19" name="think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F2F4F7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hink-text"/>
          <p:cNvSpPr txBox="1"/>
          <p:nvPr/>
        </p:nvSpPr>
        <p:spPr>
          <a:xfrm>
            <a:off x="8275320" y="228600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Your turn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Take 60–90 seconds. Commit to an answer before the next slide.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2386584" cy="329184"/>
          </a:xfrm>
          <a:prstGeom prst="roundRect">
            <a:avLst>
              <a:gd name="adj" fmla="val 50000"/>
            </a:avLst>
          </a:prstGeom>
          <a:solidFill>
            <a:srgbClr val="F7E6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2E"/>
                </a:solidFill>
              </a:rPr>
              <a:t>Quiz 1 · MLE</a:t>
            </a:r>
            <a:endParaRPr lang="en-US" sz="1300" dirty="0"/>
          </a:p>
        </p:txBody>
      </p:sp>
      <p:sp>
        <p:nvSpPr>
          <p:cNvPr id="3" name="answer-tag"/>
          <p:cNvSpPr txBox="1"/>
          <p:nvPr/>
        </p:nvSpPr>
        <p:spPr>
          <a:xfrm>
            <a:off x="3072384" y="3840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use an MLE approach to finding parameters, what can we say is true?</a:t>
            </a:r>
            <a:endParaRPr lang="en-US" sz="2400" dirty="0"/>
          </a:p>
        </p:txBody>
      </p:sp>
      <p:sp>
        <p:nvSpPr>
          <p:cNvPr id="5" name="option-A-box"/>
          <p:cNvSpPr/>
          <p:nvPr/>
        </p:nvSpPr>
        <p:spPr>
          <a:xfrm>
            <a:off x="548640" y="2011680"/>
            <a:ext cx="7086600" cy="715264"/>
          </a:xfrm>
          <a:prstGeom prst="roundRect">
            <a:avLst>
              <a:gd name="adj" fmla="val 10227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ption-A-letter"/>
          <p:cNvSpPr txBox="1"/>
          <p:nvPr/>
        </p:nvSpPr>
        <p:spPr>
          <a:xfrm>
            <a:off x="685800" y="2186432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-A-text"/>
          <p:cNvSpPr txBox="1"/>
          <p:nvPr/>
        </p:nvSpPr>
        <p:spPr>
          <a:xfrm>
            <a:off x="1188720" y="2011680"/>
            <a:ext cx="5394960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Your estimates are the most likely values given your observations.</a:t>
            </a:r>
            <a:endParaRPr lang="en-US" sz="1600" dirty="0"/>
          </a:p>
        </p:txBody>
      </p:sp>
      <p:sp>
        <p:nvSpPr>
          <p:cNvPr id="8" name="option-B-box"/>
          <p:cNvSpPr/>
          <p:nvPr/>
        </p:nvSpPr>
        <p:spPr>
          <a:xfrm>
            <a:off x="548640" y="2845816"/>
            <a:ext cx="7086600" cy="715264"/>
          </a:xfrm>
          <a:prstGeom prst="roundRect">
            <a:avLst>
              <a:gd name="adj" fmla="val 10227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ption-B-letter"/>
          <p:cNvSpPr txBox="1"/>
          <p:nvPr/>
        </p:nvSpPr>
        <p:spPr>
          <a:xfrm>
            <a:off x="685800" y="3020568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0" name="option-B-text"/>
          <p:cNvSpPr txBox="1"/>
          <p:nvPr/>
        </p:nvSpPr>
        <p:spPr>
          <a:xfrm>
            <a:off x="1188720" y="2845816"/>
            <a:ext cx="5394960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Your estimates may have significant variance as you collect more data.</a:t>
            </a:r>
            <a:endParaRPr lang="en-US" sz="1600" dirty="0"/>
          </a:p>
        </p:txBody>
      </p:sp>
      <p:sp>
        <p:nvSpPr>
          <p:cNvPr id="11" name="option-C-box"/>
          <p:cNvSpPr/>
          <p:nvPr/>
        </p:nvSpPr>
        <p:spPr>
          <a:xfrm>
            <a:off x="548640" y="3679952"/>
            <a:ext cx="7086600" cy="963168"/>
          </a:xfrm>
          <a:prstGeom prst="roundRect">
            <a:avLst>
              <a:gd name="adj" fmla="val 7595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ption-C-letter"/>
          <p:cNvSpPr txBox="1"/>
          <p:nvPr/>
        </p:nvSpPr>
        <p:spPr>
          <a:xfrm>
            <a:off x="685800" y="3978656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3" name="option-C-text"/>
          <p:cNvSpPr txBox="1"/>
          <p:nvPr/>
        </p:nvSpPr>
        <p:spPr>
          <a:xfrm>
            <a:off x="1188720" y="3679952"/>
            <a:ext cx="539496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Your estimates will converge to the true values as the size of your dataset grows to cover the entire population.</a:t>
            </a:r>
            <a:endParaRPr lang="en-US" sz="1600" dirty="0"/>
          </a:p>
        </p:txBody>
      </p:sp>
      <p:sp>
        <p:nvSpPr>
          <p:cNvPr id="14" name="option-D-box"/>
          <p:cNvSpPr/>
          <p:nvPr/>
        </p:nvSpPr>
        <p:spPr>
          <a:xfrm>
            <a:off x="548640" y="4761992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E3F2EF"/>
          </a:solidFill>
          <a:ln w="254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ption-D-letter"/>
          <p:cNvSpPr txBox="1"/>
          <p:nvPr/>
        </p:nvSpPr>
        <p:spPr>
          <a:xfrm>
            <a:off x="685800" y="4812792"/>
            <a:ext cx="365760" cy="365760"/>
          </a:xfrm>
          <a:prstGeom prst="ellipse">
            <a:avLst/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16" name="option-D-text"/>
          <p:cNvSpPr txBox="1"/>
          <p:nvPr/>
        </p:nvSpPr>
        <p:spPr>
          <a:xfrm>
            <a:off x="1188720" y="4761992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All of the above are true.</a:t>
            </a:r>
            <a:endParaRPr lang="en-US" sz="1600" dirty="0"/>
          </a:p>
        </p:txBody>
      </p:sp>
      <p:sp>
        <p:nvSpPr>
          <p:cNvPr id="17" name="correct-mark"/>
          <p:cNvSpPr txBox="1"/>
          <p:nvPr/>
        </p:nvSpPr>
        <p:spPr>
          <a:xfrm>
            <a:off x="6675120" y="4761992"/>
            <a:ext cx="86868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7B6C"/>
                </a:solidFill>
              </a:rPr>
              <a:t>Correct</a:t>
            </a:r>
            <a:endParaRPr lang="en-US" sz="1400" dirty="0"/>
          </a:p>
        </p:txBody>
      </p:sp>
      <p:sp>
        <p:nvSpPr>
          <p:cNvPr id="18" name="option-E-box"/>
          <p:cNvSpPr/>
          <p:nvPr/>
        </p:nvSpPr>
        <p:spPr>
          <a:xfrm>
            <a:off x="548640" y="5348224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ption-E-letter"/>
          <p:cNvSpPr txBox="1"/>
          <p:nvPr/>
        </p:nvSpPr>
        <p:spPr>
          <a:xfrm>
            <a:off x="685800" y="5399024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</a:t>
            </a:r>
            <a:endParaRPr lang="en-US" sz="1400" dirty="0"/>
          </a:p>
        </p:txBody>
      </p:sp>
      <p:sp>
        <p:nvSpPr>
          <p:cNvPr id="20" name="option-E-text"/>
          <p:cNvSpPr txBox="1"/>
          <p:nvPr/>
        </p:nvSpPr>
        <p:spPr>
          <a:xfrm>
            <a:off x="1188720" y="5348224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None of the above are true.</a:t>
            </a:r>
            <a:endParaRPr lang="en-US" sz="1600" dirty="0"/>
          </a:p>
        </p:txBody>
      </p:sp>
      <p:sp>
        <p:nvSpPr>
          <p:cNvPr id="21" name="answer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nswer-label"/>
          <p:cNvSpPr txBox="1"/>
          <p:nvPr/>
        </p:nvSpPr>
        <p:spPr>
          <a:xfrm>
            <a:off x="8229600" y="22402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C"/>
                </a:solidFill>
              </a:rPr>
              <a:t>ANSWER</a:t>
            </a:r>
            <a:endParaRPr lang="en-US" sz="1200" dirty="0"/>
          </a:p>
        </p:txBody>
      </p:sp>
      <p:sp>
        <p:nvSpPr>
          <p:cNvPr id="23" name="answer-head"/>
          <p:cNvSpPr txBox="1"/>
          <p:nvPr/>
        </p:nvSpPr>
        <p:spPr>
          <a:xfrm>
            <a:off x="8229600" y="2532888"/>
            <a:ext cx="318211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all three are true</a:t>
            </a:r>
            <a:endParaRPr lang="en-US" sz="2000" dirty="0"/>
          </a:p>
        </p:txBody>
      </p:sp>
      <p:sp>
        <p:nvSpPr>
          <p:cNvPr id="24" name="answer-bullets"/>
          <p:cNvSpPr txBox="1"/>
          <p:nvPr/>
        </p:nvSpPr>
        <p:spPr>
          <a:xfrm>
            <a:off x="8229600" y="3025648"/>
            <a:ext cx="3182112" cy="173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(A) MLE maximizes p(D | θ): the “most likely estimate” (L1).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(B) Little data, big swings: 3 heads in 3 flips gives an estimate of 1.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(C) More data: the estimate converges to the true value (if the model is right).</a:t>
            </a:r>
            <a:endParaRPr lang="en-US" sz="1400" dirty="0"/>
          </a:p>
        </p:txBody>
      </p:sp>
      <p:sp>
        <p:nvSpPr>
          <p:cNvPr id="25" name="class-picks"/>
          <p:cNvSpPr txBox="1"/>
          <p:nvPr/>
        </p:nvSpPr>
        <p:spPr>
          <a:xfrm>
            <a:off x="8183880" y="4847336"/>
            <a:ext cx="3273552" cy="1233424"/>
          </a:xfrm>
          <a:prstGeom prst="roundRect">
            <a:avLst>
              <a:gd name="adj" fmla="val 4448"/>
            </a:avLst>
          </a:prstGeom>
          <a:solidFill>
            <a:srgbClr val="6E2430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8BC"/>
                </a:solidFill>
              </a:rPr>
              <a:t>Common trap: </a:t>
            </a:r>
            <a:r>
              <a:rPr lang="en-US" sz="1400" dirty="0">
                <a:solidFill>
                  <a:srgbClr val="FFFFFF"/>
                </a:solidFill>
              </a:rPr>
              <a:t>Choosing one true statement and stopping, instead of checking every option.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1531620" cy="329184"/>
          </a:xfrm>
          <a:prstGeom prst="roundRect">
            <a:avLst>
              <a:gd name="adj" fmla="val 50000"/>
            </a:avLst>
          </a:prstGeom>
          <a:solidFill>
            <a:srgbClr val="E6ED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8A"/>
                </a:solidFill>
              </a:rPr>
              <a:t>Variation · MLE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statement about the MLE of a coin’s heads-probability p is false?</a:t>
            </a:r>
            <a:endParaRPr lang="en-US" sz="2400" dirty="0"/>
          </a:p>
        </p:txBody>
      </p:sp>
      <p:sp>
        <p:nvSpPr>
          <p:cNvPr id="4" name="option-A-box"/>
          <p:cNvSpPr/>
          <p:nvPr/>
        </p:nvSpPr>
        <p:spPr>
          <a:xfrm>
            <a:off x="548640" y="2011680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ption-A-letter"/>
          <p:cNvSpPr txBox="1"/>
          <p:nvPr/>
        </p:nvSpPr>
        <p:spPr>
          <a:xfrm>
            <a:off x="685800" y="2062480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6" name="option-A-text"/>
          <p:cNvSpPr txBox="1"/>
          <p:nvPr/>
        </p:nvSpPr>
        <p:spPr>
          <a:xfrm>
            <a:off x="1188720" y="2011680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After 3 flips that all land heads, p̂ = 1.</a:t>
            </a:r>
            <a:endParaRPr lang="en-US" sz="1600" dirty="0"/>
          </a:p>
        </p:txBody>
      </p:sp>
      <p:sp>
        <p:nvSpPr>
          <p:cNvPr id="7" name="option-B-box"/>
          <p:cNvSpPr/>
          <p:nvPr/>
        </p:nvSpPr>
        <p:spPr>
          <a:xfrm>
            <a:off x="548640" y="2597912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ption-B-letter"/>
          <p:cNvSpPr txBox="1"/>
          <p:nvPr/>
        </p:nvSpPr>
        <p:spPr>
          <a:xfrm>
            <a:off x="685800" y="2648712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9" name="option-B-text"/>
          <p:cNvSpPr txBox="1"/>
          <p:nvPr/>
        </p:nvSpPr>
        <p:spPr>
          <a:xfrm>
            <a:off x="1188720" y="2597912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p̂ is the fraction of flips that landed heads.</a:t>
            </a:r>
            <a:endParaRPr lang="en-US" sz="1600" dirty="0"/>
          </a:p>
        </p:txBody>
      </p:sp>
      <p:sp>
        <p:nvSpPr>
          <p:cNvPr id="10" name="option-C-box"/>
          <p:cNvSpPr/>
          <p:nvPr/>
        </p:nvSpPr>
        <p:spPr>
          <a:xfrm>
            <a:off x="548640" y="3184144"/>
            <a:ext cx="7086600" cy="715264"/>
          </a:xfrm>
          <a:prstGeom prst="roundRect">
            <a:avLst>
              <a:gd name="adj" fmla="val 10227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ption-C-letter"/>
          <p:cNvSpPr txBox="1"/>
          <p:nvPr/>
        </p:nvSpPr>
        <p:spPr>
          <a:xfrm>
            <a:off x="685800" y="3358896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2" name="option-C-text"/>
          <p:cNvSpPr txBox="1"/>
          <p:nvPr/>
        </p:nvSpPr>
        <p:spPr>
          <a:xfrm>
            <a:off x="1188720" y="3184144"/>
            <a:ext cx="5394960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MLE builds in a prior belief that the coin is probably fair.</a:t>
            </a:r>
            <a:endParaRPr lang="en-US" sz="1600" dirty="0"/>
          </a:p>
        </p:txBody>
      </p:sp>
      <p:sp>
        <p:nvSpPr>
          <p:cNvPr id="13" name="option-D-box"/>
          <p:cNvSpPr/>
          <p:nvPr/>
        </p:nvSpPr>
        <p:spPr>
          <a:xfrm>
            <a:off x="548640" y="4018280"/>
            <a:ext cx="7086600" cy="715264"/>
          </a:xfrm>
          <a:prstGeom prst="roundRect">
            <a:avLst>
              <a:gd name="adj" fmla="val 10227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ption-D-letter"/>
          <p:cNvSpPr txBox="1"/>
          <p:nvPr/>
        </p:nvSpPr>
        <p:spPr>
          <a:xfrm>
            <a:off x="685800" y="4193032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15" name="option-D-text"/>
          <p:cNvSpPr txBox="1"/>
          <p:nvPr/>
        </p:nvSpPr>
        <p:spPr>
          <a:xfrm>
            <a:off x="1188720" y="4018280"/>
            <a:ext cx="5394960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As the number of flips grows, p̂ approaches the true p.</a:t>
            </a:r>
            <a:endParaRPr lang="en-US" sz="1600" dirty="0"/>
          </a:p>
        </p:txBody>
      </p:sp>
      <p:sp>
        <p:nvSpPr>
          <p:cNvPr id="16" name="think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F2F4F7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hink-text"/>
          <p:cNvSpPr txBox="1"/>
          <p:nvPr/>
        </p:nvSpPr>
        <p:spPr>
          <a:xfrm>
            <a:off x="8275320" y="228600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Your turn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Take 60–90 seconds. Commit to an answer before the next slide.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1531620" cy="329184"/>
          </a:xfrm>
          <a:prstGeom prst="roundRect">
            <a:avLst>
              <a:gd name="adj" fmla="val 50000"/>
            </a:avLst>
          </a:prstGeom>
          <a:solidFill>
            <a:srgbClr val="E6ED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8A"/>
                </a:solidFill>
              </a:rPr>
              <a:t>Variation · MLE</a:t>
            </a:r>
            <a:endParaRPr lang="en-US" sz="1300" dirty="0"/>
          </a:p>
        </p:txBody>
      </p:sp>
      <p:sp>
        <p:nvSpPr>
          <p:cNvPr id="3" name="answer-tag"/>
          <p:cNvSpPr txBox="1"/>
          <p:nvPr/>
        </p:nvSpPr>
        <p:spPr>
          <a:xfrm>
            <a:off x="2217420" y="3840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statement about the MLE of a coin’s heads-probability p is false?</a:t>
            </a:r>
            <a:endParaRPr lang="en-US" sz="2400" dirty="0"/>
          </a:p>
        </p:txBody>
      </p:sp>
      <p:sp>
        <p:nvSpPr>
          <p:cNvPr id="5" name="option-A-box"/>
          <p:cNvSpPr/>
          <p:nvPr/>
        </p:nvSpPr>
        <p:spPr>
          <a:xfrm>
            <a:off x="548640" y="2011680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ption-A-letter"/>
          <p:cNvSpPr txBox="1"/>
          <p:nvPr/>
        </p:nvSpPr>
        <p:spPr>
          <a:xfrm>
            <a:off x="685800" y="2062480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-A-text"/>
          <p:cNvSpPr txBox="1"/>
          <p:nvPr/>
        </p:nvSpPr>
        <p:spPr>
          <a:xfrm>
            <a:off x="1188720" y="2011680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After 3 flips that all land heads, p̂ = 1.</a:t>
            </a:r>
            <a:endParaRPr lang="en-US" sz="1600" dirty="0"/>
          </a:p>
        </p:txBody>
      </p:sp>
      <p:sp>
        <p:nvSpPr>
          <p:cNvPr id="8" name="option-B-box"/>
          <p:cNvSpPr/>
          <p:nvPr/>
        </p:nvSpPr>
        <p:spPr>
          <a:xfrm>
            <a:off x="548640" y="2597912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ption-B-letter"/>
          <p:cNvSpPr txBox="1"/>
          <p:nvPr/>
        </p:nvSpPr>
        <p:spPr>
          <a:xfrm>
            <a:off x="685800" y="2648712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0" name="option-B-text"/>
          <p:cNvSpPr txBox="1"/>
          <p:nvPr/>
        </p:nvSpPr>
        <p:spPr>
          <a:xfrm>
            <a:off x="1188720" y="2597912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p̂ is the fraction of flips that landed heads.</a:t>
            </a:r>
            <a:endParaRPr lang="en-US" sz="1600" dirty="0"/>
          </a:p>
        </p:txBody>
      </p:sp>
      <p:sp>
        <p:nvSpPr>
          <p:cNvPr id="11" name="option-C-box"/>
          <p:cNvSpPr/>
          <p:nvPr/>
        </p:nvSpPr>
        <p:spPr>
          <a:xfrm>
            <a:off x="548640" y="3184144"/>
            <a:ext cx="7086600" cy="715264"/>
          </a:xfrm>
          <a:prstGeom prst="roundRect">
            <a:avLst>
              <a:gd name="adj" fmla="val 10227"/>
            </a:avLst>
          </a:prstGeom>
          <a:solidFill>
            <a:srgbClr val="E3F2EF"/>
          </a:solidFill>
          <a:ln w="254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ption-C-letter"/>
          <p:cNvSpPr txBox="1"/>
          <p:nvPr/>
        </p:nvSpPr>
        <p:spPr>
          <a:xfrm>
            <a:off x="685800" y="3358896"/>
            <a:ext cx="365760" cy="365760"/>
          </a:xfrm>
          <a:prstGeom prst="ellipse">
            <a:avLst/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3" name="option-C-text"/>
          <p:cNvSpPr txBox="1"/>
          <p:nvPr/>
        </p:nvSpPr>
        <p:spPr>
          <a:xfrm>
            <a:off x="1188720" y="3184144"/>
            <a:ext cx="5394960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MLE builds in a prior belief that the coin is probably fair.</a:t>
            </a:r>
            <a:endParaRPr lang="en-US" sz="1600" dirty="0"/>
          </a:p>
        </p:txBody>
      </p:sp>
      <p:sp>
        <p:nvSpPr>
          <p:cNvPr id="14" name="correct-mark"/>
          <p:cNvSpPr txBox="1"/>
          <p:nvPr/>
        </p:nvSpPr>
        <p:spPr>
          <a:xfrm>
            <a:off x="6675120" y="3184144"/>
            <a:ext cx="868680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7B6C"/>
                </a:solidFill>
              </a:rPr>
              <a:t>Correct</a:t>
            </a:r>
            <a:endParaRPr lang="en-US" sz="1400" dirty="0"/>
          </a:p>
        </p:txBody>
      </p:sp>
      <p:sp>
        <p:nvSpPr>
          <p:cNvPr id="15" name="option-D-box"/>
          <p:cNvSpPr/>
          <p:nvPr/>
        </p:nvSpPr>
        <p:spPr>
          <a:xfrm>
            <a:off x="548640" y="4018280"/>
            <a:ext cx="7086600" cy="715264"/>
          </a:xfrm>
          <a:prstGeom prst="roundRect">
            <a:avLst>
              <a:gd name="adj" fmla="val 10227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ption-D-letter"/>
          <p:cNvSpPr txBox="1"/>
          <p:nvPr/>
        </p:nvSpPr>
        <p:spPr>
          <a:xfrm>
            <a:off x="685800" y="4193032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17" name="option-D-text"/>
          <p:cNvSpPr txBox="1"/>
          <p:nvPr/>
        </p:nvSpPr>
        <p:spPr>
          <a:xfrm>
            <a:off x="1188720" y="4018280"/>
            <a:ext cx="5394960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As the number of flips grows, p̂ approaches the true p.</a:t>
            </a:r>
            <a:endParaRPr lang="en-US" sz="1600" dirty="0"/>
          </a:p>
        </p:txBody>
      </p:sp>
      <p:sp>
        <p:nvSpPr>
          <p:cNvPr id="18" name="answer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nswer-label"/>
          <p:cNvSpPr txBox="1"/>
          <p:nvPr/>
        </p:nvSpPr>
        <p:spPr>
          <a:xfrm>
            <a:off x="8229600" y="22402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C"/>
                </a:solidFill>
              </a:rPr>
              <a:t>ANSWER</a:t>
            </a:r>
            <a:endParaRPr lang="en-US" sz="1200" dirty="0"/>
          </a:p>
        </p:txBody>
      </p:sp>
      <p:sp>
        <p:nvSpPr>
          <p:cNvPr id="20" name="answer-head"/>
          <p:cNvSpPr txBox="1"/>
          <p:nvPr/>
        </p:nvSpPr>
        <p:spPr>
          <a:xfrm>
            <a:off x="8229600" y="2532888"/>
            <a:ext cx="318211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is false</a:t>
            </a:r>
            <a:endParaRPr lang="en-US" sz="2000" dirty="0"/>
          </a:p>
        </p:txBody>
      </p:sp>
      <p:sp>
        <p:nvSpPr>
          <p:cNvPr id="21" name="answer-bullets"/>
          <p:cNvSpPr txBox="1"/>
          <p:nvPr/>
        </p:nvSpPr>
        <p:spPr>
          <a:xfrm>
            <a:off x="8229600" y="3025648"/>
            <a:ext cx="3182112" cy="1276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MLE uses no prior. Adding a prior (pseudo-counts α, β) gives MAP (L2).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Follow-up: how would you stop p̂ = 1 after three flips? Add pseudo-counts (next question).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2619756" cy="329184"/>
          </a:xfrm>
          <a:prstGeom prst="roundRect">
            <a:avLst>
              <a:gd name="adj" fmla="val 50000"/>
            </a:avLst>
          </a:prstGeom>
          <a:solidFill>
            <a:srgbClr val="F7E6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2E"/>
                </a:solidFill>
              </a:rPr>
              <a:t>Quiz 1 · priors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very certain a friend’s coin is unfair and lands heads twice as often as tails. Which pseudo-observations best match your prior?</a:t>
            </a:r>
            <a:endParaRPr lang="en-US" sz="2400" dirty="0"/>
          </a:p>
        </p:txBody>
      </p:sp>
      <p:sp>
        <p:nvSpPr>
          <p:cNvPr id="4" name="option-A-box"/>
          <p:cNvSpPr/>
          <p:nvPr/>
        </p:nvSpPr>
        <p:spPr>
          <a:xfrm>
            <a:off x="548640" y="2011680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ption-A-letter"/>
          <p:cNvSpPr txBox="1"/>
          <p:nvPr/>
        </p:nvSpPr>
        <p:spPr>
          <a:xfrm>
            <a:off x="685800" y="2062480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6" name="option-A-text"/>
          <p:cNvSpPr txBox="1"/>
          <p:nvPr/>
        </p:nvSpPr>
        <p:spPr>
          <a:xfrm>
            <a:off x="1188720" y="2011680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1 heads and 1 tails.</a:t>
            </a:r>
            <a:endParaRPr lang="en-US" sz="1600" dirty="0"/>
          </a:p>
        </p:txBody>
      </p:sp>
      <p:sp>
        <p:nvSpPr>
          <p:cNvPr id="7" name="option-B-box"/>
          <p:cNvSpPr/>
          <p:nvPr/>
        </p:nvSpPr>
        <p:spPr>
          <a:xfrm>
            <a:off x="548640" y="2597912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ption-B-letter"/>
          <p:cNvSpPr txBox="1"/>
          <p:nvPr/>
        </p:nvSpPr>
        <p:spPr>
          <a:xfrm>
            <a:off x="685800" y="2648712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9" name="option-B-text"/>
          <p:cNvSpPr txBox="1"/>
          <p:nvPr/>
        </p:nvSpPr>
        <p:spPr>
          <a:xfrm>
            <a:off x="1188720" y="2597912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2 heads and 1 tails.</a:t>
            </a:r>
            <a:endParaRPr lang="en-US" sz="1600" dirty="0"/>
          </a:p>
        </p:txBody>
      </p:sp>
      <p:sp>
        <p:nvSpPr>
          <p:cNvPr id="10" name="option-C-box"/>
          <p:cNvSpPr/>
          <p:nvPr/>
        </p:nvSpPr>
        <p:spPr>
          <a:xfrm>
            <a:off x="548640" y="3184144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ption-C-letter"/>
          <p:cNvSpPr txBox="1"/>
          <p:nvPr/>
        </p:nvSpPr>
        <p:spPr>
          <a:xfrm>
            <a:off x="685800" y="3234944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2" name="option-C-text"/>
          <p:cNvSpPr txBox="1"/>
          <p:nvPr/>
        </p:nvSpPr>
        <p:spPr>
          <a:xfrm>
            <a:off x="1188720" y="3184144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20 heads and 10 tails.</a:t>
            </a:r>
            <a:endParaRPr lang="en-US" sz="1600" dirty="0"/>
          </a:p>
        </p:txBody>
      </p:sp>
      <p:sp>
        <p:nvSpPr>
          <p:cNvPr id="13" name="option-D-box"/>
          <p:cNvSpPr/>
          <p:nvPr/>
        </p:nvSpPr>
        <p:spPr>
          <a:xfrm>
            <a:off x="548640" y="3770376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ption-D-letter"/>
          <p:cNvSpPr txBox="1"/>
          <p:nvPr/>
        </p:nvSpPr>
        <p:spPr>
          <a:xfrm>
            <a:off x="685800" y="3821176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15" name="option-D-text"/>
          <p:cNvSpPr txBox="1"/>
          <p:nvPr/>
        </p:nvSpPr>
        <p:spPr>
          <a:xfrm>
            <a:off x="1188720" y="3770376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Any of the above is fine.</a:t>
            </a:r>
            <a:endParaRPr lang="en-US" sz="1600" dirty="0"/>
          </a:p>
        </p:txBody>
      </p:sp>
      <p:sp>
        <p:nvSpPr>
          <p:cNvPr id="16" name="option-E-box"/>
          <p:cNvSpPr/>
          <p:nvPr/>
        </p:nvSpPr>
        <p:spPr>
          <a:xfrm>
            <a:off x="548640" y="4356608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ption-E-letter"/>
          <p:cNvSpPr txBox="1"/>
          <p:nvPr/>
        </p:nvSpPr>
        <p:spPr>
          <a:xfrm>
            <a:off x="685800" y="4407408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</a:t>
            </a:r>
            <a:endParaRPr lang="en-US" sz="1400" dirty="0"/>
          </a:p>
        </p:txBody>
      </p:sp>
      <p:sp>
        <p:nvSpPr>
          <p:cNvPr id="18" name="option-E-text"/>
          <p:cNvSpPr txBox="1"/>
          <p:nvPr/>
        </p:nvSpPr>
        <p:spPr>
          <a:xfrm>
            <a:off x="1188720" y="4356608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We have never discussed this in class.</a:t>
            </a:r>
            <a:endParaRPr lang="en-US" sz="1600" dirty="0"/>
          </a:p>
        </p:txBody>
      </p:sp>
      <p:sp>
        <p:nvSpPr>
          <p:cNvPr id="19" name="think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F2F4F7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hink-text"/>
          <p:cNvSpPr txBox="1"/>
          <p:nvPr/>
        </p:nvSpPr>
        <p:spPr>
          <a:xfrm>
            <a:off x="8275320" y="228600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Your turn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Take 60–90 seconds. Commit to an answer before the next slide.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2619756" cy="329184"/>
          </a:xfrm>
          <a:prstGeom prst="roundRect">
            <a:avLst>
              <a:gd name="adj" fmla="val 50000"/>
            </a:avLst>
          </a:prstGeom>
          <a:solidFill>
            <a:srgbClr val="F7E6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2E"/>
                </a:solidFill>
              </a:rPr>
              <a:t>Quiz 1 · priors</a:t>
            </a:r>
            <a:endParaRPr lang="en-US" sz="1300" dirty="0"/>
          </a:p>
        </p:txBody>
      </p:sp>
      <p:sp>
        <p:nvSpPr>
          <p:cNvPr id="3" name="answer-tag"/>
          <p:cNvSpPr txBox="1"/>
          <p:nvPr/>
        </p:nvSpPr>
        <p:spPr>
          <a:xfrm>
            <a:off x="3305556" y="3840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very certain a friend’s coin is unfair and lands heads twice as often as tails. Which pseudo-observations best match your prior?</a:t>
            </a:r>
            <a:endParaRPr lang="en-US" sz="2400" dirty="0"/>
          </a:p>
        </p:txBody>
      </p:sp>
      <p:sp>
        <p:nvSpPr>
          <p:cNvPr id="5" name="option-A-box"/>
          <p:cNvSpPr/>
          <p:nvPr/>
        </p:nvSpPr>
        <p:spPr>
          <a:xfrm>
            <a:off x="548640" y="2011680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ption-A-letter"/>
          <p:cNvSpPr txBox="1"/>
          <p:nvPr/>
        </p:nvSpPr>
        <p:spPr>
          <a:xfrm>
            <a:off x="685800" y="2062480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-A-text"/>
          <p:cNvSpPr txBox="1"/>
          <p:nvPr/>
        </p:nvSpPr>
        <p:spPr>
          <a:xfrm>
            <a:off x="1188720" y="2011680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1 heads and 1 tails.</a:t>
            </a:r>
            <a:endParaRPr lang="en-US" sz="1600" dirty="0"/>
          </a:p>
        </p:txBody>
      </p:sp>
      <p:sp>
        <p:nvSpPr>
          <p:cNvPr id="8" name="option-B-box"/>
          <p:cNvSpPr/>
          <p:nvPr/>
        </p:nvSpPr>
        <p:spPr>
          <a:xfrm>
            <a:off x="548640" y="2597912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ption-B-letter"/>
          <p:cNvSpPr txBox="1"/>
          <p:nvPr/>
        </p:nvSpPr>
        <p:spPr>
          <a:xfrm>
            <a:off x="685800" y="2648712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0" name="option-B-text"/>
          <p:cNvSpPr txBox="1"/>
          <p:nvPr/>
        </p:nvSpPr>
        <p:spPr>
          <a:xfrm>
            <a:off x="1188720" y="2597912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2 heads and 1 tails.</a:t>
            </a:r>
            <a:endParaRPr lang="en-US" sz="1600" dirty="0"/>
          </a:p>
        </p:txBody>
      </p:sp>
      <p:sp>
        <p:nvSpPr>
          <p:cNvPr id="11" name="option-C-box"/>
          <p:cNvSpPr/>
          <p:nvPr/>
        </p:nvSpPr>
        <p:spPr>
          <a:xfrm>
            <a:off x="548640" y="3184144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E3F2EF"/>
          </a:solidFill>
          <a:ln w="254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ption-C-letter"/>
          <p:cNvSpPr txBox="1"/>
          <p:nvPr/>
        </p:nvSpPr>
        <p:spPr>
          <a:xfrm>
            <a:off x="685800" y="3234944"/>
            <a:ext cx="365760" cy="365760"/>
          </a:xfrm>
          <a:prstGeom prst="ellipse">
            <a:avLst/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3" name="option-C-text"/>
          <p:cNvSpPr txBox="1"/>
          <p:nvPr/>
        </p:nvSpPr>
        <p:spPr>
          <a:xfrm>
            <a:off x="1188720" y="3184144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20 heads and 10 tails.</a:t>
            </a:r>
            <a:endParaRPr lang="en-US" sz="1600" dirty="0"/>
          </a:p>
        </p:txBody>
      </p:sp>
      <p:sp>
        <p:nvSpPr>
          <p:cNvPr id="14" name="correct-mark"/>
          <p:cNvSpPr txBox="1"/>
          <p:nvPr/>
        </p:nvSpPr>
        <p:spPr>
          <a:xfrm>
            <a:off x="6675120" y="3184144"/>
            <a:ext cx="86868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7B6C"/>
                </a:solidFill>
              </a:rPr>
              <a:t>Correct</a:t>
            </a:r>
            <a:endParaRPr lang="en-US" sz="1400" dirty="0"/>
          </a:p>
        </p:txBody>
      </p:sp>
      <p:sp>
        <p:nvSpPr>
          <p:cNvPr id="15" name="option-D-box"/>
          <p:cNvSpPr/>
          <p:nvPr/>
        </p:nvSpPr>
        <p:spPr>
          <a:xfrm>
            <a:off x="548640" y="3770376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ption-D-letter"/>
          <p:cNvSpPr txBox="1"/>
          <p:nvPr/>
        </p:nvSpPr>
        <p:spPr>
          <a:xfrm>
            <a:off x="685800" y="3821176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17" name="option-D-text"/>
          <p:cNvSpPr txBox="1"/>
          <p:nvPr/>
        </p:nvSpPr>
        <p:spPr>
          <a:xfrm>
            <a:off x="1188720" y="3770376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Any of the above is fine.</a:t>
            </a:r>
            <a:endParaRPr lang="en-US" sz="1600" dirty="0"/>
          </a:p>
        </p:txBody>
      </p:sp>
      <p:sp>
        <p:nvSpPr>
          <p:cNvPr id="18" name="option-E-box"/>
          <p:cNvSpPr/>
          <p:nvPr/>
        </p:nvSpPr>
        <p:spPr>
          <a:xfrm>
            <a:off x="548640" y="4356608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ption-E-letter"/>
          <p:cNvSpPr txBox="1"/>
          <p:nvPr/>
        </p:nvSpPr>
        <p:spPr>
          <a:xfrm>
            <a:off x="685800" y="4407408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</a:t>
            </a:r>
            <a:endParaRPr lang="en-US" sz="1400" dirty="0"/>
          </a:p>
        </p:txBody>
      </p:sp>
      <p:sp>
        <p:nvSpPr>
          <p:cNvPr id="20" name="option-E-text"/>
          <p:cNvSpPr txBox="1"/>
          <p:nvPr/>
        </p:nvSpPr>
        <p:spPr>
          <a:xfrm>
            <a:off x="1188720" y="4356608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We have never discussed this in class.</a:t>
            </a:r>
            <a:endParaRPr lang="en-US" sz="1600" dirty="0"/>
          </a:p>
        </p:txBody>
      </p:sp>
      <p:sp>
        <p:nvSpPr>
          <p:cNvPr id="21" name="answer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nswer-label"/>
          <p:cNvSpPr txBox="1"/>
          <p:nvPr/>
        </p:nvSpPr>
        <p:spPr>
          <a:xfrm>
            <a:off x="8229600" y="22402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C"/>
                </a:solidFill>
              </a:rPr>
              <a:t>ANSWER</a:t>
            </a:r>
            <a:endParaRPr lang="en-US" sz="1200" dirty="0"/>
          </a:p>
        </p:txBody>
      </p:sp>
      <p:sp>
        <p:nvSpPr>
          <p:cNvPr id="23" name="answer-head"/>
          <p:cNvSpPr txBox="1"/>
          <p:nvPr/>
        </p:nvSpPr>
        <p:spPr>
          <a:xfrm>
            <a:off x="8229600" y="2532888"/>
            <a:ext cx="318211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20 heads, 10 tails</a:t>
            </a:r>
            <a:endParaRPr lang="en-US" sz="2000" dirty="0"/>
          </a:p>
        </p:txBody>
      </p:sp>
      <p:sp>
        <p:nvSpPr>
          <p:cNvPr id="24" name="answer-bullets"/>
          <p:cNvSpPr txBox="1"/>
          <p:nvPr/>
        </p:nvSpPr>
        <p:spPr>
          <a:xfrm>
            <a:off x="8229600" y="3025648"/>
            <a:ext cx="3182112" cy="1947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Ratio of pseudo-counts = what you believe (2 : 1).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Total pseudo-count = how strongly you believe it. “Very certain” needs a large total.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“Small suspicion, 2 : 1” would be 2 heads, 1 tails.</a:t>
            </a:r>
            <a:endParaRPr lang="en-US" sz="1400" dirty="0"/>
          </a:p>
        </p:txBody>
      </p:sp>
      <p:sp>
        <p:nvSpPr>
          <p:cNvPr id="25" name="class-picks"/>
          <p:cNvSpPr txBox="1"/>
          <p:nvPr/>
        </p:nvSpPr>
        <p:spPr>
          <a:xfrm>
            <a:off x="8183880" y="5064252"/>
            <a:ext cx="3273552" cy="1016508"/>
          </a:xfrm>
          <a:prstGeom prst="roundRect">
            <a:avLst>
              <a:gd name="adj" fmla="val 5397"/>
            </a:avLst>
          </a:prstGeom>
          <a:solidFill>
            <a:srgbClr val="6E2430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8BC"/>
                </a:solidFill>
              </a:rPr>
              <a:t>Common trap: </a:t>
            </a:r>
            <a:r>
              <a:rPr lang="en-US" sz="1400" dirty="0">
                <a:solidFill>
                  <a:srgbClr val="FFFFFF"/>
                </a:solidFill>
              </a:rPr>
              <a:t>Matching the ratio but ignoring that the total encodes strength.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1764792" cy="329184"/>
          </a:xfrm>
          <a:prstGeom prst="roundRect">
            <a:avLst>
              <a:gd name="adj" fmla="val 50000"/>
            </a:avLst>
          </a:prstGeom>
          <a:solidFill>
            <a:srgbClr val="E6ED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8A"/>
                </a:solidFill>
              </a:rPr>
              <a:t>Variation · priors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very confident a coin lands tails three times as often as heads. Which prior fits?</a:t>
            </a:r>
            <a:endParaRPr lang="en-US" sz="2400" dirty="0"/>
          </a:p>
        </p:txBody>
      </p:sp>
      <p:sp>
        <p:nvSpPr>
          <p:cNvPr id="4" name="option-A-box"/>
          <p:cNvSpPr/>
          <p:nvPr/>
        </p:nvSpPr>
        <p:spPr>
          <a:xfrm>
            <a:off x="548640" y="2011680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ption-A-letter"/>
          <p:cNvSpPr txBox="1"/>
          <p:nvPr/>
        </p:nvSpPr>
        <p:spPr>
          <a:xfrm>
            <a:off x="685800" y="2062480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6" name="option-A-text"/>
          <p:cNvSpPr txBox="1"/>
          <p:nvPr/>
        </p:nvSpPr>
        <p:spPr>
          <a:xfrm>
            <a:off x="1188720" y="2011680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1 heads, 3 tails</a:t>
            </a:r>
            <a:endParaRPr lang="en-US" sz="1600" dirty="0"/>
          </a:p>
        </p:txBody>
      </p:sp>
      <p:sp>
        <p:nvSpPr>
          <p:cNvPr id="7" name="option-B-box"/>
          <p:cNvSpPr/>
          <p:nvPr/>
        </p:nvSpPr>
        <p:spPr>
          <a:xfrm>
            <a:off x="548640" y="2597912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ption-B-letter"/>
          <p:cNvSpPr txBox="1"/>
          <p:nvPr/>
        </p:nvSpPr>
        <p:spPr>
          <a:xfrm>
            <a:off x="685800" y="2648712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9" name="option-B-text"/>
          <p:cNvSpPr txBox="1"/>
          <p:nvPr/>
        </p:nvSpPr>
        <p:spPr>
          <a:xfrm>
            <a:off x="1188720" y="2597912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3 heads, 1 tails</a:t>
            </a:r>
            <a:endParaRPr lang="en-US" sz="1600" dirty="0"/>
          </a:p>
        </p:txBody>
      </p:sp>
      <p:sp>
        <p:nvSpPr>
          <p:cNvPr id="10" name="option-C-box"/>
          <p:cNvSpPr/>
          <p:nvPr/>
        </p:nvSpPr>
        <p:spPr>
          <a:xfrm>
            <a:off x="548640" y="3184144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ption-C-letter"/>
          <p:cNvSpPr txBox="1"/>
          <p:nvPr/>
        </p:nvSpPr>
        <p:spPr>
          <a:xfrm>
            <a:off x="685800" y="3234944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2" name="option-C-text"/>
          <p:cNvSpPr txBox="1"/>
          <p:nvPr/>
        </p:nvSpPr>
        <p:spPr>
          <a:xfrm>
            <a:off x="1188720" y="3184144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10 heads, 30 tails</a:t>
            </a:r>
            <a:endParaRPr lang="en-US" sz="1600" dirty="0"/>
          </a:p>
        </p:txBody>
      </p:sp>
      <p:sp>
        <p:nvSpPr>
          <p:cNvPr id="13" name="option-D-box"/>
          <p:cNvSpPr/>
          <p:nvPr/>
        </p:nvSpPr>
        <p:spPr>
          <a:xfrm>
            <a:off x="548640" y="3770376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ption-D-letter"/>
          <p:cNvSpPr txBox="1"/>
          <p:nvPr/>
        </p:nvSpPr>
        <p:spPr>
          <a:xfrm>
            <a:off x="685800" y="3821176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15" name="option-D-text"/>
          <p:cNvSpPr txBox="1"/>
          <p:nvPr/>
        </p:nvSpPr>
        <p:spPr>
          <a:xfrm>
            <a:off x="1188720" y="3770376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30 heads, 10 tails</a:t>
            </a:r>
            <a:endParaRPr lang="en-US" sz="1600" dirty="0"/>
          </a:p>
        </p:txBody>
      </p:sp>
      <p:sp>
        <p:nvSpPr>
          <p:cNvPr id="16" name="prompt"/>
          <p:cNvSpPr txBox="1"/>
          <p:nvPr/>
        </p:nvSpPr>
        <p:spPr>
          <a:xfrm>
            <a:off x="548640" y="4402328"/>
            <a:ext cx="7086600" cy="824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Part 2: you then see 8 heads in 10 flips. Compute the MLE and the MAP estimate p̂ = (N₁ + α) / (N₀ + N₁ + α + β), with α pseudo-heads and β pseudo-tails, under your prior and under 1H/3T.</a:t>
            </a:r>
            <a:endParaRPr lang="en-US" sz="1400" dirty="0"/>
          </a:p>
        </p:txBody>
      </p:sp>
      <p:sp>
        <p:nvSpPr>
          <p:cNvPr id="17" name="think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F2F4F7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hink-text"/>
          <p:cNvSpPr txBox="1"/>
          <p:nvPr/>
        </p:nvSpPr>
        <p:spPr>
          <a:xfrm>
            <a:off x="8275320" y="228600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Your turn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Take 60–90 seconds. Commit to an answer before the next slide.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1764792" cy="329184"/>
          </a:xfrm>
          <a:prstGeom prst="roundRect">
            <a:avLst>
              <a:gd name="adj" fmla="val 50000"/>
            </a:avLst>
          </a:prstGeom>
          <a:solidFill>
            <a:srgbClr val="E6ED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8A"/>
                </a:solidFill>
              </a:rPr>
              <a:t>Variation · priors</a:t>
            </a:r>
            <a:endParaRPr lang="en-US" sz="1300" dirty="0"/>
          </a:p>
        </p:txBody>
      </p:sp>
      <p:sp>
        <p:nvSpPr>
          <p:cNvPr id="3" name="answer-tag"/>
          <p:cNvSpPr txBox="1"/>
          <p:nvPr/>
        </p:nvSpPr>
        <p:spPr>
          <a:xfrm>
            <a:off x="2450592" y="3840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very confident a coin lands tails three times as often as heads. Which prior fits?</a:t>
            </a:r>
            <a:endParaRPr lang="en-US" sz="2400" dirty="0"/>
          </a:p>
        </p:txBody>
      </p:sp>
      <p:sp>
        <p:nvSpPr>
          <p:cNvPr id="5" name="option-A-box"/>
          <p:cNvSpPr/>
          <p:nvPr/>
        </p:nvSpPr>
        <p:spPr>
          <a:xfrm>
            <a:off x="548640" y="2011680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ption-A-letter"/>
          <p:cNvSpPr txBox="1"/>
          <p:nvPr/>
        </p:nvSpPr>
        <p:spPr>
          <a:xfrm>
            <a:off x="685800" y="2062480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-A-text"/>
          <p:cNvSpPr txBox="1"/>
          <p:nvPr/>
        </p:nvSpPr>
        <p:spPr>
          <a:xfrm>
            <a:off x="1188720" y="2011680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1 heads, 3 tails</a:t>
            </a:r>
            <a:endParaRPr lang="en-US" sz="1600" dirty="0"/>
          </a:p>
        </p:txBody>
      </p:sp>
      <p:sp>
        <p:nvSpPr>
          <p:cNvPr id="8" name="option-B-box"/>
          <p:cNvSpPr/>
          <p:nvPr/>
        </p:nvSpPr>
        <p:spPr>
          <a:xfrm>
            <a:off x="548640" y="2597912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ption-B-letter"/>
          <p:cNvSpPr txBox="1"/>
          <p:nvPr/>
        </p:nvSpPr>
        <p:spPr>
          <a:xfrm>
            <a:off x="685800" y="2648712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0" name="option-B-text"/>
          <p:cNvSpPr txBox="1"/>
          <p:nvPr/>
        </p:nvSpPr>
        <p:spPr>
          <a:xfrm>
            <a:off x="1188720" y="2597912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3 heads, 1 tails</a:t>
            </a:r>
            <a:endParaRPr lang="en-US" sz="1600" dirty="0"/>
          </a:p>
        </p:txBody>
      </p:sp>
      <p:sp>
        <p:nvSpPr>
          <p:cNvPr id="11" name="option-C-box"/>
          <p:cNvSpPr/>
          <p:nvPr/>
        </p:nvSpPr>
        <p:spPr>
          <a:xfrm>
            <a:off x="548640" y="3184144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E3F2EF"/>
          </a:solidFill>
          <a:ln w="254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ption-C-letter"/>
          <p:cNvSpPr txBox="1"/>
          <p:nvPr/>
        </p:nvSpPr>
        <p:spPr>
          <a:xfrm>
            <a:off x="685800" y="3234944"/>
            <a:ext cx="365760" cy="365760"/>
          </a:xfrm>
          <a:prstGeom prst="ellipse">
            <a:avLst/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3" name="option-C-text"/>
          <p:cNvSpPr txBox="1"/>
          <p:nvPr/>
        </p:nvSpPr>
        <p:spPr>
          <a:xfrm>
            <a:off x="1188720" y="3184144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10 heads, 30 tails</a:t>
            </a:r>
            <a:endParaRPr lang="en-US" sz="1600" dirty="0"/>
          </a:p>
        </p:txBody>
      </p:sp>
      <p:sp>
        <p:nvSpPr>
          <p:cNvPr id="14" name="correct-mark"/>
          <p:cNvSpPr txBox="1"/>
          <p:nvPr/>
        </p:nvSpPr>
        <p:spPr>
          <a:xfrm>
            <a:off x="6675120" y="3184144"/>
            <a:ext cx="86868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7B6C"/>
                </a:solidFill>
              </a:rPr>
              <a:t>Correct</a:t>
            </a:r>
            <a:endParaRPr lang="en-US" sz="1400" dirty="0"/>
          </a:p>
        </p:txBody>
      </p:sp>
      <p:sp>
        <p:nvSpPr>
          <p:cNvPr id="15" name="option-D-box"/>
          <p:cNvSpPr/>
          <p:nvPr/>
        </p:nvSpPr>
        <p:spPr>
          <a:xfrm>
            <a:off x="548640" y="3770376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ption-D-letter"/>
          <p:cNvSpPr txBox="1"/>
          <p:nvPr/>
        </p:nvSpPr>
        <p:spPr>
          <a:xfrm>
            <a:off x="685800" y="3821176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17" name="option-D-text"/>
          <p:cNvSpPr txBox="1"/>
          <p:nvPr/>
        </p:nvSpPr>
        <p:spPr>
          <a:xfrm>
            <a:off x="1188720" y="3770376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30 heads, 10 tails</a:t>
            </a:r>
            <a:endParaRPr lang="en-US" sz="1600" dirty="0"/>
          </a:p>
        </p:txBody>
      </p:sp>
      <p:sp>
        <p:nvSpPr>
          <p:cNvPr id="18" name="prompt"/>
          <p:cNvSpPr txBox="1"/>
          <p:nvPr/>
        </p:nvSpPr>
        <p:spPr>
          <a:xfrm>
            <a:off x="548640" y="4402328"/>
            <a:ext cx="7086600" cy="824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Part 2: you then see 8 heads in 10 flips. Compute the MLE and the MAP estimate p̂ = (N₁ + α) / (N₀ + N₁ + α + β), with α pseudo-heads and β pseudo-tails, under your prior and under 1H/3T.</a:t>
            </a:r>
            <a:endParaRPr lang="en-US" sz="1400" dirty="0"/>
          </a:p>
        </p:txBody>
      </p:sp>
      <p:sp>
        <p:nvSpPr>
          <p:cNvPr id="19" name="answer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nswer-label"/>
          <p:cNvSpPr txBox="1"/>
          <p:nvPr/>
        </p:nvSpPr>
        <p:spPr>
          <a:xfrm>
            <a:off x="8229600" y="22402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C"/>
                </a:solidFill>
              </a:rPr>
              <a:t>ANSWER</a:t>
            </a:r>
            <a:endParaRPr lang="en-US" sz="1200" dirty="0"/>
          </a:p>
        </p:txBody>
      </p:sp>
      <p:sp>
        <p:nvSpPr>
          <p:cNvPr id="21" name="answer-head"/>
          <p:cNvSpPr txBox="1"/>
          <p:nvPr/>
        </p:nvSpPr>
        <p:spPr>
          <a:xfrm>
            <a:off x="8229600" y="2532888"/>
            <a:ext cx="318211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10 heads, 30 tails</a:t>
            </a:r>
            <a:endParaRPr lang="en-US" sz="2000" dirty="0"/>
          </a:p>
        </p:txBody>
      </p:sp>
      <p:sp>
        <p:nvSpPr>
          <p:cNvPr id="22" name="answer-bullets"/>
          <p:cNvSpPr txBox="1"/>
          <p:nvPr/>
        </p:nvSpPr>
        <p:spPr>
          <a:xfrm>
            <a:off x="8229600" y="3025648"/>
            <a:ext cx="3182112" cy="1639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MLE: 8 / 10 = 0.80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MAP, strong prior (α = 10, β = 30): (8 + 10) / (10 + 40) = 0.36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MAP, weak prior (α = 1, β = 3): (8 + 1) / (10 + 4) ≈ 0.64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Same ratio, very different pull. With more data, MAP moves toward the MLE (L2).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2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11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arithmetic, ResNets, optimization, expressive power, HMMs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2308860" cy="329184"/>
          </a:xfrm>
          <a:prstGeom prst="roundRect">
            <a:avLst>
              <a:gd name="adj" fmla="val 50000"/>
            </a:avLst>
          </a:prstGeom>
          <a:solidFill>
            <a:srgbClr val="F7E6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2E"/>
                </a:solidFill>
              </a:rPr>
              <a:t>Quiz 2 · Q6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receptive field, in pixels, of the third convolution?</a:t>
            </a:r>
            <a:endParaRPr lang="en-US" sz="2400" dirty="0"/>
          </a:p>
        </p:txBody>
      </p:sp>
      <p:sp>
        <p:nvSpPr>
          <p:cNvPr id="4" name="prompt"/>
          <p:cNvSpPr txBox="1"/>
          <p:nvPr/>
        </p:nvSpPr>
        <p:spPr>
          <a:xfrm>
            <a:off x="548640" y="2011680"/>
            <a:ext cx="7086600" cy="2372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convolutional network performs three successive 2×2 convolutions, each with stride 2.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Input image: 3 channels, 50 × 50 pixels.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Filters: 10 in the first layer, 20 in the second, 30 in the third.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(Versions B: 3×3 convolutions, stride 3, on a 27 × 27 image.)</a:t>
            </a:r>
            <a:endParaRPr lang="en-US" sz="1800" dirty="0"/>
          </a:p>
        </p:txBody>
      </p:sp>
      <p:sp>
        <p:nvSpPr>
          <p:cNvPr id="5" name="think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F2F4F7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hink-text"/>
          <p:cNvSpPr txBox="1"/>
          <p:nvPr/>
        </p:nvSpPr>
        <p:spPr>
          <a:xfrm>
            <a:off x="8275320" y="228600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Your turn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Take 60–90 seconds. Commit to an answer before the next slide.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2308860" cy="329184"/>
          </a:xfrm>
          <a:prstGeom prst="roundRect">
            <a:avLst>
              <a:gd name="adj" fmla="val 50000"/>
            </a:avLst>
          </a:prstGeom>
          <a:solidFill>
            <a:srgbClr val="F7E6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2E"/>
                </a:solidFill>
              </a:rPr>
              <a:t>Quiz 2 · Q6</a:t>
            </a:r>
            <a:endParaRPr lang="en-US" sz="1300" dirty="0"/>
          </a:p>
        </p:txBody>
      </p:sp>
      <p:sp>
        <p:nvSpPr>
          <p:cNvPr id="3" name="answer-tag"/>
          <p:cNvSpPr txBox="1"/>
          <p:nvPr/>
        </p:nvSpPr>
        <p:spPr>
          <a:xfrm>
            <a:off x="2994660" y="3840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receptive field, in pixels, of the third convolution?</a:t>
            </a:r>
            <a:endParaRPr lang="en-US" sz="2400" dirty="0"/>
          </a:p>
        </p:txBody>
      </p:sp>
      <p:sp>
        <p:nvSpPr>
          <p:cNvPr id="5" name="prompt"/>
          <p:cNvSpPr txBox="1"/>
          <p:nvPr/>
        </p:nvSpPr>
        <p:spPr>
          <a:xfrm>
            <a:off x="548640" y="2011680"/>
            <a:ext cx="7086600" cy="2372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convolutional network performs three successive 2×2 convolutions, each with stride 2.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Input image: 3 channels, 50 × 50 pixels.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Filters: 10 in the first layer, 20 in the second, 30 in the third.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(Versions B: 3×3 convolutions, stride 3, on a 27 × 27 image.)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sp>
        <p:nvSpPr>
          <p:cNvPr id="10" name="answer-panel">
            <a:extLst>
              <a:ext uri="{FF2B5EF4-FFF2-40B4-BE49-F238E27FC236}">
                <a16:creationId xmlns:a16="http://schemas.microsoft.com/office/drawing/2014/main" id="{A7B4DE0C-DE68-411B-E9C4-0048E95F32FE}"/>
              </a:ext>
            </a:extLst>
          </p:cNvPr>
          <p:cNvSpPr/>
          <p:nvPr/>
        </p:nvSpPr>
        <p:spPr>
          <a:xfrm>
            <a:off x="8004048" y="1828800"/>
            <a:ext cx="3639312" cy="3714729"/>
          </a:xfrm>
          <a:prstGeom prst="roundRect">
            <a:avLst>
              <a:gd name="adj" fmla="val 251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answer-label">
            <a:extLst>
              <a:ext uri="{FF2B5EF4-FFF2-40B4-BE49-F238E27FC236}">
                <a16:creationId xmlns:a16="http://schemas.microsoft.com/office/drawing/2014/main" id="{A91BCE91-233E-4F28-8706-2AA8E332240C}"/>
              </a:ext>
            </a:extLst>
          </p:cNvPr>
          <p:cNvSpPr txBox="1"/>
          <p:nvPr/>
        </p:nvSpPr>
        <p:spPr>
          <a:xfrm>
            <a:off x="8232648" y="205872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C"/>
                </a:solidFill>
              </a:rPr>
              <a:t>ANSWER</a:t>
            </a:r>
            <a:endParaRPr lang="en-US" sz="1200" dirty="0"/>
          </a:p>
        </p:txBody>
      </p:sp>
      <p:sp>
        <p:nvSpPr>
          <p:cNvPr id="12" name="answer-head">
            <a:extLst>
              <a:ext uri="{FF2B5EF4-FFF2-40B4-BE49-F238E27FC236}">
                <a16:creationId xmlns:a16="http://schemas.microsoft.com/office/drawing/2014/main" id="{0A32891B-B0F0-FEE9-BFB7-8B90094B38FE}"/>
              </a:ext>
            </a:extLst>
          </p:cNvPr>
          <p:cNvSpPr txBox="1"/>
          <p:nvPr/>
        </p:nvSpPr>
        <p:spPr>
          <a:xfrm>
            <a:off x="8232648" y="2451914"/>
            <a:ext cx="3182112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8x8</a:t>
            </a:r>
            <a:r>
              <a:rPr lang="zh-CN" alt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receptive field, covering 64 input pixels.</a:t>
            </a:r>
            <a:endParaRPr lang="en-US" sz="2000" dirty="0"/>
          </a:p>
        </p:txBody>
      </p:sp>
      <p:sp>
        <p:nvSpPr>
          <p:cNvPr id="13" name="answer-bullets">
            <a:extLst>
              <a:ext uri="{FF2B5EF4-FFF2-40B4-BE49-F238E27FC236}">
                <a16:creationId xmlns:a16="http://schemas.microsoft.com/office/drawing/2014/main" id="{484A359E-7CC5-595F-37EC-3D82D6BFD5DB}"/>
              </a:ext>
            </a:extLst>
          </p:cNvPr>
          <p:cNvSpPr txBox="1"/>
          <p:nvPr/>
        </p:nvSpPr>
        <p:spPr>
          <a:xfrm>
            <a:off x="8232648" y="3356154"/>
            <a:ext cx="3182112" cy="1947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Trace one layer-3 pixel back: it sees 2 layer-2 pixels per side, each of those 2 layer-1 pixels: 2 → 4 → 8.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Versions B: 3 → 9 → 27.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General rule: rₗ = rₗ₋₁ + (kₗ − 1) × (product of earlier strides), r₀ = 1.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Number of filters and channels never enters the receptive field.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2464308" cy="329184"/>
          </a:xfrm>
          <a:prstGeom prst="roundRect">
            <a:avLst>
              <a:gd name="adj" fmla="val 50000"/>
            </a:avLst>
          </a:prstGeom>
          <a:solidFill>
            <a:srgbClr val="E6ED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8A"/>
                </a:solidFill>
              </a:rPr>
              <a:t>Variation · receptive field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3×3 convolutions are stacked. What is the receptive field of layer 3?</a:t>
            </a:r>
            <a:endParaRPr lang="en-US" sz="2400" dirty="0"/>
          </a:p>
        </p:txBody>
      </p:sp>
      <p:sp>
        <p:nvSpPr>
          <p:cNvPr id="4" name="prompt"/>
          <p:cNvSpPr txBox="1"/>
          <p:nvPr/>
        </p:nvSpPr>
        <p:spPr>
          <a:xfrm>
            <a:off x="548640" y="2011680"/>
            <a:ext cx="7086600" cy="173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(a) Every stride is 1.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(b) Every stride is 2.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(c) Bonus: in the original question (50 × 50 input, 2×2 kernels, stride 2, no padding), what is the output size after each layer?</a:t>
            </a:r>
            <a:endParaRPr lang="en-US" sz="1800" dirty="0"/>
          </a:p>
        </p:txBody>
      </p:sp>
      <p:sp>
        <p:nvSpPr>
          <p:cNvPr id="5" name="think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F2F4F7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hink-text"/>
          <p:cNvSpPr txBox="1"/>
          <p:nvPr/>
        </p:nvSpPr>
        <p:spPr>
          <a:xfrm>
            <a:off x="8275320" y="228600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Your turn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Take 60–90 seconds. Commit to an answer before the next slide.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2464308" cy="329184"/>
          </a:xfrm>
          <a:prstGeom prst="roundRect">
            <a:avLst>
              <a:gd name="adj" fmla="val 50000"/>
            </a:avLst>
          </a:prstGeom>
          <a:solidFill>
            <a:srgbClr val="E6ED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8A"/>
                </a:solidFill>
              </a:rPr>
              <a:t>Variation · receptive field</a:t>
            </a:r>
            <a:endParaRPr lang="en-US" sz="1300" dirty="0"/>
          </a:p>
        </p:txBody>
      </p:sp>
      <p:sp>
        <p:nvSpPr>
          <p:cNvPr id="3" name="answer-tag"/>
          <p:cNvSpPr txBox="1"/>
          <p:nvPr/>
        </p:nvSpPr>
        <p:spPr>
          <a:xfrm>
            <a:off x="3150108" y="3840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3×3 convolutions are stacked. What is the receptive field of layer 3?</a:t>
            </a:r>
            <a:endParaRPr lang="en-US" sz="2400" dirty="0"/>
          </a:p>
        </p:txBody>
      </p:sp>
      <p:sp>
        <p:nvSpPr>
          <p:cNvPr id="5" name="prompt"/>
          <p:cNvSpPr txBox="1"/>
          <p:nvPr/>
        </p:nvSpPr>
        <p:spPr>
          <a:xfrm>
            <a:off x="548640" y="2011680"/>
            <a:ext cx="7086600" cy="173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(a) Every stride is 1.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(b) Every stride is 2.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(c) Bonus: in the original question (50 × 50 input, 2×2 kernels, stride 2, no padding), what is the output size after each layer?</a:t>
            </a:r>
            <a:endParaRPr lang="en-US" sz="1800" dirty="0"/>
          </a:p>
        </p:txBody>
      </p:sp>
      <p:sp>
        <p:nvSpPr>
          <p:cNvPr id="6" name="answer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nswer-label"/>
          <p:cNvSpPr txBox="1"/>
          <p:nvPr/>
        </p:nvSpPr>
        <p:spPr>
          <a:xfrm>
            <a:off x="8229600" y="22402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C"/>
                </a:solidFill>
              </a:rPr>
              <a:t>ANSWER</a:t>
            </a:r>
            <a:endParaRPr lang="en-US" sz="1200" dirty="0"/>
          </a:p>
        </p:txBody>
      </p:sp>
      <p:sp>
        <p:nvSpPr>
          <p:cNvPr id="8" name="answer-head"/>
          <p:cNvSpPr txBox="1"/>
          <p:nvPr/>
        </p:nvSpPr>
        <p:spPr>
          <a:xfrm>
            <a:off x="8229600" y="2532888"/>
            <a:ext cx="318211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(a) 7 · (b) 15</a:t>
            </a:r>
            <a:endParaRPr lang="en-US" sz="2000" dirty="0"/>
          </a:p>
        </p:txBody>
      </p:sp>
      <p:sp>
        <p:nvSpPr>
          <p:cNvPr id="9" name="answer-bullets"/>
          <p:cNvSpPr txBox="1"/>
          <p:nvPr/>
        </p:nvSpPr>
        <p:spPr>
          <a:xfrm>
            <a:off x="8229600" y="3025648"/>
            <a:ext cx="3182112" cy="134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(a) 3 → 5 → 7: each layer adds k − 1 = 2.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(b) 3 → 7 → 15: layer 2 adds 2 × 2, layer 3 adds 2 × 4.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(c) 50 → 25 → 12 → 6 (floor).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3163824" cy="329184"/>
          </a:xfrm>
          <a:prstGeom prst="roundRect">
            <a:avLst>
              <a:gd name="adj" fmla="val 50000"/>
            </a:avLst>
          </a:prstGeom>
          <a:solidFill>
            <a:srgbClr val="F7E6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2E"/>
                </a:solidFill>
              </a:rPr>
              <a:t>Quiz 2 · Q5 &amp; Q7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weight and bias parameters are in the first (10-filter) conv layer? In a 100 → 10 linear layer?</a:t>
            </a:r>
            <a:endParaRPr lang="en-US" sz="2400" dirty="0"/>
          </a:p>
        </p:txBody>
      </p:sp>
      <p:sp>
        <p:nvSpPr>
          <p:cNvPr id="4" name="prompt"/>
          <p:cNvSpPr txBox="1"/>
          <p:nvPr/>
        </p:nvSpPr>
        <p:spPr>
          <a:xfrm>
            <a:off x="548640" y="2011680"/>
            <a:ext cx="708660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Same network: 3-channel 50 × 50 input, 2×2 kernels, stride 2, 10 filters in layer 1.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Separately: a linear layer with 100 inputs and 10 outputs.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(Versions B: 3×3 kernels; linear layer 100 → 20.)</a:t>
            </a:r>
            <a:endParaRPr lang="en-US" sz="1800" dirty="0"/>
          </a:p>
        </p:txBody>
      </p:sp>
      <p:sp>
        <p:nvSpPr>
          <p:cNvPr id="5" name="think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F2F4F7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hink-text"/>
          <p:cNvSpPr txBox="1"/>
          <p:nvPr/>
        </p:nvSpPr>
        <p:spPr>
          <a:xfrm>
            <a:off x="8275320" y="228600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Your turn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Take 60–90 seconds. Commit to an answer before the next slide.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3163824" cy="329184"/>
          </a:xfrm>
          <a:prstGeom prst="roundRect">
            <a:avLst>
              <a:gd name="adj" fmla="val 50000"/>
            </a:avLst>
          </a:prstGeom>
          <a:solidFill>
            <a:srgbClr val="F7E6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2E"/>
                </a:solidFill>
              </a:rPr>
              <a:t>Quiz 2 · Q5 &amp; Q7</a:t>
            </a:r>
            <a:endParaRPr lang="en-US" sz="1300" dirty="0"/>
          </a:p>
        </p:txBody>
      </p:sp>
      <p:sp>
        <p:nvSpPr>
          <p:cNvPr id="3" name="answer-tag"/>
          <p:cNvSpPr txBox="1"/>
          <p:nvPr/>
        </p:nvSpPr>
        <p:spPr>
          <a:xfrm>
            <a:off x="3849624" y="3840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weight and bias parameters are in the first (10-filter) conv layer? In a 100 → 10 linear layer?</a:t>
            </a:r>
            <a:endParaRPr lang="en-US" sz="2400" dirty="0"/>
          </a:p>
        </p:txBody>
      </p:sp>
      <p:sp>
        <p:nvSpPr>
          <p:cNvPr id="5" name="prompt"/>
          <p:cNvSpPr txBox="1"/>
          <p:nvPr/>
        </p:nvSpPr>
        <p:spPr>
          <a:xfrm>
            <a:off x="548640" y="2011680"/>
            <a:ext cx="708660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Same network: 3-channel 50 × 50 input, 2×2 kernels, stride 2, 10 filters in layer 1.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Separately: a linear layer with 100 inputs and 10 outputs.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(Versions B: 3×3 kernels; linear layer 100 → 20.)</a:t>
            </a:r>
            <a:endParaRPr lang="en-US" sz="1800" dirty="0"/>
          </a:p>
        </p:txBody>
      </p:sp>
      <p:sp>
        <p:nvSpPr>
          <p:cNvPr id="6" name="answer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nswer-label"/>
          <p:cNvSpPr txBox="1"/>
          <p:nvPr/>
        </p:nvSpPr>
        <p:spPr>
          <a:xfrm>
            <a:off x="8229600" y="22402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C"/>
                </a:solidFill>
              </a:rPr>
              <a:t>ANSWER</a:t>
            </a:r>
            <a:endParaRPr lang="en-US" sz="1200" dirty="0"/>
          </a:p>
        </p:txBody>
      </p:sp>
      <p:sp>
        <p:nvSpPr>
          <p:cNvPr id="8" name="answer-head"/>
          <p:cNvSpPr txBox="1"/>
          <p:nvPr/>
        </p:nvSpPr>
        <p:spPr>
          <a:xfrm>
            <a:off x="8229600" y="2532888"/>
            <a:ext cx="318211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Conv: 120 W, 10 b · Linear: 1,000 W, 10 b</a:t>
            </a:r>
            <a:endParaRPr lang="en-US" sz="2000" dirty="0"/>
          </a:p>
        </p:txBody>
      </p:sp>
      <p:sp>
        <p:nvSpPr>
          <p:cNvPr id="9" name="answer-bullets"/>
          <p:cNvSpPr txBox="1"/>
          <p:nvPr/>
        </p:nvSpPr>
        <p:spPr>
          <a:xfrm>
            <a:off x="8229600" y="3335528"/>
            <a:ext cx="3182112" cy="1637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Conv: kernel h × kernel w × input channels × filters = 2·2·3·10 = 120; one bias per filter. Image size and stride never appear.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Linear: inputs × outputs = 1,000; one bias per output.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Versions B: 270, 10; 2000, 20.</a:t>
            </a:r>
            <a:endParaRPr lang="en-US" sz="1400" dirty="0"/>
          </a:p>
        </p:txBody>
      </p:sp>
      <p:sp>
        <p:nvSpPr>
          <p:cNvPr id="10" name="class-picks"/>
          <p:cNvSpPr txBox="1"/>
          <p:nvPr/>
        </p:nvSpPr>
        <p:spPr>
          <a:xfrm>
            <a:off x="8183880" y="5064252"/>
            <a:ext cx="3273552" cy="1016508"/>
          </a:xfrm>
          <a:prstGeom prst="roundRect">
            <a:avLst>
              <a:gd name="adj" fmla="val 5397"/>
            </a:avLst>
          </a:prstGeom>
          <a:solidFill>
            <a:srgbClr val="6E2430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8BC"/>
                </a:solidFill>
              </a:rPr>
              <a:t>Common trap: </a:t>
            </a:r>
            <a:r>
              <a:rPr lang="en-US" sz="1400" dirty="0">
                <a:solidFill>
                  <a:srgbClr val="FFFFFF"/>
                </a:solidFill>
              </a:rPr>
              <a:t>Dropping input channels (2·2·10 = 40 instead of 120).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2697480" cy="329184"/>
          </a:xfrm>
          <a:prstGeom prst="roundRect">
            <a:avLst>
              <a:gd name="adj" fmla="val 50000"/>
            </a:avLst>
          </a:prstGeom>
          <a:solidFill>
            <a:srgbClr val="E6ED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8A"/>
                </a:solidFill>
              </a:rPr>
              <a:t>Variation · parameter counting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same network, count the parameters of conv layers 2 and 3. Then compare with a fully connected layer.</a:t>
            </a:r>
            <a:endParaRPr lang="en-US" sz="2400" dirty="0"/>
          </a:p>
        </p:txBody>
      </p:sp>
      <p:sp>
        <p:nvSpPr>
          <p:cNvPr id="4" name="prompt"/>
          <p:cNvSpPr txBox="1"/>
          <p:nvPr/>
        </p:nvSpPr>
        <p:spPr>
          <a:xfrm>
            <a:off x="548640" y="2011680"/>
            <a:ext cx="7086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(a) Weights and biases in conv layer 2 (20 filters) and conv layer 3 (30 filters)?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(b) Flatten the 50 × 50 × 3 image into a linear layer with 10 outputs. How many weights?</a:t>
            </a:r>
            <a:endParaRPr lang="en-US" sz="1800" dirty="0"/>
          </a:p>
        </p:txBody>
      </p:sp>
      <p:sp>
        <p:nvSpPr>
          <p:cNvPr id="5" name="think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F2F4F7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hink-text"/>
          <p:cNvSpPr txBox="1"/>
          <p:nvPr/>
        </p:nvSpPr>
        <p:spPr>
          <a:xfrm>
            <a:off x="8275320" y="228600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Your turn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Take 60–90 seconds. Commit to an answer before the next slide.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2697480" cy="329184"/>
          </a:xfrm>
          <a:prstGeom prst="roundRect">
            <a:avLst>
              <a:gd name="adj" fmla="val 50000"/>
            </a:avLst>
          </a:prstGeom>
          <a:solidFill>
            <a:srgbClr val="E6ED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8A"/>
                </a:solidFill>
              </a:rPr>
              <a:t>Variation · parameter counting</a:t>
            </a:r>
            <a:endParaRPr lang="en-US" sz="1300" dirty="0"/>
          </a:p>
        </p:txBody>
      </p:sp>
      <p:sp>
        <p:nvSpPr>
          <p:cNvPr id="3" name="answer-tag"/>
          <p:cNvSpPr txBox="1"/>
          <p:nvPr/>
        </p:nvSpPr>
        <p:spPr>
          <a:xfrm>
            <a:off x="3383280" y="3840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same network, count the parameters of conv layers 2 and 3. Then compare with a fully connected layer.</a:t>
            </a:r>
            <a:endParaRPr lang="en-US" sz="2400" dirty="0"/>
          </a:p>
        </p:txBody>
      </p:sp>
      <p:sp>
        <p:nvSpPr>
          <p:cNvPr id="5" name="prompt"/>
          <p:cNvSpPr txBox="1"/>
          <p:nvPr/>
        </p:nvSpPr>
        <p:spPr>
          <a:xfrm>
            <a:off x="548640" y="2011680"/>
            <a:ext cx="7086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altLang="zh-CN" dirty="0"/>
              <a:t>Same network: 3-channel 50 × 50 input, 2×2 kernels, stride 2, 10 filters in layer 1.</a:t>
            </a:r>
            <a:endParaRPr lang="en-US" sz="18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(a) Weights and biases in conv layer 2 (20 filters) and conv layer 3 (30 filters)?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(b) Flatten the 50 × 50 × 3 image into a linear layer with 10 outputs. How many weights?</a:t>
            </a:r>
            <a:endParaRPr lang="en-US" sz="1800" dirty="0"/>
          </a:p>
        </p:txBody>
      </p:sp>
      <p:sp>
        <p:nvSpPr>
          <p:cNvPr id="6" name="answer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nswer-label"/>
          <p:cNvSpPr txBox="1"/>
          <p:nvPr/>
        </p:nvSpPr>
        <p:spPr>
          <a:xfrm>
            <a:off x="8229600" y="22402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C"/>
                </a:solidFill>
              </a:rPr>
              <a:t>ANSWER</a:t>
            </a:r>
            <a:endParaRPr lang="en-US" sz="1200" dirty="0"/>
          </a:p>
        </p:txBody>
      </p:sp>
      <p:sp>
        <p:nvSpPr>
          <p:cNvPr id="8" name="answer-head"/>
          <p:cNvSpPr txBox="1"/>
          <p:nvPr/>
        </p:nvSpPr>
        <p:spPr>
          <a:xfrm>
            <a:off x="8229600" y="2532888"/>
            <a:ext cx="3182112" cy="1199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(a)</a:t>
            </a:r>
            <a:r>
              <a:rPr lang="zh-CN" alt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 + 20 </a:t>
            </a:r>
            <a:r>
              <a:rPr lang="en-US" altLang="zh-CN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</a:t>
            </a:r>
            <a:r>
              <a:rPr lang="zh-CN" alt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altLang="zh-CN" sz="20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2,400 + 30 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(b)</a:t>
            </a:r>
            <a:r>
              <a:rPr lang="zh-CN" alt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75,000</a:t>
            </a:r>
            <a:endParaRPr lang="en-US" sz="2000" dirty="0"/>
          </a:p>
        </p:txBody>
      </p:sp>
      <p:sp>
        <p:nvSpPr>
          <p:cNvPr id="9" name="answer-bullets"/>
          <p:cNvSpPr txBox="1"/>
          <p:nvPr/>
        </p:nvSpPr>
        <p:spPr>
          <a:xfrm>
            <a:off x="8202168" y="4044105"/>
            <a:ext cx="3182112" cy="2000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Layer 2: 2·2·10·20 = 800 weights, 20 biases (input channels = 10 filters of layer 1).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Layer 3: 2·2·20·30 = 2,400 weights, 30 biases.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Linear: 7,500 × 10 = 75,000 weights vs. 120 for conv layer 1: one small kernel is reused at every position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2697480" cy="329184"/>
          </a:xfrm>
          <a:prstGeom prst="roundRect">
            <a:avLst>
              <a:gd name="adj" fmla="val 50000"/>
            </a:avLst>
          </a:prstGeom>
          <a:solidFill>
            <a:srgbClr val="F7E6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2E"/>
                </a:solidFill>
              </a:rPr>
              <a:t>Quiz 2 · ResNets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problem did residual networks solve?</a:t>
            </a:r>
            <a:endParaRPr lang="en-US" sz="2400" dirty="0"/>
          </a:p>
        </p:txBody>
      </p:sp>
      <p:sp>
        <p:nvSpPr>
          <p:cNvPr id="4" name="option-A-box"/>
          <p:cNvSpPr/>
          <p:nvPr/>
        </p:nvSpPr>
        <p:spPr>
          <a:xfrm>
            <a:off x="548640" y="2011680"/>
            <a:ext cx="7086600" cy="963168"/>
          </a:xfrm>
          <a:prstGeom prst="roundRect">
            <a:avLst>
              <a:gd name="adj" fmla="val 7595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ption-A-letter"/>
          <p:cNvSpPr txBox="1"/>
          <p:nvPr/>
        </p:nvSpPr>
        <p:spPr>
          <a:xfrm>
            <a:off x="685800" y="2310384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6" name="option-A-text"/>
          <p:cNvSpPr txBox="1"/>
          <p:nvPr/>
        </p:nvSpPr>
        <p:spPr>
          <a:xfrm>
            <a:off x="1188720" y="2011680"/>
            <a:ext cx="539496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Gradient updates calculated by applying the chain rule to a deep network all go to zero in the early layers.</a:t>
            </a:r>
            <a:endParaRPr lang="en-US" sz="1600" dirty="0"/>
          </a:p>
        </p:txBody>
      </p:sp>
      <p:sp>
        <p:nvSpPr>
          <p:cNvPr id="7" name="option-B-box"/>
          <p:cNvSpPr/>
          <p:nvPr/>
        </p:nvSpPr>
        <p:spPr>
          <a:xfrm>
            <a:off x="548640" y="3093720"/>
            <a:ext cx="7086600" cy="963168"/>
          </a:xfrm>
          <a:prstGeom prst="roundRect">
            <a:avLst>
              <a:gd name="adj" fmla="val 7595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ption-B-letter"/>
          <p:cNvSpPr txBox="1"/>
          <p:nvPr/>
        </p:nvSpPr>
        <p:spPr>
          <a:xfrm>
            <a:off x="685800" y="3392424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9" name="option-B-text"/>
          <p:cNvSpPr txBox="1"/>
          <p:nvPr/>
        </p:nvSpPr>
        <p:spPr>
          <a:xfrm>
            <a:off x="1188720" y="3093720"/>
            <a:ext cx="539496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There is little or no consistent direction to the gradient of the early network layers with respect to the output of deep networks.</a:t>
            </a:r>
            <a:endParaRPr lang="en-US" sz="1600" dirty="0"/>
          </a:p>
        </p:txBody>
      </p:sp>
      <p:sp>
        <p:nvSpPr>
          <p:cNvPr id="10" name="option-C-box"/>
          <p:cNvSpPr/>
          <p:nvPr/>
        </p:nvSpPr>
        <p:spPr>
          <a:xfrm>
            <a:off x="548640" y="4175760"/>
            <a:ext cx="7086600" cy="715264"/>
          </a:xfrm>
          <a:prstGeom prst="roundRect">
            <a:avLst>
              <a:gd name="adj" fmla="val 10227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ption-C-letter"/>
          <p:cNvSpPr txBox="1"/>
          <p:nvPr/>
        </p:nvSpPr>
        <p:spPr>
          <a:xfrm>
            <a:off x="685800" y="4350512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2" name="option-C-text"/>
          <p:cNvSpPr txBox="1"/>
          <p:nvPr/>
        </p:nvSpPr>
        <p:spPr>
          <a:xfrm>
            <a:off x="1188720" y="4175760"/>
            <a:ext cx="5394960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Learning with deep networks was too slow before residual networks.</a:t>
            </a:r>
            <a:endParaRPr lang="en-US" sz="1600" dirty="0"/>
          </a:p>
        </p:txBody>
      </p:sp>
      <p:sp>
        <p:nvSpPr>
          <p:cNvPr id="13" name="option-D-box"/>
          <p:cNvSpPr/>
          <p:nvPr/>
        </p:nvSpPr>
        <p:spPr>
          <a:xfrm>
            <a:off x="548640" y="5009896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ption-D-letter"/>
          <p:cNvSpPr txBox="1"/>
          <p:nvPr/>
        </p:nvSpPr>
        <p:spPr>
          <a:xfrm>
            <a:off x="685800" y="5060696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15" name="option-D-text"/>
          <p:cNvSpPr txBox="1"/>
          <p:nvPr/>
        </p:nvSpPr>
        <p:spPr>
          <a:xfrm>
            <a:off x="1188720" y="5009896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All of the above are true.</a:t>
            </a:r>
            <a:endParaRPr lang="en-US" sz="1600" dirty="0"/>
          </a:p>
        </p:txBody>
      </p:sp>
      <p:sp>
        <p:nvSpPr>
          <p:cNvPr id="16" name="option-E-box"/>
          <p:cNvSpPr/>
          <p:nvPr/>
        </p:nvSpPr>
        <p:spPr>
          <a:xfrm>
            <a:off x="548640" y="5596128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ption-E-letter"/>
          <p:cNvSpPr txBox="1"/>
          <p:nvPr/>
        </p:nvSpPr>
        <p:spPr>
          <a:xfrm>
            <a:off x="685800" y="5646928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</a:t>
            </a:r>
            <a:endParaRPr lang="en-US" sz="1400" dirty="0"/>
          </a:p>
        </p:txBody>
      </p:sp>
      <p:sp>
        <p:nvSpPr>
          <p:cNvPr id="18" name="option-E-text"/>
          <p:cNvSpPr txBox="1"/>
          <p:nvPr/>
        </p:nvSpPr>
        <p:spPr>
          <a:xfrm>
            <a:off x="1188720" y="5596128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None of the above are true.</a:t>
            </a:r>
            <a:endParaRPr lang="en-US" sz="1600" dirty="0"/>
          </a:p>
        </p:txBody>
      </p:sp>
      <p:sp>
        <p:nvSpPr>
          <p:cNvPr id="19" name="think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F2F4F7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hink-text"/>
          <p:cNvSpPr txBox="1"/>
          <p:nvPr/>
        </p:nvSpPr>
        <p:spPr>
          <a:xfrm>
            <a:off x="8275320" y="228600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Your turn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Take 60–90 seconds. Commit to an answer before the next slide.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2697480" cy="329184"/>
          </a:xfrm>
          <a:prstGeom prst="roundRect">
            <a:avLst>
              <a:gd name="adj" fmla="val 50000"/>
            </a:avLst>
          </a:prstGeom>
          <a:solidFill>
            <a:srgbClr val="F7E6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2E"/>
                </a:solidFill>
              </a:rPr>
              <a:t>Quiz 2 · ResNets</a:t>
            </a:r>
            <a:endParaRPr lang="en-US" sz="1300" dirty="0"/>
          </a:p>
        </p:txBody>
      </p:sp>
      <p:sp>
        <p:nvSpPr>
          <p:cNvPr id="3" name="answer-tag"/>
          <p:cNvSpPr txBox="1"/>
          <p:nvPr/>
        </p:nvSpPr>
        <p:spPr>
          <a:xfrm>
            <a:off x="3383280" y="3840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problem did residual networks solve?</a:t>
            </a:r>
            <a:endParaRPr lang="en-US" sz="2400" dirty="0"/>
          </a:p>
        </p:txBody>
      </p:sp>
      <p:sp>
        <p:nvSpPr>
          <p:cNvPr id="5" name="option-A-box"/>
          <p:cNvSpPr/>
          <p:nvPr/>
        </p:nvSpPr>
        <p:spPr>
          <a:xfrm>
            <a:off x="548640" y="2011680"/>
            <a:ext cx="7086600" cy="963168"/>
          </a:xfrm>
          <a:prstGeom prst="roundRect">
            <a:avLst>
              <a:gd name="adj" fmla="val 7595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ption-A-letter"/>
          <p:cNvSpPr txBox="1"/>
          <p:nvPr/>
        </p:nvSpPr>
        <p:spPr>
          <a:xfrm>
            <a:off x="685800" y="2310384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-A-text"/>
          <p:cNvSpPr txBox="1"/>
          <p:nvPr/>
        </p:nvSpPr>
        <p:spPr>
          <a:xfrm>
            <a:off x="1188720" y="2011680"/>
            <a:ext cx="539496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Gradient updates calculated by applying the chain rule to a deep network all go to zero in the early layers.</a:t>
            </a:r>
            <a:endParaRPr lang="en-US" sz="1600" dirty="0"/>
          </a:p>
        </p:txBody>
      </p:sp>
      <p:sp>
        <p:nvSpPr>
          <p:cNvPr id="8" name="option-B-box"/>
          <p:cNvSpPr/>
          <p:nvPr/>
        </p:nvSpPr>
        <p:spPr>
          <a:xfrm>
            <a:off x="548640" y="3093720"/>
            <a:ext cx="7086600" cy="963168"/>
          </a:xfrm>
          <a:prstGeom prst="roundRect">
            <a:avLst>
              <a:gd name="adj" fmla="val 7595"/>
            </a:avLst>
          </a:prstGeom>
          <a:solidFill>
            <a:srgbClr val="E3F2EF"/>
          </a:solidFill>
          <a:ln w="254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ption-B-letter"/>
          <p:cNvSpPr txBox="1"/>
          <p:nvPr/>
        </p:nvSpPr>
        <p:spPr>
          <a:xfrm>
            <a:off x="685800" y="3392424"/>
            <a:ext cx="365760" cy="365760"/>
          </a:xfrm>
          <a:prstGeom prst="ellipse">
            <a:avLst/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0" name="option-B-text"/>
          <p:cNvSpPr txBox="1"/>
          <p:nvPr/>
        </p:nvSpPr>
        <p:spPr>
          <a:xfrm>
            <a:off x="1188720" y="3093720"/>
            <a:ext cx="539496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There is little or no consistent direction to the gradient of the early network layers with respect to the output of deep networks.</a:t>
            </a:r>
            <a:endParaRPr lang="en-US" sz="1600" dirty="0"/>
          </a:p>
        </p:txBody>
      </p:sp>
      <p:sp>
        <p:nvSpPr>
          <p:cNvPr id="11" name="correct-mark"/>
          <p:cNvSpPr txBox="1"/>
          <p:nvPr/>
        </p:nvSpPr>
        <p:spPr>
          <a:xfrm>
            <a:off x="6675120" y="3093720"/>
            <a:ext cx="86868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7B6C"/>
                </a:solidFill>
              </a:rPr>
              <a:t>Correct</a:t>
            </a:r>
            <a:endParaRPr lang="en-US" sz="1400" dirty="0"/>
          </a:p>
        </p:txBody>
      </p:sp>
      <p:sp>
        <p:nvSpPr>
          <p:cNvPr id="12" name="option-C-box"/>
          <p:cNvSpPr/>
          <p:nvPr/>
        </p:nvSpPr>
        <p:spPr>
          <a:xfrm>
            <a:off x="548640" y="4175760"/>
            <a:ext cx="7086600" cy="715264"/>
          </a:xfrm>
          <a:prstGeom prst="roundRect">
            <a:avLst>
              <a:gd name="adj" fmla="val 10227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ption-C-letter"/>
          <p:cNvSpPr txBox="1"/>
          <p:nvPr/>
        </p:nvSpPr>
        <p:spPr>
          <a:xfrm>
            <a:off x="685800" y="4350512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4" name="option-C-text"/>
          <p:cNvSpPr txBox="1"/>
          <p:nvPr/>
        </p:nvSpPr>
        <p:spPr>
          <a:xfrm>
            <a:off x="1188720" y="4175760"/>
            <a:ext cx="5394960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Learning with deep networks was too slow before residual networks.</a:t>
            </a:r>
            <a:endParaRPr lang="en-US" sz="1600" dirty="0"/>
          </a:p>
        </p:txBody>
      </p:sp>
      <p:sp>
        <p:nvSpPr>
          <p:cNvPr id="15" name="option-D-box"/>
          <p:cNvSpPr/>
          <p:nvPr/>
        </p:nvSpPr>
        <p:spPr>
          <a:xfrm>
            <a:off x="548640" y="5009896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ption-D-letter"/>
          <p:cNvSpPr txBox="1"/>
          <p:nvPr/>
        </p:nvSpPr>
        <p:spPr>
          <a:xfrm>
            <a:off x="685800" y="5060696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17" name="option-D-text"/>
          <p:cNvSpPr txBox="1"/>
          <p:nvPr/>
        </p:nvSpPr>
        <p:spPr>
          <a:xfrm>
            <a:off x="1188720" y="5009896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All of the above are true.</a:t>
            </a:r>
            <a:endParaRPr lang="en-US" sz="1600" dirty="0"/>
          </a:p>
        </p:txBody>
      </p:sp>
      <p:sp>
        <p:nvSpPr>
          <p:cNvPr id="18" name="option-E-box"/>
          <p:cNvSpPr/>
          <p:nvPr/>
        </p:nvSpPr>
        <p:spPr>
          <a:xfrm>
            <a:off x="548640" y="5596128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ption-E-letter"/>
          <p:cNvSpPr txBox="1"/>
          <p:nvPr/>
        </p:nvSpPr>
        <p:spPr>
          <a:xfrm>
            <a:off x="685800" y="5646928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</a:t>
            </a:r>
            <a:endParaRPr lang="en-US" sz="1400" dirty="0"/>
          </a:p>
        </p:txBody>
      </p:sp>
      <p:sp>
        <p:nvSpPr>
          <p:cNvPr id="20" name="option-E-text"/>
          <p:cNvSpPr txBox="1"/>
          <p:nvPr/>
        </p:nvSpPr>
        <p:spPr>
          <a:xfrm>
            <a:off x="1188720" y="5596128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None of the above are true.</a:t>
            </a:r>
            <a:endParaRPr lang="en-US" sz="1600" dirty="0"/>
          </a:p>
        </p:txBody>
      </p:sp>
      <p:sp>
        <p:nvSpPr>
          <p:cNvPr id="21" name="answer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nswer-label"/>
          <p:cNvSpPr txBox="1"/>
          <p:nvPr/>
        </p:nvSpPr>
        <p:spPr>
          <a:xfrm>
            <a:off x="8229600" y="22402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C"/>
                </a:solidFill>
              </a:rPr>
              <a:t>ANSWER</a:t>
            </a:r>
            <a:endParaRPr lang="en-US" sz="1200" dirty="0"/>
          </a:p>
        </p:txBody>
      </p:sp>
      <p:sp>
        <p:nvSpPr>
          <p:cNvPr id="23" name="answer-head"/>
          <p:cNvSpPr txBox="1"/>
          <p:nvPr/>
        </p:nvSpPr>
        <p:spPr>
          <a:xfrm>
            <a:off x="8229600" y="2532888"/>
            <a:ext cx="318211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shattered gradients</a:t>
            </a:r>
            <a:endParaRPr lang="en-US" sz="2000" dirty="0"/>
          </a:p>
        </p:txBody>
      </p:sp>
      <p:sp>
        <p:nvSpPr>
          <p:cNvPr id="24" name="answer-bullets"/>
          <p:cNvSpPr txBox="1"/>
          <p:nvPr/>
        </p:nvSpPr>
        <p:spPr>
          <a:xfrm>
            <a:off x="8229600" y="3025648"/>
            <a:ext cx="3182112" cy="1947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Deep plain nets: early-layer gradients look like noise, with no consistent direction (Balduzzi et al., 2017; L8).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Skip connections keep an identity path, so gradients stay structured.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Vanishing gradients were mostly handled earlier by initialization and normalization (He et al., 2016, Sec. 1).</a:t>
            </a:r>
            <a:endParaRPr lang="en-US" sz="1400" dirty="0"/>
          </a:p>
        </p:txBody>
      </p:sp>
      <p:sp>
        <p:nvSpPr>
          <p:cNvPr id="25" name="class-picks"/>
          <p:cNvSpPr txBox="1"/>
          <p:nvPr/>
        </p:nvSpPr>
        <p:spPr>
          <a:xfrm>
            <a:off x="8183880" y="5064252"/>
            <a:ext cx="3273552" cy="1016508"/>
          </a:xfrm>
          <a:prstGeom prst="roundRect">
            <a:avLst>
              <a:gd name="adj" fmla="val 5397"/>
            </a:avLst>
          </a:prstGeom>
          <a:solidFill>
            <a:srgbClr val="6E2430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8BC"/>
                </a:solidFill>
              </a:rPr>
              <a:t>Common trap: </a:t>
            </a:r>
            <a:r>
              <a:rPr lang="en-US" sz="1400" dirty="0">
                <a:solidFill>
                  <a:srgbClr val="FFFFFF"/>
                </a:solidFill>
              </a:rPr>
              <a:t>Choosing “All of the above” or the vanishing-gradients option.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1842516" cy="329184"/>
          </a:xfrm>
          <a:prstGeom prst="roundRect">
            <a:avLst>
              <a:gd name="adj" fmla="val 50000"/>
            </a:avLst>
          </a:prstGeom>
          <a:solidFill>
            <a:srgbClr val="E6ED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8A"/>
                </a:solidFill>
              </a:rPr>
              <a:t>Variation · ResNets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56-layer plain network has higher training error than a 20-layer plain network on the same data. Best explanation?</a:t>
            </a:r>
            <a:endParaRPr lang="en-US" sz="2400" dirty="0"/>
          </a:p>
        </p:txBody>
      </p:sp>
      <p:sp>
        <p:nvSpPr>
          <p:cNvPr id="4" name="option-A-box"/>
          <p:cNvSpPr/>
          <p:nvPr/>
        </p:nvSpPr>
        <p:spPr>
          <a:xfrm>
            <a:off x="548640" y="2011680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ption-A-letter"/>
          <p:cNvSpPr txBox="1"/>
          <p:nvPr/>
        </p:nvSpPr>
        <p:spPr>
          <a:xfrm>
            <a:off x="685800" y="2062480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6" name="option-A-text"/>
          <p:cNvSpPr txBox="1"/>
          <p:nvPr/>
        </p:nvSpPr>
        <p:spPr>
          <a:xfrm>
            <a:off x="1188720" y="2011680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deeper network overfits.</a:t>
            </a:r>
            <a:endParaRPr lang="en-US" sz="1600" dirty="0"/>
          </a:p>
        </p:txBody>
      </p:sp>
      <p:sp>
        <p:nvSpPr>
          <p:cNvPr id="7" name="option-B-box"/>
          <p:cNvSpPr/>
          <p:nvPr/>
        </p:nvSpPr>
        <p:spPr>
          <a:xfrm>
            <a:off x="548640" y="2597912"/>
            <a:ext cx="7086600" cy="715264"/>
          </a:xfrm>
          <a:prstGeom prst="roundRect">
            <a:avLst>
              <a:gd name="adj" fmla="val 10227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ption-B-letter"/>
          <p:cNvSpPr txBox="1"/>
          <p:nvPr/>
        </p:nvSpPr>
        <p:spPr>
          <a:xfrm>
            <a:off x="685800" y="2772664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9" name="option-B-text"/>
          <p:cNvSpPr txBox="1"/>
          <p:nvPr/>
        </p:nvSpPr>
        <p:spPr>
          <a:xfrm>
            <a:off x="1188720" y="2597912"/>
            <a:ext cx="5394960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Early-layer gradients carry little consistent signal, so optimization stalls.</a:t>
            </a:r>
            <a:endParaRPr lang="en-US" sz="1600" dirty="0"/>
          </a:p>
        </p:txBody>
      </p:sp>
      <p:sp>
        <p:nvSpPr>
          <p:cNvPr id="10" name="option-C-box"/>
          <p:cNvSpPr/>
          <p:nvPr/>
        </p:nvSpPr>
        <p:spPr>
          <a:xfrm>
            <a:off x="548640" y="3432048"/>
            <a:ext cx="7086600" cy="715264"/>
          </a:xfrm>
          <a:prstGeom prst="roundRect">
            <a:avLst>
              <a:gd name="adj" fmla="val 10227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ption-C-letter"/>
          <p:cNvSpPr txBox="1"/>
          <p:nvPr/>
        </p:nvSpPr>
        <p:spPr>
          <a:xfrm>
            <a:off x="685800" y="3606800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2" name="option-C-text"/>
          <p:cNvSpPr txBox="1"/>
          <p:nvPr/>
        </p:nvSpPr>
        <p:spPr>
          <a:xfrm>
            <a:off x="1188720" y="3432048"/>
            <a:ext cx="5394960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deeper network has too many parameters to fit in memory.</a:t>
            </a:r>
            <a:endParaRPr lang="en-US" sz="1600" dirty="0"/>
          </a:p>
        </p:txBody>
      </p:sp>
      <p:sp>
        <p:nvSpPr>
          <p:cNvPr id="13" name="option-D-box"/>
          <p:cNvSpPr/>
          <p:nvPr/>
        </p:nvSpPr>
        <p:spPr>
          <a:xfrm>
            <a:off x="548640" y="4266184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ption-D-letter"/>
          <p:cNvSpPr txBox="1"/>
          <p:nvPr/>
        </p:nvSpPr>
        <p:spPr>
          <a:xfrm>
            <a:off x="685800" y="4316984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15" name="option-D-text"/>
          <p:cNvSpPr txBox="1"/>
          <p:nvPr/>
        </p:nvSpPr>
        <p:spPr>
          <a:xfrm>
            <a:off x="1188720" y="4266184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None of these.</a:t>
            </a:r>
            <a:endParaRPr lang="en-US" sz="1600" dirty="0"/>
          </a:p>
        </p:txBody>
      </p:sp>
      <p:sp>
        <p:nvSpPr>
          <p:cNvPr id="16" name="think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F2F4F7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hink-text"/>
          <p:cNvSpPr txBox="1"/>
          <p:nvPr/>
        </p:nvSpPr>
        <p:spPr>
          <a:xfrm>
            <a:off x="8275320" y="228600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Your turn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Take 60–90 seconds. Commit to an answer before the next slide.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1842516" cy="329184"/>
          </a:xfrm>
          <a:prstGeom prst="roundRect">
            <a:avLst>
              <a:gd name="adj" fmla="val 50000"/>
            </a:avLst>
          </a:prstGeom>
          <a:solidFill>
            <a:srgbClr val="E6ED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8A"/>
                </a:solidFill>
              </a:rPr>
              <a:t>Variation · ResNets</a:t>
            </a:r>
            <a:endParaRPr lang="en-US" sz="1300" dirty="0"/>
          </a:p>
        </p:txBody>
      </p:sp>
      <p:sp>
        <p:nvSpPr>
          <p:cNvPr id="3" name="answer-tag"/>
          <p:cNvSpPr txBox="1"/>
          <p:nvPr/>
        </p:nvSpPr>
        <p:spPr>
          <a:xfrm>
            <a:off x="2528316" y="3840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56-layer plain network has higher training error than a 20-layer plain network on the same data. Best explanation?</a:t>
            </a:r>
            <a:endParaRPr lang="en-US" sz="2400" dirty="0"/>
          </a:p>
        </p:txBody>
      </p:sp>
      <p:sp>
        <p:nvSpPr>
          <p:cNvPr id="5" name="option-A-box"/>
          <p:cNvSpPr/>
          <p:nvPr/>
        </p:nvSpPr>
        <p:spPr>
          <a:xfrm>
            <a:off x="548640" y="2011680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ption-A-letter"/>
          <p:cNvSpPr txBox="1"/>
          <p:nvPr/>
        </p:nvSpPr>
        <p:spPr>
          <a:xfrm>
            <a:off x="685800" y="2062480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-A-text"/>
          <p:cNvSpPr txBox="1"/>
          <p:nvPr/>
        </p:nvSpPr>
        <p:spPr>
          <a:xfrm>
            <a:off x="1188720" y="2011680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deeper network overfits.</a:t>
            </a:r>
            <a:endParaRPr lang="en-US" sz="1600" dirty="0"/>
          </a:p>
        </p:txBody>
      </p:sp>
      <p:sp>
        <p:nvSpPr>
          <p:cNvPr id="8" name="option-B-box"/>
          <p:cNvSpPr/>
          <p:nvPr/>
        </p:nvSpPr>
        <p:spPr>
          <a:xfrm>
            <a:off x="548640" y="2597912"/>
            <a:ext cx="7086600" cy="715264"/>
          </a:xfrm>
          <a:prstGeom prst="roundRect">
            <a:avLst>
              <a:gd name="adj" fmla="val 10227"/>
            </a:avLst>
          </a:prstGeom>
          <a:solidFill>
            <a:srgbClr val="E3F2EF"/>
          </a:solidFill>
          <a:ln w="254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ption-B-letter"/>
          <p:cNvSpPr txBox="1"/>
          <p:nvPr/>
        </p:nvSpPr>
        <p:spPr>
          <a:xfrm>
            <a:off x="685800" y="2772664"/>
            <a:ext cx="365760" cy="365760"/>
          </a:xfrm>
          <a:prstGeom prst="ellipse">
            <a:avLst/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0" name="option-B-text"/>
          <p:cNvSpPr txBox="1"/>
          <p:nvPr/>
        </p:nvSpPr>
        <p:spPr>
          <a:xfrm>
            <a:off x="1188720" y="2597912"/>
            <a:ext cx="5394960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Early-layer gradients carry little consistent signal, so optimization stalls.</a:t>
            </a:r>
            <a:endParaRPr lang="en-US" sz="1600" dirty="0"/>
          </a:p>
        </p:txBody>
      </p:sp>
      <p:sp>
        <p:nvSpPr>
          <p:cNvPr id="11" name="correct-mark"/>
          <p:cNvSpPr txBox="1"/>
          <p:nvPr/>
        </p:nvSpPr>
        <p:spPr>
          <a:xfrm>
            <a:off x="6675120" y="2597912"/>
            <a:ext cx="868680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7B6C"/>
                </a:solidFill>
              </a:rPr>
              <a:t>Correct</a:t>
            </a:r>
            <a:endParaRPr lang="en-US" sz="1400" dirty="0"/>
          </a:p>
        </p:txBody>
      </p:sp>
      <p:sp>
        <p:nvSpPr>
          <p:cNvPr id="12" name="option-C-box"/>
          <p:cNvSpPr/>
          <p:nvPr/>
        </p:nvSpPr>
        <p:spPr>
          <a:xfrm>
            <a:off x="548640" y="3432048"/>
            <a:ext cx="7086600" cy="715264"/>
          </a:xfrm>
          <a:prstGeom prst="roundRect">
            <a:avLst>
              <a:gd name="adj" fmla="val 10227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ption-C-letter"/>
          <p:cNvSpPr txBox="1"/>
          <p:nvPr/>
        </p:nvSpPr>
        <p:spPr>
          <a:xfrm>
            <a:off x="685800" y="3606800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4" name="option-C-text"/>
          <p:cNvSpPr txBox="1"/>
          <p:nvPr/>
        </p:nvSpPr>
        <p:spPr>
          <a:xfrm>
            <a:off x="1188720" y="3432048"/>
            <a:ext cx="5394960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deeper network has too many parameters to fit in memory.</a:t>
            </a:r>
            <a:endParaRPr lang="en-US" sz="1600" dirty="0"/>
          </a:p>
        </p:txBody>
      </p:sp>
      <p:sp>
        <p:nvSpPr>
          <p:cNvPr id="15" name="option-D-box"/>
          <p:cNvSpPr/>
          <p:nvPr/>
        </p:nvSpPr>
        <p:spPr>
          <a:xfrm>
            <a:off x="548640" y="4266184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ption-D-letter"/>
          <p:cNvSpPr txBox="1"/>
          <p:nvPr/>
        </p:nvSpPr>
        <p:spPr>
          <a:xfrm>
            <a:off x="685800" y="4316984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17" name="option-D-text"/>
          <p:cNvSpPr txBox="1"/>
          <p:nvPr/>
        </p:nvSpPr>
        <p:spPr>
          <a:xfrm>
            <a:off x="1188720" y="4266184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None of these.</a:t>
            </a:r>
            <a:endParaRPr lang="en-US" sz="1600" dirty="0"/>
          </a:p>
        </p:txBody>
      </p:sp>
      <p:sp>
        <p:nvSpPr>
          <p:cNvPr id="18" name="answer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nswer-label"/>
          <p:cNvSpPr txBox="1"/>
          <p:nvPr/>
        </p:nvSpPr>
        <p:spPr>
          <a:xfrm>
            <a:off x="8229600" y="22402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C"/>
                </a:solidFill>
              </a:rPr>
              <a:t>ANSWER</a:t>
            </a:r>
            <a:endParaRPr lang="en-US" sz="1200" dirty="0"/>
          </a:p>
        </p:txBody>
      </p:sp>
      <p:sp>
        <p:nvSpPr>
          <p:cNvPr id="20" name="answer-head"/>
          <p:cNvSpPr txBox="1"/>
          <p:nvPr/>
        </p:nvSpPr>
        <p:spPr>
          <a:xfrm>
            <a:off x="8229600" y="2532888"/>
            <a:ext cx="318211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21" name="answer-bullets"/>
          <p:cNvSpPr txBox="1"/>
          <p:nvPr/>
        </p:nvSpPr>
        <p:spPr>
          <a:xfrm>
            <a:off x="8229600" y="3025648"/>
            <a:ext cx="3182112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Overfitting lowers training error; it cannot explain higher training error.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The effect is Fig. 1 of He et al. (2016), who only conjecture a cause. B is the shattered-gradients account (Balduzzi et al., 2017; L8).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3086100" cy="329184"/>
          </a:xfrm>
          <a:prstGeom prst="roundRect">
            <a:avLst>
              <a:gd name="adj" fmla="val 50000"/>
            </a:avLst>
          </a:prstGeom>
          <a:solidFill>
            <a:srgbClr val="F7E6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2E"/>
                </a:solidFill>
              </a:rPr>
              <a:t>Quiz 2 · local minima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technique does NOT decrease the chance of settling into bad local minima?</a:t>
            </a:r>
            <a:endParaRPr lang="en-US" sz="2400" dirty="0"/>
          </a:p>
        </p:txBody>
      </p:sp>
      <p:sp>
        <p:nvSpPr>
          <p:cNvPr id="4" name="option-A-box"/>
          <p:cNvSpPr/>
          <p:nvPr/>
        </p:nvSpPr>
        <p:spPr>
          <a:xfrm>
            <a:off x="548640" y="2011680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ption-A-letter"/>
          <p:cNvSpPr txBox="1"/>
          <p:nvPr/>
        </p:nvSpPr>
        <p:spPr>
          <a:xfrm>
            <a:off x="685800" y="2062480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6" name="option-A-text"/>
          <p:cNvSpPr txBox="1"/>
          <p:nvPr/>
        </p:nvSpPr>
        <p:spPr>
          <a:xfrm>
            <a:off x="1188720" y="2011680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Stochastic gradient descent with small batches.</a:t>
            </a:r>
            <a:endParaRPr lang="en-US" sz="1600" dirty="0"/>
          </a:p>
        </p:txBody>
      </p:sp>
      <p:sp>
        <p:nvSpPr>
          <p:cNvPr id="7" name="option-B-box"/>
          <p:cNvSpPr/>
          <p:nvPr/>
        </p:nvSpPr>
        <p:spPr>
          <a:xfrm>
            <a:off x="548640" y="2597912"/>
            <a:ext cx="7086600" cy="715264"/>
          </a:xfrm>
          <a:prstGeom prst="roundRect">
            <a:avLst>
              <a:gd name="adj" fmla="val 10227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ption-B-letter"/>
          <p:cNvSpPr txBox="1"/>
          <p:nvPr/>
        </p:nvSpPr>
        <p:spPr>
          <a:xfrm>
            <a:off x="685800" y="2772664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9" name="option-B-text"/>
          <p:cNvSpPr txBox="1"/>
          <p:nvPr/>
        </p:nvSpPr>
        <p:spPr>
          <a:xfrm>
            <a:off x="1188720" y="2597912"/>
            <a:ext cx="5394960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Momentum in the gradient used when updating parameters.</a:t>
            </a:r>
            <a:endParaRPr lang="en-US" sz="1600" dirty="0"/>
          </a:p>
        </p:txBody>
      </p:sp>
      <p:sp>
        <p:nvSpPr>
          <p:cNvPr id="10" name="option-C-box"/>
          <p:cNvSpPr/>
          <p:nvPr/>
        </p:nvSpPr>
        <p:spPr>
          <a:xfrm>
            <a:off x="548640" y="3432048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ption-C-letter"/>
          <p:cNvSpPr txBox="1"/>
          <p:nvPr/>
        </p:nvSpPr>
        <p:spPr>
          <a:xfrm>
            <a:off x="685800" y="3482848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2" name="option-C-text"/>
          <p:cNvSpPr txBox="1"/>
          <p:nvPr/>
        </p:nvSpPr>
        <p:spPr>
          <a:xfrm>
            <a:off x="1188720" y="3432048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Using a wider or deeper network.</a:t>
            </a:r>
            <a:endParaRPr lang="en-US" sz="1600" dirty="0"/>
          </a:p>
        </p:txBody>
      </p:sp>
      <p:sp>
        <p:nvSpPr>
          <p:cNvPr id="13" name="option-D-box"/>
          <p:cNvSpPr/>
          <p:nvPr/>
        </p:nvSpPr>
        <p:spPr>
          <a:xfrm>
            <a:off x="548640" y="4018280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ption-D-letter"/>
          <p:cNvSpPr txBox="1"/>
          <p:nvPr/>
        </p:nvSpPr>
        <p:spPr>
          <a:xfrm>
            <a:off x="685800" y="4069080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15" name="option-D-text"/>
          <p:cNvSpPr txBox="1"/>
          <p:nvPr/>
        </p:nvSpPr>
        <p:spPr>
          <a:xfrm>
            <a:off x="1188720" y="4018280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All of the above decrease the chance.</a:t>
            </a:r>
            <a:endParaRPr lang="en-US" sz="1600" dirty="0"/>
          </a:p>
        </p:txBody>
      </p:sp>
      <p:sp>
        <p:nvSpPr>
          <p:cNvPr id="16" name="option-E-box"/>
          <p:cNvSpPr/>
          <p:nvPr/>
        </p:nvSpPr>
        <p:spPr>
          <a:xfrm>
            <a:off x="548640" y="4604512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ption-E-letter"/>
          <p:cNvSpPr txBox="1"/>
          <p:nvPr/>
        </p:nvSpPr>
        <p:spPr>
          <a:xfrm>
            <a:off x="685800" y="4655312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</a:t>
            </a:r>
            <a:endParaRPr lang="en-US" sz="1400" dirty="0"/>
          </a:p>
        </p:txBody>
      </p:sp>
      <p:sp>
        <p:nvSpPr>
          <p:cNvPr id="18" name="option-E-text"/>
          <p:cNvSpPr txBox="1"/>
          <p:nvPr/>
        </p:nvSpPr>
        <p:spPr>
          <a:xfrm>
            <a:off x="1188720" y="4604512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None of the above decrease the chance.</a:t>
            </a:r>
            <a:endParaRPr lang="en-US" sz="1600" dirty="0"/>
          </a:p>
        </p:txBody>
      </p:sp>
      <p:sp>
        <p:nvSpPr>
          <p:cNvPr id="19" name="think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F2F4F7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hink-text"/>
          <p:cNvSpPr txBox="1"/>
          <p:nvPr/>
        </p:nvSpPr>
        <p:spPr>
          <a:xfrm>
            <a:off x="8275320" y="228600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Your turn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Take 60–90 seconds. Commit to an answer before the next slide.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3086100" cy="329184"/>
          </a:xfrm>
          <a:prstGeom prst="roundRect">
            <a:avLst>
              <a:gd name="adj" fmla="val 50000"/>
            </a:avLst>
          </a:prstGeom>
          <a:solidFill>
            <a:srgbClr val="F7E6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2E"/>
                </a:solidFill>
              </a:rPr>
              <a:t>Quiz 2 · local minima</a:t>
            </a:r>
            <a:endParaRPr lang="en-US" sz="1300" dirty="0"/>
          </a:p>
        </p:txBody>
      </p:sp>
      <p:sp>
        <p:nvSpPr>
          <p:cNvPr id="3" name="answer-tag"/>
          <p:cNvSpPr txBox="1"/>
          <p:nvPr/>
        </p:nvSpPr>
        <p:spPr>
          <a:xfrm>
            <a:off x="3771900" y="3840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technique does NOT decrease the chance of settling into bad local minima?</a:t>
            </a:r>
            <a:endParaRPr lang="en-US" sz="2400" dirty="0"/>
          </a:p>
        </p:txBody>
      </p:sp>
      <p:sp>
        <p:nvSpPr>
          <p:cNvPr id="5" name="option-A-box"/>
          <p:cNvSpPr/>
          <p:nvPr/>
        </p:nvSpPr>
        <p:spPr>
          <a:xfrm>
            <a:off x="548640" y="2011680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ption-A-letter"/>
          <p:cNvSpPr txBox="1"/>
          <p:nvPr/>
        </p:nvSpPr>
        <p:spPr>
          <a:xfrm>
            <a:off x="685800" y="2062480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-A-text"/>
          <p:cNvSpPr txBox="1"/>
          <p:nvPr/>
        </p:nvSpPr>
        <p:spPr>
          <a:xfrm>
            <a:off x="1188720" y="2011680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Stochastic gradient descent with small batches.</a:t>
            </a:r>
            <a:endParaRPr lang="en-US" sz="1600" dirty="0"/>
          </a:p>
        </p:txBody>
      </p:sp>
      <p:sp>
        <p:nvSpPr>
          <p:cNvPr id="8" name="option-B-box"/>
          <p:cNvSpPr/>
          <p:nvPr/>
        </p:nvSpPr>
        <p:spPr>
          <a:xfrm>
            <a:off x="548640" y="2597912"/>
            <a:ext cx="7086600" cy="715264"/>
          </a:xfrm>
          <a:prstGeom prst="roundRect">
            <a:avLst>
              <a:gd name="adj" fmla="val 10227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ption-B-letter"/>
          <p:cNvSpPr txBox="1"/>
          <p:nvPr/>
        </p:nvSpPr>
        <p:spPr>
          <a:xfrm>
            <a:off x="685800" y="2772664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0" name="option-B-text"/>
          <p:cNvSpPr txBox="1"/>
          <p:nvPr/>
        </p:nvSpPr>
        <p:spPr>
          <a:xfrm>
            <a:off x="1188720" y="2597912"/>
            <a:ext cx="5394960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Momentum in the gradient used when updating parameters.</a:t>
            </a:r>
            <a:endParaRPr lang="en-US" sz="1600" dirty="0"/>
          </a:p>
        </p:txBody>
      </p:sp>
      <p:sp>
        <p:nvSpPr>
          <p:cNvPr id="11" name="option-C-box"/>
          <p:cNvSpPr/>
          <p:nvPr/>
        </p:nvSpPr>
        <p:spPr>
          <a:xfrm>
            <a:off x="548640" y="3432048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E3F2EF"/>
          </a:solidFill>
          <a:ln w="254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ption-C-letter"/>
          <p:cNvSpPr txBox="1"/>
          <p:nvPr/>
        </p:nvSpPr>
        <p:spPr>
          <a:xfrm>
            <a:off x="685800" y="3482848"/>
            <a:ext cx="365760" cy="365760"/>
          </a:xfrm>
          <a:prstGeom prst="ellipse">
            <a:avLst/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3" name="option-C-text"/>
          <p:cNvSpPr txBox="1"/>
          <p:nvPr/>
        </p:nvSpPr>
        <p:spPr>
          <a:xfrm>
            <a:off x="1188720" y="3432048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Using a wider or deeper network.</a:t>
            </a:r>
            <a:endParaRPr lang="en-US" sz="1600" dirty="0"/>
          </a:p>
        </p:txBody>
      </p:sp>
      <p:sp>
        <p:nvSpPr>
          <p:cNvPr id="14" name="correct-mark"/>
          <p:cNvSpPr txBox="1"/>
          <p:nvPr/>
        </p:nvSpPr>
        <p:spPr>
          <a:xfrm>
            <a:off x="6675120" y="3432048"/>
            <a:ext cx="86868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7B6C"/>
                </a:solidFill>
              </a:rPr>
              <a:t>Correct</a:t>
            </a:r>
            <a:endParaRPr lang="en-US" sz="1400" dirty="0"/>
          </a:p>
        </p:txBody>
      </p:sp>
      <p:sp>
        <p:nvSpPr>
          <p:cNvPr id="15" name="option-D-box"/>
          <p:cNvSpPr/>
          <p:nvPr/>
        </p:nvSpPr>
        <p:spPr>
          <a:xfrm>
            <a:off x="548640" y="4018280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ption-D-letter"/>
          <p:cNvSpPr txBox="1"/>
          <p:nvPr/>
        </p:nvSpPr>
        <p:spPr>
          <a:xfrm>
            <a:off x="685800" y="4069080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17" name="option-D-text"/>
          <p:cNvSpPr txBox="1"/>
          <p:nvPr/>
        </p:nvSpPr>
        <p:spPr>
          <a:xfrm>
            <a:off x="1188720" y="4018280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All of the above decrease the chance.</a:t>
            </a:r>
            <a:endParaRPr lang="en-US" sz="1600" dirty="0"/>
          </a:p>
        </p:txBody>
      </p:sp>
      <p:sp>
        <p:nvSpPr>
          <p:cNvPr id="18" name="option-E-box"/>
          <p:cNvSpPr/>
          <p:nvPr/>
        </p:nvSpPr>
        <p:spPr>
          <a:xfrm>
            <a:off x="548640" y="4604512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ption-E-letter"/>
          <p:cNvSpPr txBox="1"/>
          <p:nvPr/>
        </p:nvSpPr>
        <p:spPr>
          <a:xfrm>
            <a:off x="685800" y="4655312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</a:t>
            </a:r>
            <a:endParaRPr lang="en-US" sz="1400" dirty="0"/>
          </a:p>
        </p:txBody>
      </p:sp>
      <p:sp>
        <p:nvSpPr>
          <p:cNvPr id="20" name="option-E-text"/>
          <p:cNvSpPr txBox="1"/>
          <p:nvPr/>
        </p:nvSpPr>
        <p:spPr>
          <a:xfrm>
            <a:off x="1188720" y="4604512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None of the above decrease the chance.</a:t>
            </a:r>
            <a:endParaRPr lang="en-US" sz="1600" dirty="0"/>
          </a:p>
        </p:txBody>
      </p:sp>
      <p:sp>
        <p:nvSpPr>
          <p:cNvPr id="21" name="answer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nswer-label"/>
          <p:cNvSpPr txBox="1"/>
          <p:nvPr/>
        </p:nvSpPr>
        <p:spPr>
          <a:xfrm>
            <a:off x="8229600" y="22402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C"/>
                </a:solidFill>
              </a:rPr>
              <a:t>ANSWER</a:t>
            </a:r>
            <a:endParaRPr lang="en-US" sz="1200" dirty="0"/>
          </a:p>
        </p:txBody>
      </p:sp>
      <p:sp>
        <p:nvSpPr>
          <p:cNvPr id="23" name="answer-head"/>
          <p:cNvSpPr txBox="1"/>
          <p:nvPr/>
        </p:nvSpPr>
        <p:spPr>
          <a:xfrm>
            <a:off x="8229600" y="2532888"/>
            <a:ext cx="318211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24" name="answer-bullets"/>
          <p:cNvSpPr txBox="1"/>
          <p:nvPr/>
        </p:nvSpPr>
        <p:spPr>
          <a:xfrm>
            <a:off x="8229600" y="3025648"/>
            <a:ext cx="3182112" cy="1947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A: small batches add gradient noise that knocks SGD out of sharp minima (L6).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B: momentum keeps the gradient direction and carries updates past sharp, local minima (L6).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C is a capacity choice, not an escape mechanism; deeper plain nets can even train worse (L8).</a:t>
            </a:r>
            <a:endParaRPr lang="en-US" sz="1400" dirty="0"/>
          </a:p>
        </p:txBody>
      </p:sp>
      <p:sp>
        <p:nvSpPr>
          <p:cNvPr id="25" name="class-picks"/>
          <p:cNvSpPr txBox="1"/>
          <p:nvPr/>
        </p:nvSpPr>
        <p:spPr>
          <a:xfrm>
            <a:off x="8183880" y="5064252"/>
            <a:ext cx="3273552" cy="1016508"/>
          </a:xfrm>
          <a:prstGeom prst="roundRect">
            <a:avLst>
              <a:gd name="adj" fmla="val 5397"/>
            </a:avLst>
          </a:prstGeom>
          <a:solidFill>
            <a:srgbClr val="6E2430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8BC"/>
                </a:solidFill>
              </a:rPr>
              <a:t>Common trap: </a:t>
            </a:r>
            <a:r>
              <a:rPr lang="en-US" sz="1400" dirty="0">
                <a:solidFill>
                  <a:srgbClr val="FFFFFF"/>
                </a:solidFill>
              </a:rPr>
              <a:t>Choosing D, “All of the above decrease the chance.”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2231136" cy="329184"/>
          </a:xfrm>
          <a:prstGeom prst="roundRect">
            <a:avLst>
              <a:gd name="adj" fmla="val 50000"/>
            </a:avLst>
          </a:prstGeom>
          <a:solidFill>
            <a:srgbClr val="E6ED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8A"/>
                </a:solidFill>
              </a:rPr>
              <a:t>Variation · local minima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change makes SGD more likely to settle in a sharp minimum (one that tends to generalize worse)?</a:t>
            </a:r>
            <a:endParaRPr lang="en-US" sz="2400" dirty="0"/>
          </a:p>
        </p:txBody>
      </p:sp>
      <p:sp>
        <p:nvSpPr>
          <p:cNvPr id="4" name="option-A-box"/>
          <p:cNvSpPr/>
          <p:nvPr/>
        </p:nvSpPr>
        <p:spPr>
          <a:xfrm>
            <a:off x="548640" y="2011680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ption-A-letter"/>
          <p:cNvSpPr txBox="1"/>
          <p:nvPr/>
        </p:nvSpPr>
        <p:spPr>
          <a:xfrm>
            <a:off x="685800" y="2062480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6" name="option-A-text"/>
          <p:cNvSpPr txBox="1"/>
          <p:nvPr/>
        </p:nvSpPr>
        <p:spPr>
          <a:xfrm>
            <a:off x="1188720" y="2011680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Batch size 32 → 4,096 with the same learning rate.</a:t>
            </a:r>
            <a:endParaRPr lang="en-US" sz="1600" dirty="0"/>
          </a:p>
        </p:txBody>
      </p:sp>
      <p:sp>
        <p:nvSpPr>
          <p:cNvPr id="7" name="option-B-box"/>
          <p:cNvSpPr/>
          <p:nvPr/>
        </p:nvSpPr>
        <p:spPr>
          <a:xfrm>
            <a:off x="548640" y="2597912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ption-B-letter"/>
          <p:cNvSpPr txBox="1"/>
          <p:nvPr/>
        </p:nvSpPr>
        <p:spPr>
          <a:xfrm>
            <a:off x="685800" y="2648712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9" name="option-B-text"/>
          <p:cNvSpPr txBox="1"/>
          <p:nvPr/>
        </p:nvSpPr>
        <p:spPr>
          <a:xfrm>
            <a:off x="1188720" y="2597912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Adding momentum 0.9.</a:t>
            </a:r>
            <a:endParaRPr lang="en-US" sz="1600" dirty="0"/>
          </a:p>
        </p:txBody>
      </p:sp>
      <p:sp>
        <p:nvSpPr>
          <p:cNvPr id="10" name="option-C-box"/>
          <p:cNvSpPr/>
          <p:nvPr/>
        </p:nvSpPr>
        <p:spPr>
          <a:xfrm>
            <a:off x="548640" y="3184144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ption-C-letter"/>
          <p:cNvSpPr txBox="1"/>
          <p:nvPr/>
        </p:nvSpPr>
        <p:spPr>
          <a:xfrm>
            <a:off x="685800" y="3234944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2" name="option-C-text"/>
          <p:cNvSpPr txBox="1"/>
          <p:nvPr/>
        </p:nvSpPr>
        <p:spPr>
          <a:xfrm>
            <a:off x="1188720" y="3184144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Batch size 4,096 → 32.</a:t>
            </a:r>
            <a:endParaRPr lang="en-US" sz="1600" dirty="0"/>
          </a:p>
        </p:txBody>
      </p:sp>
      <p:sp>
        <p:nvSpPr>
          <p:cNvPr id="13" name="option-D-box"/>
          <p:cNvSpPr/>
          <p:nvPr/>
        </p:nvSpPr>
        <p:spPr>
          <a:xfrm>
            <a:off x="548640" y="3770376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ption-D-letter"/>
          <p:cNvSpPr txBox="1"/>
          <p:nvPr/>
        </p:nvSpPr>
        <p:spPr>
          <a:xfrm>
            <a:off x="685800" y="3821176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15" name="option-D-text"/>
          <p:cNvSpPr txBox="1"/>
          <p:nvPr/>
        </p:nvSpPr>
        <p:spPr>
          <a:xfrm>
            <a:off x="1188720" y="3770376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None of these.</a:t>
            </a:r>
            <a:endParaRPr lang="en-US" sz="1600" dirty="0"/>
          </a:p>
        </p:txBody>
      </p:sp>
      <p:sp>
        <p:nvSpPr>
          <p:cNvPr id="16" name="think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F2F4F7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hink-text"/>
          <p:cNvSpPr txBox="1"/>
          <p:nvPr/>
        </p:nvSpPr>
        <p:spPr>
          <a:xfrm>
            <a:off x="8275320" y="228600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Your turn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Take 60–90 seconds. Commit to an answer before the next slide.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2231136" cy="329184"/>
          </a:xfrm>
          <a:prstGeom prst="roundRect">
            <a:avLst>
              <a:gd name="adj" fmla="val 50000"/>
            </a:avLst>
          </a:prstGeom>
          <a:solidFill>
            <a:srgbClr val="E6ED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8A"/>
                </a:solidFill>
              </a:rPr>
              <a:t>Variation · local minima</a:t>
            </a:r>
            <a:endParaRPr lang="en-US" sz="1300" dirty="0"/>
          </a:p>
        </p:txBody>
      </p:sp>
      <p:sp>
        <p:nvSpPr>
          <p:cNvPr id="3" name="answer-tag"/>
          <p:cNvSpPr txBox="1"/>
          <p:nvPr/>
        </p:nvSpPr>
        <p:spPr>
          <a:xfrm>
            <a:off x="2916936" y="3840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change makes SGD more likely to settle in a sharp minimum (one that tends to generalize worse)?</a:t>
            </a:r>
            <a:endParaRPr lang="en-US" sz="2400" dirty="0"/>
          </a:p>
        </p:txBody>
      </p:sp>
      <p:sp>
        <p:nvSpPr>
          <p:cNvPr id="5" name="option-A-box"/>
          <p:cNvSpPr/>
          <p:nvPr/>
        </p:nvSpPr>
        <p:spPr>
          <a:xfrm>
            <a:off x="548640" y="2011680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E3F2EF"/>
          </a:solidFill>
          <a:ln w="254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ption-A-letter"/>
          <p:cNvSpPr txBox="1"/>
          <p:nvPr/>
        </p:nvSpPr>
        <p:spPr>
          <a:xfrm>
            <a:off x="685800" y="2062480"/>
            <a:ext cx="365760" cy="365760"/>
          </a:xfrm>
          <a:prstGeom prst="ellipse">
            <a:avLst/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-A-text"/>
          <p:cNvSpPr txBox="1"/>
          <p:nvPr/>
        </p:nvSpPr>
        <p:spPr>
          <a:xfrm>
            <a:off x="1188720" y="2011680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Batch size 32 → 4,096 with the same learning rate.</a:t>
            </a:r>
            <a:endParaRPr lang="en-US" sz="1600" dirty="0"/>
          </a:p>
        </p:txBody>
      </p:sp>
      <p:sp>
        <p:nvSpPr>
          <p:cNvPr id="8" name="correct-mark"/>
          <p:cNvSpPr txBox="1"/>
          <p:nvPr/>
        </p:nvSpPr>
        <p:spPr>
          <a:xfrm>
            <a:off x="6675120" y="2011680"/>
            <a:ext cx="86868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7B6C"/>
                </a:solidFill>
              </a:rPr>
              <a:t>Correct</a:t>
            </a:r>
            <a:endParaRPr lang="en-US" sz="1400" dirty="0"/>
          </a:p>
        </p:txBody>
      </p:sp>
      <p:sp>
        <p:nvSpPr>
          <p:cNvPr id="9" name="option-B-box"/>
          <p:cNvSpPr/>
          <p:nvPr/>
        </p:nvSpPr>
        <p:spPr>
          <a:xfrm>
            <a:off x="548640" y="2597912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ption-B-letter"/>
          <p:cNvSpPr txBox="1"/>
          <p:nvPr/>
        </p:nvSpPr>
        <p:spPr>
          <a:xfrm>
            <a:off x="685800" y="2648712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-B-text"/>
          <p:cNvSpPr txBox="1"/>
          <p:nvPr/>
        </p:nvSpPr>
        <p:spPr>
          <a:xfrm>
            <a:off x="1188720" y="2597912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Adding momentum 0.9.</a:t>
            </a:r>
            <a:endParaRPr lang="en-US" sz="1600" dirty="0"/>
          </a:p>
        </p:txBody>
      </p:sp>
      <p:sp>
        <p:nvSpPr>
          <p:cNvPr id="12" name="option-C-box"/>
          <p:cNvSpPr/>
          <p:nvPr/>
        </p:nvSpPr>
        <p:spPr>
          <a:xfrm>
            <a:off x="548640" y="3184144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ption-C-letter"/>
          <p:cNvSpPr txBox="1"/>
          <p:nvPr/>
        </p:nvSpPr>
        <p:spPr>
          <a:xfrm>
            <a:off x="685800" y="3234944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4" name="option-C-text"/>
          <p:cNvSpPr txBox="1"/>
          <p:nvPr/>
        </p:nvSpPr>
        <p:spPr>
          <a:xfrm>
            <a:off x="1188720" y="3184144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Batch size 4,096 → 32.</a:t>
            </a:r>
            <a:endParaRPr lang="en-US" sz="1600" dirty="0"/>
          </a:p>
        </p:txBody>
      </p:sp>
      <p:sp>
        <p:nvSpPr>
          <p:cNvPr id="15" name="option-D-box"/>
          <p:cNvSpPr/>
          <p:nvPr/>
        </p:nvSpPr>
        <p:spPr>
          <a:xfrm>
            <a:off x="548640" y="3770376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ption-D-letter"/>
          <p:cNvSpPr txBox="1"/>
          <p:nvPr/>
        </p:nvSpPr>
        <p:spPr>
          <a:xfrm>
            <a:off x="685800" y="3821176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17" name="option-D-text"/>
          <p:cNvSpPr txBox="1"/>
          <p:nvPr/>
        </p:nvSpPr>
        <p:spPr>
          <a:xfrm>
            <a:off x="1188720" y="3770376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None of these.</a:t>
            </a:r>
            <a:endParaRPr lang="en-US" sz="1600" dirty="0"/>
          </a:p>
        </p:txBody>
      </p:sp>
      <p:sp>
        <p:nvSpPr>
          <p:cNvPr id="18" name="answer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nswer-label"/>
          <p:cNvSpPr txBox="1"/>
          <p:nvPr/>
        </p:nvSpPr>
        <p:spPr>
          <a:xfrm>
            <a:off x="8229600" y="22402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C"/>
                </a:solidFill>
              </a:rPr>
              <a:t>ANSWER</a:t>
            </a:r>
            <a:endParaRPr lang="en-US" sz="1200" dirty="0"/>
          </a:p>
        </p:txBody>
      </p:sp>
      <p:sp>
        <p:nvSpPr>
          <p:cNvPr id="20" name="answer-head"/>
          <p:cNvSpPr txBox="1"/>
          <p:nvPr/>
        </p:nvSpPr>
        <p:spPr>
          <a:xfrm>
            <a:off x="8229600" y="2532888"/>
            <a:ext cx="318211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21" name="answer-bullets"/>
          <p:cNvSpPr txBox="1"/>
          <p:nvPr/>
        </p:nvSpPr>
        <p:spPr>
          <a:xfrm>
            <a:off x="8229600" y="3025648"/>
            <a:ext cx="3182112" cy="2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A huge batch makes the gradient nearly exact, removing the noise that helps escape sharp minima (L6; Keskar et al., 2017).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B and C both help escape.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Sharp ≠ high training loss: sharp minima mainly hurt generalization.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3396996" cy="329184"/>
          </a:xfrm>
          <a:prstGeom prst="roundRect">
            <a:avLst>
              <a:gd name="adj" fmla="val 50000"/>
            </a:avLst>
          </a:prstGeom>
          <a:solidFill>
            <a:srgbClr val="F7E6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2E"/>
                </a:solidFill>
              </a:rPr>
              <a:t>Quiz 2 · expressive power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statement about the expressive power of linear neural networks is true?</a:t>
            </a:r>
            <a:endParaRPr lang="en-US" sz="2400" dirty="0"/>
          </a:p>
        </p:txBody>
      </p:sp>
      <p:sp>
        <p:nvSpPr>
          <p:cNvPr id="4" name="option-A-box"/>
          <p:cNvSpPr/>
          <p:nvPr/>
        </p:nvSpPr>
        <p:spPr>
          <a:xfrm>
            <a:off x="548640" y="2011680"/>
            <a:ext cx="7086600" cy="963168"/>
          </a:xfrm>
          <a:prstGeom prst="roundRect">
            <a:avLst>
              <a:gd name="adj" fmla="val 7595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ption-A-letter"/>
          <p:cNvSpPr txBox="1"/>
          <p:nvPr/>
        </p:nvSpPr>
        <p:spPr>
          <a:xfrm>
            <a:off x="685800" y="2310384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6" name="option-A-text"/>
          <p:cNvSpPr txBox="1"/>
          <p:nvPr/>
        </p:nvSpPr>
        <p:spPr>
          <a:xfrm>
            <a:off x="1188720" y="2011680"/>
            <a:ext cx="539496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Neural networks can have an arbitrary number of parameters, but basis function expansion gives regression more representational power.</a:t>
            </a:r>
            <a:endParaRPr lang="en-US" sz="1600" dirty="0"/>
          </a:p>
        </p:txBody>
      </p:sp>
      <p:sp>
        <p:nvSpPr>
          <p:cNvPr id="7" name="option-B-box"/>
          <p:cNvSpPr/>
          <p:nvPr/>
        </p:nvSpPr>
        <p:spPr>
          <a:xfrm>
            <a:off x="548640" y="3093720"/>
            <a:ext cx="7086600" cy="715264"/>
          </a:xfrm>
          <a:prstGeom prst="roundRect">
            <a:avLst>
              <a:gd name="adj" fmla="val 10227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ption-B-letter"/>
          <p:cNvSpPr txBox="1"/>
          <p:nvPr/>
        </p:nvSpPr>
        <p:spPr>
          <a:xfrm>
            <a:off x="685800" y="3268472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9" name="option-B-text"/>
          <p:cNvSpPr txBox="1"/>
          <p:nvPr/>
        </p:nvSpPr>
        <p:spPr>
          <a:xfrm>
            <a:off x="1188720" y="3093720"/>
            <a:ext cx="5394960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There are only a couple of activation functions that work with neural networks.</a:t>
            </a:r>
            <a:endParaRPr lang="en-US" sz="1600" dirty="0"/>
          </a:p>
        </p:txBody>
      </p:sp>
      <p:sp>
        <p:nvSpPr>
          <p:cNvPr id="10" name="option-C-box"/>
          <p:cNvSpPr/>
          <p:nvPr/>
        </p:nvSpPr>
        <p:spPr>
          <a:xfrm>
            <a:off x="548640" y="3927856"/>
            <a:ext cx="7086600" cy="963168"/>
          </a:xfrm>
          <a:prstGeom prst="roundRect">
            <a:avLst>
              <a:gd name="adj" fmla="val 7595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ption-C-letter"/>
          <p:cNvSpPr txBox="1"/>
          <p:nvPr/>
        </p:nvSpPr>
        <p:spPr>
          <a:xfrm>
            <a:off x="685800" y="4226560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2" name="option-C-text"/>
          <p:cNvSpPr txBox="1"/>
          <p:nvPr/>
        </p:nvSpPr>
        <p:spPr>
          <a:xfrm>
            <a:off x="1188720" y="3927856"/>
            <a:ext cx="539496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An arbitrarily wide linear neural network with ReLU activations has decision boundaries of arbitrary complexity.</a:t>
            </a:r>
            <a:endParaRPr lang="en-US" sz="1600" dirty="0"/>
          </a:p>
        </p:txBody>
      </p:sp>
      <p:sp>
        <p:nvSpPr>
          <p:cNvPr id="13" name="option-D-box"/>
          <p:cNvSpPr/>
          <p:nvPr/>
        </p:nvSpPr>
        <p:spPr>
          <a:xfrm>
            <a:off x="548640" y="5009896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ption-D-letter"/>
          <p:cNvSpPr txBox="1"/>
          <p:nvPr/>
        </p:nvSpPr>
        <p:spPr>
          <a:xfrm>
            <a:off x="685800" y="5060696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15" name="option-D-text"/>
          <p:cNvSpPr txBox="1"/>
          <p:nvPr/>
        </p:nvSpPr>
        <p:spPr>
          <a:xfrm>
            <a:off x="1188720" y="5009896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None of the above are true.</a:t>
            </a:r>
            <a:endParaRPr lang="en-US" sz="1600" dirty="0"/>
          </a:p>
        </p:txBody>
      </p:sp>
      <p:sp>
        <p:nvSpPr>
          <p:cNvPr id="16" name="think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F2F4F7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hink-text"/>
          <p:cNvSpPr txBox="1"/>
          <p:nvPr/>
        </p:nvSpPr>
        <p:spPr>
          <a:xfrm>
            <a:off x="8275320" y="228600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Your turn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Take 60–90 seconds. Commit to an answer before the next slide.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3396996" cy="329184"/>
          </a:xfrm>
          <a:prstGeom prst="roundRect">
            <a:avLst>
              <a:gd name="adj" fmla="val 50000"/>
            </a:avLst>
          </a:prstGeom>
          <a:solidFill>
            <a:srgbClr val="F7E6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2E"/>
                </a:solidFill>
              </a:rPr>
              <a:t>Quiz 2 · expressive power</a:t>
            </a:r>
            <a:endParaRPr lang="en-US" sz="1300" dirty="0"/>
          </a:p>
        </p:txBody>
      </p:sp>
      <p:sp>
        <p:nvSpPr>
          <p:cNvPr id="3" name="answer-tag"/>
          <p:cNvSpPr txBox="1"/>
          <p:nvPr/>
        </p:nvSpPr>
        <p:spPr>
          <a:xfrm>
            <a:off x="4082796" y="3840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statement about the expressive power of linear neural networks is true?</a:t>
            </a:r>
            <a:endParaRPr lang="en-US" sz="2400" dirty="0"/>
          </a:p>
        </p:txBody>
      </p:sp>
      <p:sp>
        <p:nvSpPr>
          <p:cNvPr id="5" name="option-A-box"/>
          <p:cNvSpPr/>
          <p:nvPr/>
        </p:nvSpPr>
        <p:spPr>
          <a:xfrm>
            <a:off x="548640" y="2011680"/>
            <a:ext cx="7086600" cy="963168"/>
          </a:xfrm>
          <a:prstGeom prst="roundRect">
            <a:avLst>
              <a:gd name="adj" fmla="val 7595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ption-A-letter"/>
          <p:cNvSpPr txBox="1"/>
          <p:nvPr/>
        </p:nvSpPr>
        <p:spPr>
          <a:xfrm>
            <a:off x="685800" y="2310384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-A-text"/>
          <p:cNvSpPr txBox="1"/>
          <p:nvPr/>
        </p:nvSpPr>
        <p:spPr>
          <a:xfrm>
            <a:off x="1188720" y="2011680"/>
            <a:ext cx="539496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Neural networks can have an arbitrary number of parameters, but basis function expansion gives regression more representational power.</a:t>
            </a:r>
            <a:endParaRPr lang="en-US" sz="1600" dirty="0"/>
          </a:p>
        </p:txBody>
      </p:sp>
      <p:sp>
        <p:nvSpPr>
          <p:cNvPr id="8" name="option-B-box"/>
          <p:cNvSpPr/>
          <p:nvPr/>
        </p:nvSpPr>
        <p:spPr>
          <a:xfrm>
            <a:off x="548640" y="3093720"/>
            <a:ext cx="7086600" cy="715264"/>
          </a:xfrm>
          <a:prstGeom prst="roundRect">
            <a:avLst>
              <a:gd name="adj" fmla="val 10227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ption-B-letter"/>
          <p:cNvSpPr txBox="1"/>
          <p:nvPr/>
        </p:nvSpPr>
        <p:spPr>
          <a:xfrm>
            <a:off x="685800" y="3268472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0" name="option-B-text"/>
          <p:cNvSpPr txBox="1"/>
          <p:nvPr/>
        </p:nvSpPr>
        <p:spPr>
          <a:xfrm>
            <a:off x="1188720" y="3093720"/>
            <a:ext cx="5394960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There are only a couple of activation functions that work with neural networks.</a:t>
            </a:r>
            <a:endParaRPr lang="en-US" sz="1600" dirty="0"/>
          </a:p>
        </p:txBody>
      </p:sp>
      <p:sp>
        <p:nvSpPr>
          <p:cNvPr id="11" name="option-C-box"/>
          <p:cNvSpPr/>
          <p:nvPr/>
        </p:nvSpPr>
        <p:spPr>
          <a:xfrm>
            <a:off x="548640" y="3927856"/>
            <a:ext cx="7086600" cy="963168"/>
          </a:xfrm>
          <a:prstGeom prst="roundRect">
            <a:avLst>
              <a:gd name="adj" fmla="val 7595"/>
            </a:avLst>
          </a:prstGeom>
          <a:solidFill>
            <a:srgbClr val="E3F2EF"/>
          </a:solidFill>
          <a:ln w="254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ption-C-letter"/>
          <p:cNvSpPr txBox="1"/>
          <p:nvPr/>
        </p:nvSpPr>
        <p:spPr>
          <a:xfrm>
            <a:off x="685800" y="4226560"/>
            <a:ext cx="365760" cy="365760"/>
          </a:xfrm>
          <a:prstGeom prst="ellipse">
            <a:avLst/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3" name="option-C-text"/>
          <p:cNvSpPr txBox="1"/>
          <p:nvPr/>
        </p:nvSpPr>
        <p:spPr>
          <a:xfrm>
            <a:off x="1188720" y="3927856"/>
            <a:ext cx="539496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An arbitrarily wide linear neural network with ReLU activations has decision boundaries of arbitrary complexity.</a:t>
            </a:r>
            <a:endParaRPr lang="en-US" sz="1600" dirty="0"/>
          </a:p>
        </p:txBody>
      </p:sp>
      <p:sp>
        <p:nvSpPr>
          <p:cNvPr id="14" name="correct-mark"/>
          <p:cNvSpPr txBox="1"/>
          <p:nvPr/>
        </p:nvSpPr>
        <p:spPr>
          <a:xfrm>
            <a:off x="6675120" y="3927856"/>
            <a:ext cx="868680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7B6C"/>
                </a:solidFill>
              </a:rPr>
              <a:t>Correct</a:t>
            </a:r>
            <a:endParaRPr lang="en-US" sz="1400" dirty="0"/>
          </a:p>
        </p:txBody>
      </p:sp>
      <p:sp>
        <p:nvSpPr>
          <p:cNvPr id="15" name="option-D-box"/>
          <p:cNvSpPr/>
          <p:nvPr/>
        </p:nvSpPr>
        <p:spPr>
          <a:xfrm>
            <a:off x="548640" y="5009896"/>
            <a:ext cx="7086600" cy="467360"/>
          </a:xfrm>
          <a:prstGeom prst="roundRect">
            <a:avLst>
              <a:gd name="adj" fmla="val 15652"/>
            </a:avLst>
          </a:prstGeom>
          <a:solidFill>
            <a:srgbClr val="F7F8FA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ption-D-letter"/>
          <p:cNvSpPr txBox="1"/>
          <p:nvPr/>
        </p:nvSpPr>
        <p:spPr>
          <a:xfrm>
            <a:off x="685800" y="5060696"/>
            <a:ext cx="365760" cy="365760"/>
          </a:xfrm>
          <a:prstGeom prst="ellipse">
            <a:avLst/>
          </a:prstGeom>
          <a:solidFill>
            <a:srgbClr val="1F2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17" name="option-D-text"/>
          <p:cNvSpPr txBox="1"/>
          <p:nvPr/>
        </p:nvSpPr>
        <p:spPr>
          <a:xfrm>
            <a:off x="1188720" y="5009896"/>
            <a:ext cx="539496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None of the above are true.</a:t>
            </a:r>
            <a:endParaRPr lang="en-US" sz="1600" dirty="0"/>
          </a:p>
        </p:txBody>
      </p:sp>
      <p:sp>
        <p:nvSpPr>
          <p:cNvPr id="18" name="answer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nswer-label"/>
          <p:cNvSpPr txBox="1"/>
          <p:nvPr/>
        </p:nvSpPr>
        <p:spPr>
          <a:xfrm>
            <a:off x="8229600" y="22402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C"/>
                </a:solidFill>
              </a:rPr>
              <a:t>ANSWER</a:t>
            </a:r>
            <a:endParaRPr lang="en-US" sz="1200" dirty="0"/>
          </a:p>
        </p:txBody>
      </p:sp>
      <p:sp>
        <p:nvSpPr>
          <p:cNvPr id="20" name="answer-head"/>
          <p:cNvSpPr txBox="1"/>
          <p:nvPr/>
        </p:nvSpPr>
        <p:spPr>
          <a:xfrm>
            <a:off x="8229600" y="2532888"/>
            <a:ext cx="318211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answer-bullets"/>
          <p:cNvSpPr txBox="1"/>
          <p:nvPr/>
        </p:nvSpPr>
        <p:spPr>
          <a:xfrm>
            <a:off x="8229600" y="3025648"/>
            <a:ext cx="3182112" cy="1947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“Linear” names the layers (L6); the ReLUs between them make the network nonlinear.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Wide enough, with ReLU: universal approximation on compact sets (L6; Leshno et al., 1993).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Against A: basis expansion is fixed; a network learns its basis.</a:t>
            </a:r>
            <a:endParaRPr lang="en-US" sz="1400" dirty="0"/>
          </a:p>
        </p:txBody>
      </p:sp>
      <p:sp>
        <p:nvSpPr>
          <p:cNvPr id="22" name="class-picks"/>
          <p:cNvSpPr txBox="1"/>
          <p:nvPr/>
        </p:nvSpPr>
        <p:spPr>
          <a:xfrm>
            <a:off x="8183880" y="5064252"/>
            <a:ext cx="3273552" cy="1016508"/>
          </a:xfrm>
          <a:prstGeom prst="roundRect">
            <a:avLst>
              <a:gd name="adj" fmla="val 5397"/>
            </a:avLst>
          </a:prstGeom>
          <a:solidFill>
            <a:srgbClr val="6E2430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8BC"/>
                </a:solidFill>
              </a:rPr>
              <a:t>Common trap: </a:t>
            </a:r>
            <a:r>
              <a:rPr lang="en-US" sz="1400" dirty="0">
                <a:solidFill>
                  <a:srgbClr val="FFFFFF"/>
                </a:solidFill>
              </a:rPr>
              <a:t>Picking A, the basis-function statement.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2542032" cy="329184"/>
          </a:xfrm>
          <a:prstGeom prst="roundRect">
            <a:avLst>
              <a:gd name="adj" fmla="val 50000"/>
            </a:avLst>
          </a:prstGeom>
          <a:solidFill>
            <a:srgbClr val="E6ED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8A"/>
                </a:solidFill>
              </a:rPr>
              <a:t>Variation · expressive power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these networks represent?</a:t>
            </a:r>
            <a:endParaRPr lang="en-US" sz="2400" dirty="0"/>
          </a:p>
        </p:txBody>
      </p:sp>
      <p:sp>
        <p:nvSpPr>
          <p:cNvPr id="4" name="prompt"/>
          <p:cNvSpPr txBox="1"/>
          <p:nvPr/>
        </p:nvSpPr>
        <p:spPr>
          <a:xfrm>
            <a:off x="548640" y="2011680"/>
            <a:ext cx="7086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(a) 100 layers of 1,000 units each, but no activation functions. What shape is the decision boundary?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(b) 1-D input → one hidden layer of 3 ReLU units → 1-D output. At most how many linear pieces does the output have?</a:t>
            </a:r>
            <a:endParaRPr lang="en-US" sz="1800" dirty="0"/>
          </a:p>
        </p:txBody>
      </p:sp>
      <p:sp>
        <p:nvSpPr>
          <p:cNvPr id="5" name="think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F2F4F7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hink-text"/>
          <p:cNvSpPr txBox="1"/>
          <p:nvPr/>
        </p:nvSpPr>
        <p:spPr>
          <a:xfrm>
            <a:off x="8275320" y="228600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Your turn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Take 60–90 seconds. Commit to an answer before the next slide.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2542032" cy="329184"/>
          </a:xfrm>
          <a:prstGeom prst="roundRect">
            <a:avLst>
              <a:gd name="adj" fmla="val 50000"/>
            </a:avLst>
          </a:prstGeom>
          <a:solidFill>
            <a:srgbClr val="E6ED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8A"/>
                </a:solidFill>
              </a:rPr>
              <a:t>Variation · expressive power</a:t>
            </a:r>
            <a:endParaRPr lang="en-US" sz="1300" dirty="0"/>
          </a:p>
        </p:txBody>
      </p:sp>
      <p:sp>
        <p:nvSpPr>
          <p:cNvPr id="3" name="answer-tag"/>
          <p:cNvSpPr txBox="1"/>
          <p:nvPr/>
        </p:nvSpPr>
        <p:spPr>
          <a:xfrm>
            <a:off x="3227832" y="3840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these networks represent?</a:t>
            </a:r>
            <a:endParaRPr lang="en-US" sz="2400" dirty="0"/>
          </a:p>
        </p:txBody>
      </p:sp>
      <p:sp>
        <p:nvSpPr>
          <p:cNvPr id="5" name="prompt"/>
          <p:cNvSpPr txBox="1"/>
          <p:nvPr/>
        </p:nvSpPr>
        <p:spPr>
          <a:xfrm>
            <a:off x="548640" y="2011680"/>
            <a:ext cx="7086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(a) 100 layers of 1,000 units each, but no activation functions. What shape is the decision boundary?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(b) 1-D input → one hidden layer of 3 ReLU units → 1-D output. At most how many linear pieces does the output have?</a:t>
            </a:r>
            <a:endParaRPr lang="en-US" sz="1800" dirty="0"/>
          </a:p>
        </p:txBody>
      </p:sp>
      <p:sp>
        <p:nvSpPr>
          <p:cNvPr id="6" name="answer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nswer-label"/>
          <p:cNvSpPr txBox="1"/>
          <p:nvPr/>
        </p:nvSpPr>
        <p:spPr>
          <a:xfrm>
            <a:off x="8229600" y="22402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C"/>
                </a:solidFill>
              </a:rPr>
              <a:t>ANSWER</a:t>
            </a:r>
            <a:endParaRPr lang="en-US" sz="1200" dirty="0"/>
          </a:p>
        </p:txBody>
      </p:sp>
      <p:sp>
        <p:nvSpPr>
          <p:cNvPr id="8" name="answer-head"/>
          <p:cNvSpPr txBox="1"/>
          <p:nvPr/>
        </p:nvSpPr>
        <p:spPr>
          <a:xfrm>
            <a:off x="8229600" y="2532888"/>
            <a:ext cx="318211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(a) a hyperplane · (b) 4 pieces</a:t>
            </a:r>
            <a:endParaRPr lang="en-US" sz="2000" dirty="0"/>
          </a:p>
        </p:txBody>
      </p:sp>
      <p:sp>
        <p:nvSpPr>
          <p:cNvPr id="9" name="answer-bullets"/>
          <p:cNvSpPr txBox="1"/>
          <p:nvPr/>
        </p:nvSpPr>
        <p:spPr>
          <a:xfrm>
            <a:off x="8229600" y="3335528"/>
            <a:ext cx="3182112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(a) With no activations the stack collapses to one linear layer (L6), so the boundary is a single hyperplane.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(b) Each ReLU adds at most one kink: 3 kinks, 4 linear pieces.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537728F-1D3F-33FD-2714-1CA97A7AC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080" y="3868899"/>
            <a:ext cx="4770533" cy="60203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BD9FA58-C4C4-7988-6102-08B026345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5389" y="3192747"/>
            <a:ext cx="3254022" cy="74682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C7C4981-AB75-F423-03C6-7CBB1846EF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9152" y="4281088"/>
            <a:ext cx="3639312" cy="21928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3163824" cy="329184"/>
          </a:xfrm>
          <a:prstGeom prst="roundRect">
            <a:avLst>
              <a:gd name="adj" fmla="val 50000"/>
            </a:avLst>
          </a:prstGeom>
          <a:solidFill>
            <a:srgbClr val="F7E6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2E"/>
                </a:solidFill>
              </a:rPr>
              <a:t>Quiz 2 · Q10–Q11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emission matrix B and the transition matrix A.</a:t>
            </a:r>
            <a:endParaRPr lang="en-US" sz="2400" dirty="0"/>
          </a:p>
        </p:txBody>
      </p:sp>
      <p:sp>
        <p:nvSpPr>
          <p:cNvPr id="4" name="prompt"/>
          <p:cNvSpPr txBox="1"/>
          <p:nvPr/>
        </p:nvSpPr>
        <p:spPr>
          <a:xfrm>
            <a:off x="548640" y="2011680"/>
            <a:ext cx="7086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magician rolls a four-sided die and may swap a fair die for a fixed one.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fixed die rolls 1 75% of the time, never rolls 2, and rolls 3 or 4 with equal probability.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They switch dice every four rolls, on average, and are equally likely to start with either die.</a:t>
            </a:r>
            <a:endParaRPr lang="en-US" sz="1800" dirty="0"/>
          </a:p>
        </p:txBody>
      </p:sp>
      <p:sp>
        <p:nvSpPr>
          <p:cNvPr id="5" name="think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F2F4F7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hink-text"/>
          <p:cNvSpPr txBox="1"/>
          <p:nvPr/>
        </p:nvSpPr>
        <p:spPr>
          <a:xfrm>
            <a:off x="8275320" y="228600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Your turn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Take 60–90 seconds. Commit to an answer before the next slide.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3163824" cy="329184"/>
          </a:xfrm>
          <a:prstGeom prst="roundRect">
            <a:avLst>
              <a:gd name="adj" fmla="val 50000"/>
            </a:avLst>
          </a:prstGeom>
          <a:solidFill>
            <a:srgbClr val="F7E6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2E"/>
                </a:solidFill>
              </a:rPr>
              <a:t>Quiz 2 · Q10–Q11</a:t>
            </a:r>
            <a:endParaRPr lang="en-US" sz="1300" dirty="0"/>
          </a:p>
        </p:txBody>
      </p:sp>
      <p:sp>
        <p:nvSpPr>
          <p:cNvPr id="3" name="answer-tag"/>
          <p:cNvSpPr txBox="1"/>
          <p:nvPr/>
        </p:nvSpPr>
        <p:spPr>
          <a:xfrm>
            <a:off x="3849624" y="3840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emission matrix B and the transition matrix A.</a:t>
            </a:r>
            <a:endParaRPr lang="en-US" sz="2400" dirty="0"/>
          </a:p>
        </p:txBody>
      </p:sp>
      <p:sp>
        <p:nvSpPr>
          <p:cNvPr id="5" name="prompt"/>
          <p:cNvSpPr txBox="1"/>
          <p:nvPr/>
        </p:nvSpPr>
        <p:spPr>
          <a:xfrm>
            <a:off x="548640" y="2011680"/>
            <a:ext cx="7086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magician rolls a four-sided die and may swap a fair die for a fixed one.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fixed die rolls 1 75% of the time, never rolls 2, and rolls 3 or 4 with equal probability.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They switch dice every four rolls, on average, and are equally likely to start with either die.</a:t>
            </a:r>
            <a:endParaRPr lang="en-US" sz="1800" dirty="0"/>
          </a:p>
        </p:txBody>
      </p:sp>
      <p:sp>
        <p:nvSpPr>
          <p:cNvPr id="6" name="answer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nswer-label"/>
          <p:cNvSpPr txBox="1"/>
          <p:nvPr/>
        </p:nvSpPr>
        <p:spPr>
          <a:xfrm>
            <a:off x="8229600" y="22402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C"/>
                </a:solidFill>
              </a:rPr>
              <a:t>ANSWER</a:t>
            </a:r>
            <a:endParaRPr lang="en-US" sz="1200" dirty="0"/>
          </a:p>
        </p:txBody>
      </p:sp>
      <p:sp>
        <p:nvSpPr>
          <p:cNvPr id="8" name="answer-head"/>
          <p:cNvSpPr txBox="1"/>
          <p:nvPr/>
        </p:nvSpPr>
        <p:spPr>
          <a:xfrm>
            <a:off x="8229600" y="2532888"/>
            <a:ext cx="318211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and 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3025648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DEEA"/>
                </a:solidFill>
              </a:rPr>
              <a:t>Emission B (rows: state; columns: face)</a:t>
            </a:r>
            <a:endParaRPr lang="en-US" sz="1100" dirty="0"/>
          </a:p>
        </p:txBody>
      </p:sp>
      <p:graphicFrame>
        <p:nvGraphicFramePr>
          <p:cNvPr id="39" name="answer-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3281680"/>
          <a:ext cx="3182110" cy="822960"/>
        </p:xfrm>
        <a:graphic>
          <a:graphicData uri="http://schemas.openxmlformats.org/drawingml/2006/table">
            <a:tbl>
              <a:tblPr/>
              <a:tblGrid>
                <a:gridCol w="636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4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64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6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8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FD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8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FD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8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FD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8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FD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8229600" y="4241800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DEEA"/>
                </a:solidFill>
              </a:rPr>
              <a:t>Transition A (from row to column)</a:t>
            </a:r>
            <a:endParaRPr lang="en-US" sz="1100" dirty="0"/>
          </a:p>
        </p:txBody>
      </p:sp>
      <p:graphicFrame>
        <p:nvGraphicFramePr>
          <p:cNvPr id="77" name="answer-table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4497832"/>
          <a:ext cx="3182112" cy="822960"/>
        </p:xfrm>
        <a:graphic>
          <a:graphicData uri="http://schemas.openxmlformats.org/drawingml/2006/table">
            <a:tbl>
              <a:tblPr/>
              <a:tblGrid>
                <a:gridCol w="1060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8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FD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8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FD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answer-bullets"/>
          <p:cNvSpPr txBox="1"/>
          <p:nvPr/>
        </p:nvSpPr>
        <p:spPr>
          <a:xfrm>
            <a:off x="8229600" y="5457952"/>
            <a:ext cx="3182112" cy="76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“Switch every 4 rolls on average” → P(switch) = 1/4 (expected run length = 1 / P(switch)).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3630168" cy="329184"/>
          </a:xfrm>
          <a:prstGeom prst="roundRect">
            <a:avLst>
              <a:gd name="adj" fmla="val 50000"/>
            </a:avLst>
          </a:prstGeom>
          <a:solidFill>
            <a:srgbClr val="F7E6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2E"/>
                </a:solidFill>
              </a:rPr>
              <a:t>Quiz 2 · Q12 (double weight)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observe rolls 3, 2, 1, 1. Using Viterbi, what is the most likely hidden state (fair or unfair) for each roll?</a:t>
            </a:r>
            <a:endParaRPr lang="en-US" sz="2400" dirty="0"/>
          </a:p>
        </p:txBody>
      </p:sp>
      <p:sp>
        <p:nvSpPr>
          <p:cNvPr id="4" name="prompt"/>
          <p:cNvSpPr txBox="1"/>
          <p:nvPr/>
        </p:nvSpPr>
        <p:spPr>
          <a:xfrm>
            <a:off x="548640" y="2011680"/>
            <a:ext cx="7086600" cy="173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Same model as the previous question; start probabilities 1/2, 1/2.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If two states are equally likely, write “equal”.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Hint: it is possible without calculations, but show your work for partial credit.</a:t>
            </a:r>
            <a:endParaRPr lang="en-US" sz="1800" dirty="0"/>
          </a:p>
        </p:txBody>
      </p:sp>
      <p:sp>
        <p:nvSpPr>
          <p:cNvPr id="5" name="think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F2F4F7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hink-text"/>
          <p:cNvSpPr txBox="1"/>
          <p:nvPr/>
        </p:nvSpPr>
        <p:spPr>
          <a:xfrm>
            <a:off x="8275320" y="228600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Your turn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Take 60–90 seconds. Commit to an answer before the next slide.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C1E7BCB-EFCA-9BAD-1C48-A21B8075A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936" y="3236468"/>
            <a:ext cx="3736445" cy="268713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3630168" cy="329184"/>
          </a:xfrm>
          <a:prstGeom prst="roundRect">
            <a:avLst>
              <a:gd name="adj" fmla="val 50000"/>
            </a:avLst>
          </a:prstGeom>
          <a:solidFill>
            <a:srgbClr val="F7E6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2E"/>
                </a:solidFill>
              </a:rPr>
              <a:t>Quiz 2 · Q12 (double weight)</a:t>
            </a:r>
            <a:endParaRPr lang="en-US" sz="1300" dirty="0"/>
          </a:p>
        </p:txBody>
      </p:sp>
      <p:sp>
        <p:nvSpPr>
          <p:cNvPr id="3" name="answer-tag"/>
          <p:cNvSpPr txBox="1"/>
          <p:nvPr/>
        </p:nvSpPr>
        <p:spPr>
          <a:xfrm>
            <a:off x="4315968" y="3840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observe rolls 3, 2, 1, 1. Using Viterbi, what is the most likely hidden state (fair or unfair) for each roll?</a:t>
            </a:r>
            <a:endParaRPr lang="en-US" sz="2400" dirty="0"/>
          </a:p>
        </p:txBody>
      </p:sp>
      <p:sp>
        <p:nvSpPr>
          <p:cNvPr id="5" name="prompt"/>
          <p:cNvSpPr txBox="1"/>
          <p:nvPr/>
        </p:nvSpPr>
        <p:spPr>
          <a:xfrm>
            <a:off x="548640" y="2011680"/>
            <a:ext cx="7086600" cy="173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Same model as the previous question; start probabilities 1/2, 1/2.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If two states are equally likely, write “equal”.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Hint: it is possible without calculations, but show your work for partial credit.</a:t>
            </a:r>
            <a:endParaRPr lang="en-US" sz="1800" dirty="0"/>
          </a:p>
        </p:txBody>
      </p:sp>
      <p:sp>
        <p:nvSpPr>
          <p:cNvPr id="6" name="answer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nswer-label"/>
          <p:cNvSpPr txBox="1"/>
          <p:nvPr/>
        </p:nvSpPr>
        <p:spPr>
          <a:xfrm>
            <a:off x="8229600" y="22402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C"/>
                </a:solidFill>
              </a:rPr>
              <a:t>ANSWER</a:t>
            </a:r>
            <a:endParaRPr lang="en-US" sz="1200" dirty="0"/>
          </a:p>
        </p:txBody>
      </p:sp>
      <p:sp>
        <p:nvSpPr>
          <p:cNvPr id="8" name="answer-head"/>
          <p:cNvSpPr txBox="1"/>
          <p:nvPr/>
        </p:nvSpPr>
        <p:spPr>
          <a:xfrm>
            <a:off x="8229600" y="2532888"/>
            <a:ext cx="318211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Fair, Fair, </a:t>
            </a:r>
            <a:r>
              <a:rPr lang="en-US" altLang="zh-CN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Unfair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3335528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DEEA"/>
                </a:solidFill>
              </a:rPr>
              <a:t>δ = best path probability; ← = best previous state</a:t>
            </a:r>
            <a:endParaRPr lang="en-US" sz="1100" dirty="0"/>
          </a:p>
        </p:txBody>
      </p:sp>
      <p:graphicFrame>
        <p:nvGraphicFramePr>
          <p:cNvPr id="41" name="answer-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3591560"/>
          <a:ext cx="3182112" cy="13716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FD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8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FD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8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FD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δ(F)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8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FD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δ(U)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3/128 ←F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9/2048 ←F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9/2048 ←F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27/32768 ←F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81/32768 ←U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answer-bullets"/>
          <p:cNvSpPr txBox="1"/>
          <p:nvPr/>
        </p:nvSpPr>
        <p:spPr>
          <a:xfrm>
            <a:off x="8229600" y="5100320"/>
            <a:ext cx="3182112" cy="1276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Roll 2 must be Fair: the unfair die never shows 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87827E5-45BA-8E1B-51B6-6AAE5A9F6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936" y="3236468"/>
            <a:ext cx="3736445" cy="268713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1842516" cy="329184"/>
          </a:xfrm>
          <a:prstGeom prst="roundRect">
            <a:avLst>
              <a:gd name="adj" fmla="val 50000"/>
            </a:avLst>
          </a:prstGeom>
          <a:solidFill>
            <a:srgbClr val="E6ED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8A"/>
                </a:solidFill>
              </a:rPr>
              <a:t>Variation · Viterbi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four-sided model. You observe rolls 1, 1, 2, 1. What is the most likely state for each roll?</a:t>
            </a:r>
            <a:endParaRPr lang="en-US" sz="2400" dirty="0"/>
          </a:p>
        </p:txBody>
      </p:sp>
      <p:sp>
        <p:nvSpPr>
          <p:cNvPr id="4" name="prompt"/>
          <p:cNvSpPr txBox="1"/>
          <p:nvPr/>
        </p:nvSpPr>
        <p:spPr>
          <a:xfrm>
            <a:off x="548640" y="2011680"/>
            <a:ext cx="7086600" cy="173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Fair: 1/4 per face. Unfair: 1 → 3/4, 2 → 0, 3 → 1/8, 4 → 1/8.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Stay with probability 3/4, switch with 1/4; start 1/2, 1/2.</a:t>
            </a:r>
            <a:endParaRPr lang="en-US" sz="1800" dirty="0"/>
          </a:p>
        </p:txBody>
      </p:sp>
      <p:sp>
        <p:nvSpPr>
          <p:cNvPr id="5" name="think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F2F4F7"/>
          </a:solidFill>
          <a:ln w="635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hink-text"/>
          <p:cNvSpPr txBox="1"/>
          <p:nvPr/>
        </p:nvSpPr>
        <p:spPr>
          <a:xfrm>
            <a:off x="8275320" y="228600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</a:rPr>
              <a:t>Your turn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Take 60–90 seconds. Commit to an answer before the next slide.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384048"/>
            <a:ext cx="1842516" cy="329184"/>
          </a:xfrm>
          <a:prstGeom prst="roundRect">
            <a:avLst>
              <a:gd name="adj" fmla="val 50000"/>
            </a:avLst>
          </a:prstGeom>
          <a:solidFill>
            <a:srgbClr val="E6ED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8A"/>
                </a:solidFill>
              </a:rPr>
              <a:t>Variation · Viterbi</a:t>
            </a:r>
            <a:endParaRPr lang="en-US" sz="1300" dirty="0"/>
          </a:p>
        </p:txBody>
      </p:sp>
      <p:sp>
        <p:nvSpPr>
          <p:cNvPr id="3" name="answer-tag"/>
          <p:cNvSpPr txBox="1"/>
          <p:nvPr/>
        </p:nvSpPr>
        <p:spPr>
          <a:xfrm>
            <a:off x="2528316" y="3840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Answer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686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four-sided model. You observe rolls 1, 1, 2, 1. What is the most likely state for each roll?</a:t>
            </a:r>
            <a:endParaRPr lang="en-US" sz="2400" dirty="0"/>
          </a:p>
        </p:txBody>
      </p:sp>
      <p:sp>
        <p:nvSpPr>
          <p:cNvPr id="5" name="prompt"/>
          <p:cNvSpPr txBox="1"/>
          <p:nvPr/>
        </p:nvSpPr>
        <p:spPr>
          <a:xfrm>
            <a:off x="548640" y="2011680"/>
            <a:ext cx="7086600" cy="173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Fair: 1/4 per face. Unfair: 1 → 3/4, 2 → 0, 3 → 1/8, 4 → 1/8.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Stay with probability 3/4, switch with 1/4; start 1/2, 1/2.</a:t>
            </a:r>
            <a:endParaRPr lang="en-US" sz="1800" dirty="0"/>
          </a:p>
        </p:txBody>
      </p:sp>
      <p:sp>
        <p:nvSpPr>
          <p:cNvPr id="6" name="answer-panel"/>
          <p:cNvSpPr/>
          <p:nvPr/>
        </p:nvSpPr>
        <p:spPr>
          <a:xfrm>
            <a:off x="8001000" y="2011680"/>
            <a:ext cx="3639312" cy="4251960"/>
          </a:xfrm>
          <a:prstGeom prst="roundRect">
            <a:avLst>
              <a:gd name="adj" fmla="val 251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nswer-label"/>
          <p:cNvSpPr txBox="1"/>
          <p:nvPr/>
        </p:nvSpPr>
        <p:spPr>
          <a:xfrm>
            <a:off x="8229600" y="22402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C"/>
                </a:solidFill>
              </a:rPr>
              <a:t>ANSWER</a:t>
            </a:r>
            <a:endParaRPr lang="en-US" sz="1200" dirty="0"/>
          </a:p>
        </p:txBody>
      </p:sp>
      <p:sp>
        <p:nvSpPr>
          <p:cNvPr id="8" name="answer-head"/>
          <p:cNvSpPr txBox="1"/>
          <p:nvPr/>
        </p:nvSpPr>
        <p:spPr>
          <a:xfrm>
            <a:off x="8229600" y="2532888"/>
            <a:ext cx="318211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Unfair, Unfair, Fair, equal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3335528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DEEA"/>
                </a:solidFill>
              </a:rPr>
              <a:t>δ = best path probability; ← = best previous state</a:t>
            </a:r>
            <a:endParaRPr lang="en-US" sz="1100" dirty="0"/>
          </a:p>
        </p:txBody>
      </p:sp>
      <p:graphicFrame>
        <p:nvGraphicFramePr>
          <p:cNvPr id="43" name="answer-table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3591560"/>
          <a:ext cx="3182112" cy="13716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FD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8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FD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8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FD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δ(F)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8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FD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δ(U)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3/128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27/128 ←U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27/2048 ←U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81/32768 ←F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81/32768 ←F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answer-bullets"/>
          <p:cNvSpPr txBox="1"/>
          <p:nvPr/>
        </p:nvSpPr>
        <p:spPr>
          <a:xfrm>
            <a:off x="8229600" y="5100320"/>
            <a:ext cx="3182112" cy="76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6DEEA"/>
                </a:solidFill>
              </a:rPr>
              <a:t>The final values tie, and both paths share rolls 1–3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461 Review">
  <a:themeElements>
    <a:clrScheme name="CS461 Review">
      <a:dk1>
        <a:srgbClr val="1F2A44"/>
      </a:dk1>
      <a:lt1>
        <a:srgbClr val="FFFFFF"/>
      </a:lt1>
      <a:dk2>
        <a:srgbClr val="4A5568"/>
      </a:dk2>
      <a:lt2>
        <a:srgbClr val="F2F4F7"/>
      </a:lt2>
      <a:accent1>
        <a:srgbClr val="B3262E"/>
      </a:accent1>
      <a:accent2>
        <a:srgbClr val="0F7B6C"/>
      </a:accent2>
      <a:accent3>
        <a:srgbClr val="2F5D8A"/>
      </a:accent3>
      <a:accent4>
        <a:srgbClr val="D9822B"/>
      </a:accent4>
      <a:accent5>
        <a:srgbClr val="D8DEE8"/>
      </a:accent5>
      <a:accent6>
        <a:srgbClr val="8A94A6"/>
      </a:accent6>
      <a:hlink>
        <a:srgbClr val="2F5D8A"/>
      </a:hlink>
      <a:folHlink>
        <a:srgbClr val="6B4C9A"/>
      </a:folHlink>
    </a:clrScheme>
    <a:fontScheme name="CS461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6583</Words>
  <Application>Microsoft Office PowerPoint</Application>
  <PresentationFormat>宽屏</PresentationFormat>
  <Paragraphs>682</Paragraphs>
  <Slides>42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6" baseType="lpstr">
      <vt:lpstr>Arial</vt:lpstr>
      <vt:lpstr>Calibri</vt:lpstr>
      <vt:lpstr>Cambria</vt:lpstr>
      <vt:lpstr>CS461 Review</vt:lpstr>
      <vt:lpstr>Midterm Review</vt:lpstr>
      <vt:lpstr>Nine question types, each as question → answer → variation</vt:lpstr>
      <vt:lpstr>Quiz 1</vt:lpstr>
      <vt:lpstr>Of the points marked A–E, which does the model classify with the least certainty? With the most certainty?</vt:lpstr>
      <vt:lpstr>Of the points marked A–E, which does the model classify with the least certainty? With the most certainty?</vt:lpstr>
      <vt:lpstr>A logistic regression model has p(y=1|x) = σ(x₁ + x₂ − 1). Rank S, P, R, Q from least to most certain.</vt:lpstr>
      <vt:lpstr>A logistic regression model has p(y=1|x) = σ(x₁ + x₂ − 1). Rank S, P, R, Q from least to most certain.</vt:lpstr>
      <vt:lpstr>If you use an MLE approach to finding parameters, what can we say is true?</vt:lpstr>
      <vt:lpstr>If you use an MLE approach to finding parameters, what can we say is true?</vt:lpstr>
      <vt:lpstr>Which statement about the MLE of a coin’s heads-probability p is false?</vt:lpstr>
      <vt:lpstr>Which statement about the MLE of a coin’s heads-probability p is false?</vt:lpstr>
      <vt:lpstr>You are very certain a friend’s coin is unfair and lands heads twice as often as tails. Which pseudo-observations best match your prior?</vt:lpstr>
      <vt:lpstr>You are very certain a friend’s coin is unfair and lands heads twice as often as tails. Which pseudo-observations best match your prior?</vt:lpstr>
      <vt:lpstr>You are very confident a coin lands tails three times as often as heads. Which prior fits?</vt:lpstr>
      <vt:lpstr>You are very confident a coin lands tails three times as often as heads. Which prior fits?</vt:lpstr>
      <vt:lpstr>Quiz 2</vt:lpstr>
      <vt:lpstr>What is the receptive field, in pixels, of the third convolution?</vt:lpstr>
      <vt:lpstr>What is the receptive field, in pixels, of the third convolution?</vt:lpstr>
      <vt:lpstr>Three 3×3 convolutions are stacked. What is the receptive field of layer 3?</vt:lpstr>
      <vt:lpstr>Three 3×3 convolutions are stacked. What is the receptive field of layer 3?</vt:lpstr>
      <vt:lpstr>How many weight and bias parameters are in the first (10-filter) conv layer? In a 100 → 10 linear layer?</vt:lpstr>
      <vt:lpstr>How many weight and bias parameters are in the first (10-filter) conv layer? In a 100 → 10 linear layer?</vt:lpstr>
      <vt:lpstr>For the same network, count the parameters of conv layers 2 and 3. Then compare with a fully connected layer.</vt:lpstr>
      <vt:lpstr>For the same network, count the parameters of conv layers 2 and 3. Then compare with a fully connected layer.</vt:lpstr>
      <vt:lpstr>What problem did residual networks solve?</vt:lpstr>
      <vt:lpstr>What problem did residual networks solve?</vt:lpstr>
      <vt:lpstr>A 56-layer plain network has higher training error than a 20-layer plain network on the same data. Best explanation?</vt:lpstr>
      <vt:lpstr>A 56-layer plain network has higher training error than a 20-layer plain network on the same data. Best explanation?</vt:lpstr>
      <vt:lpstr>What technique does NOT decrease the chance of settling into bad local minima?</vt:lpstr>
      <vt:lpstr>What technique does NOT decrease the chance of settling into bad local minima?</vt:lpstr>
      <vt:lpstr>Which change makes SGD more likely to settle in a sharp minimum (one that tends to generalize worse)?</vt:lpstr>
      <vt:lpstr>Which change makes SGD more likely to settle in a sharp minimum (one that tends to generalize worse)?</vt:lpstr>
      <vt:lpstr>What statement about the expressive power of linear neural networks is true?</vt:lpstr>
      <vt:lpstr>What statement about the expressive power of linear neural networks is true?</vt:lpstr>
      <vt:lpstr>What can these networks represent?</vt:lpstr>
      <vt:lpstr>What can these networks represent?</vt:lpstr>
      <vt:lpstr>Write the emission matrix B and the transition matrix A.</vt:lpstr>
      <vt:lpstr>Write the emission matrix B and the transition matrix A.</vt:lpstr>
      <vt:lpstr>You observe rolls 3, 2, 1, 1. Using Viterbi, what is the most likely hidden state (fair or unfair) for each roll?</vt:lpstr>
      <vt:lpstr>You observe rolls 3, 2, 1, 1. Using Viterbi, what is the most likely hidden state (fair or unfair) for each roll?</vt:lpstr>
      <vt:lpstr>Same four-sided model. You observe rolls 1, 1, 2, 1. What is the most likely state for each roll?</vt:lpstr>
      <vt:lpstr>Same four-sided model. You observe rolls 1, 1, 2, 1. What is the most likely state for each roll?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CS461 Midterm Review: Quiz 1 and Quiz 2</dc:title>
  <dc:subject>PptxGenJS Presentation</dc:subject>
  <dc:creator>PptxGenJS</dc:creator>
  <cp:lastModifiedBy>Yibin Wang</cp:lastModifiedBy>
  <cp:revision>5</cp:revision>
  <dcterms:created xsi:type="dcterms:W3CDTF">2026-10-20T01:07:49Z</dcterms:created>
  <dcterms:modified xsi:type="dcterms:W3CDTF">2026-10-20T23:21:46Z</dcterms:modified>
</cp:coreProperties>
</file>