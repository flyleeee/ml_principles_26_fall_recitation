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2" r:id="rId10"/>
    <p:sldId id="263" r:id="rId11"/>
    <p:sldId id="264" r:id="rId12"/>
    <p:sldId id="265" r:id="rId9"/>
    <p:sldId id="266" r:id="rId14"/>
    <p:sldId id="267" r:id="rId15"/>
    <p:sldId id="268" r:id="rId16"/>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5.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9.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老师明确允许学生复用课堂代码。hw2_help.tgz 里是训练 CNN、统计 n-gram 和运行 Markov 模型的辅助代码；单独提供的 ocr.py 已经是示例解法。作业的主线是准备自己的模型和文本统计，再运行 OCR。</a:t>
            </a:r>
          </a:p>
          <a:p/>
          <a:p>
            <a:r>
              <a:t>SOURCE BASIS</a:t>
            </a:r>
          </a:p>
          <a:p>
            <a:r>
              <a:t>Instructor message supplied in chat: students can use class examples; ocr.py has an example solution. Homework 2(1).pdf p. 1: task and training; p. 2: helper-file descriptions. Uploaded hw2_help.tgz member names.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先看主程序，不需要讲 imports 或 argparse 的细节。--config 告诉程序去哪里读 YAML；yaml.safe_load 得到 config 字典。model_version 决定构建哪种网络，本页只保留 convnet 分支，原文件还有 wider、deeper 和 next 分支。classes=26 表示字母分类器。config['model'] 是权重文件名，load_state_dict 加载训练好的参数，to(device) 把模型放到选择的设备上。这里没有训练循环；训练在 train_emnist.py 里完成。</a:t>
            </a:r>
          </a:p>
          <a:p/>
          <a:p>
            <a:r>
              <a:t>SOURCE BASIS</a:t>
            </a:r>
          </a:p>
          <a:p>
            <a:r>
              <a:t>Uploaded ocr.py lines 141–158. Selected original statements, with line wrapping only; alternative architecture branches and print options are omitted. Prior concise deck slide 2 and Homework 2 p. 1 establish the 26-letter training task.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混淆矩阵就是分类器的识别统计表。主程序从 config['confusion'] 取出之前保存的矩阵，再调用 makeBFromConfusion。函数创建 27×27 的零矩阵，按照原代码用 .T 转置复制字母部分，然后把空间位置 B[26,26] 设为 1。由于其余对应空格的项仍是 0，示例假设空格不与字母混淆。B 的含义沿用原 PPT：真实字母是 c 时，观测成 e 的概率可以是 0.15。底部的 0.15 仅是原 PPT 的教学例子，不是本次运行结果。本页展示 ocr.py 原样的 .T 操作，没有把它替换成新的归一化或纠正实现。</a:t>
            </a:r>
          </a:p>
          <a:p/>
          <a:p>
            <a:r>
              <a:t>SOURCE BASIS</a:t>
            </a:r>
          </a:p>
          <a:p>
            <a:r>
              <a:t>Uploaded ocr.py lines 28–37 and 164–165. The displayed assignments are unchanged. The illustrative c→e probability is from the prior concise deck slide 3; it is a conceptual example, not an execution trace.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先从 YAML 读出 1gram，交给 makeAFrom1Gram。函数开头建立全零 A，形状是 27×27，以及全零 pi，长度为 27。循环中 entry 是一个字符对，entry[0] 是前一个字符，entry[1] 是后一个字符；alphaToIdx 把 a–z 映射为 0–25，空格映射为 26。若字符对以空格开头，第二个字符的频率也会写入 pi，用来提供词首信息。最后 pi 除以自身总和。请按原样读本页最后两行：range(26) 遍历 0–25，A[:,i] 是第 i 列，代码实际对这些列作归一化。本页保留这一操作，未将它默默改写成行归一化，也不展开额外的代码修正讨论。</a:t>
            </a:r>
          </a:p>
          <a:p/>
          <a:p>
            <a:r>
              <a:t>SOURCE BASIS</a:t>
            </a:r>
          </a:p>
          <a:p>
            <a:r>
              <a:t>Uploaded ocr.py lines 40–58, 174–175, and alphaToIdx lines 21–25. Zero-initialization and return are described in the annotations; the shown loop and normalization retain the original operations. Only the long A subscript is wrapped onto two 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Image.open 读入 --image 指定的图片。prepareImage 实际执行 ToTensor、float 和 unsqueeze(0)，然后主程序将结果移到 device。computeImgClasses 的默认 patch_size 和 stride 都是 28，Unfold 按固定网格取出图片块；接着 reshape、permute 成小图批次，在 model.eval 和 torch.no_grad 下分批送入网络。主程序 raw_predictions[0] 去掉这一行图像的高度维度，argmax(axis=1) 从每个格子的 26 个分数里选一个字母 ID。当前还包括空白格的暂时分类，下一页会覆盖成空格。这里不将 prepareImage 的注释扩写为实际不存在的图像反色步骤。</a:t>
            </a:r>
          </a:p>
          <a:p/>
          <a:p>
            <a:r>
              <a:t>SOURCE BASIS</a:t>
            </a:r>
          </a:p>
          <a:p>
            <a:r>
              <a:t>Uploaded ocr.py lines 181–188, computeImgClasses lines 61–101, and prepareImage lines 104–108. Source snippets are original operations with line wrapping only. The shape and inference descriptions follow the actual statements, not the inaccurate polarity comment.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现在把每个格子统一成 HMM 的观测。遍历 classes，每次从原图取出相应 28 像素宽的块，并建立长度为 27 的全零向量。若这块像素最大值小于 0.5，按示例规则判为空白，令最后一位（index 26）为 1；否则令 CNN 预测字母对应的位置为 1。每个向量 reshape 成 1×27，最后 concat 得到 T×27 的观测矩阵。T 是格子总数，空格也必须保留。强调此处使用的是 argmax 后的 one-hot 标签，不是把 CNN 的全部 26 维分数作为 soft probabilities 传入 Markov 模型。</a:t>
            </a:r>
          </a:p>
          <a:p/>
          <a:p>
            <a:r>
              <a:t>SOURCE BASIS</a:t>
            </a:r>
          </a:p>
          <a:p>
            <a:r>
              <a:t>Uploaded ocr.py lines 193–203, with earlier argmax at 188. The blank rule and the 27-way vectors are reproduced from the actual code. The array concatenation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这一页只跟踪最后被评分的输出分支。程序先对 A、B、pi 取 log；源代码在 A 和 B 中加了 10e-6，pi 没有加。然后调用提供的 updated_hmm.py：forward_pass_log 得到 log_alpha 和整体 log_likelihood；backward_pass_log 得到 log_beta；compute_expectations_log 把两边信息合起来，得到 log_gamma（以及本次文字输出未使用的 log_xi）。学生不用在本页重新推导前向后向算法，只需知道输入、调用顺序和最终会用 log_gamma。原文件中还在 forward 之后打印了一个名为 Viterbi 的中间结果；本页明确省略了这段诊断分支，并没有把它重写成另一个算法。</a:t>
            </a:r>
          </a:p>
          <a:p/>
          <a:p>
            <a:r>
              <a:t>SOURCE BASIS</a:t>
            </a:r>
          </a:p>
          <a:p>
            <a:r>
              <a:t>Uploaded ocr.py lines 208–217, excluding the intermediate viterbi_path and print lines 213–215. Original function names, arguments and numeric constants are retained; long calls are wrapped. Prefix/future/posterior descriptions follow the prior revised deck slides 10–11.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log_gamma 的每一行对应一个位置。np.argmax(..., axis=1) 给每个位置选出一个状态 ID；idxToAlpha 把 0–25 转成 a–z，26 转成空格；join 按顺序拼成完整字符串。最后 print(smooth_prediction) 是被评分的一行，所以不能在这行加 DNN raw 或 MLE 等标签。原文件另有一个带 MLE (smooth) 标签的诊断打印，本页只保留最终打印。下方仍使用作业已有例子：CNN 的 hoid fast to dreams 被解码为 hold fast to dreams。不是所有输入都会变好，老师明确说结果取决于 CNN 和 n-gram 质量。</a:t>
            </a:r>
          </a:p>
          <a:p/>
          <a:p>
            <a:r>
              <a:t>SOURCE BASIS</a:t>
            </a:r>
          </a:p>
          <a:p>
            <a:r>
              <a:t>Uploaded ocr.py lines 15–19, 219 and 223. The list comprehension is only line-wrapped; the diagnostic labeled print at 220 is omitted. Example strings come from Homework 2 p. 2, simple_test_4. Quality statement is from the instructor message in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中文讲解</a:t>
            </a:r>
          </a:p>
          <a:p>
            <a:r>
              <a:t>先把 EMNIST 的解压文件准备在 ./data/EMNIST/raw/，再按本页顺序执行。训练会生成 convnet_model.pyt 和 convnet_config.yaml；把配置复制为 config.yaml，把老师的 OCR 示例复制为 hw2.py，再加入自己的 book.txt 的 1-gram 统计，最后对 input.png 做识别。book.txt 和 input.png 是要换成实际输入文件的示例文件名。提交 hw2.py、config.yaml、模型权重及运行需要的辅助文件。支持文件的名字写在配置里。最后一行只能打印识别文字，不加调试标签。</a:t>
            </a:r>
          </a:p>
          <a:p/>
          <a:p>
            <a:r>
              <a:t>SOURCE BASIS</a:t>
            </a:r>
          </a:p>
          <a:p>
            <a:r>
              <a:t>Uploaded train_emnist.py argparse options and save paths; uploaded make_grammar.py positional arguments path/order/outconfig. ocr.py argparse --config and --image, and final print(smooth_prediction). Homework 2(1).pdf p. 1 Grading: hw2.py, config.yaml, supporting-file names inside YAML, image argument, final printed line graded. Instructor allows reuse of example solution. Commands illustrate the provided interfaces; no training was performed in preparing these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nchor="ctr">
            <a:no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8229600" y="265176"/>
            <a:ext cx="3410712" cy="219456"/>
          </a:xfrm>
          <a:prstGeom prst="rect">
            <a:avLst/>
          </a:prstGeom>
          <a:noFill/>
          <a:effectLst/>
        </p:spPr>
        <p:txBody>
          <a:bodyPr wrap="square" lIns="0" rIns="0" tIns="0" bIns="0" anchor="ctr">
            <a:noAutofit/>
          </a:bodyPr>
          <a:lstStyle/>
          <a:p>
            <a:pPr algn="r">
              <a:lnSpc>
                <a:spcPct val="112000"/>
              </a:lnSpc>
              <a:spcBef>
                <a:spcPts val="0"/>
              </a:spcBef>
              <a:spcAft>
                <a:spcPts val="0"/>
              </a:spcAft>
            </a:pPr>
            <a:r>
              <a:rPr sz="1100" b="1">
                <a:solidFill>
                  <a:srgbClr val="087F86"/>
                </a:solidFill>
                <a:latin typeface="Arial"/>
              </a:rPr>
              <a:t>PROVIDED MATERIALS</a:t>
            </a:r>
          </a:p>
        </p:txBody>
      </p:sp>
      <p:sp>
        <p:nvSpPr>
          <p:cNvPr id="5" name="TextBox 4"/>
          <p:cNvSpPr txBox="1"/>
          <p:nvPr/>
        </p:nvSpPr>
        <p:spPr>
          <a:xfrm>
            <a:off x="548640" y="786384"/>
            <a:ext cx="11082528" cy="576072"/>
          </a:xfrm>
          <a:prstGeom prst="rect">
            <a:avLst/>
          </a:prstGeom>
          <a:noFill/>
          <a:effectLst/>
        </p:spPr>
        <p:txBody>
          <a:bodyPr wrap="square" lIns="0" rIns="0" tIns="0" bIns="0" anchor="ctr">
            <a:noAutofit/>
          </a:bodyPr>
          <a:lstStyle/>
          <a:p>
            <a:pPr algn="l">
              <a:lnSpc>
                <a:spcPct val="112000"/>
              </a:lnSpc>
              <a:spcBef>
                <a:spcPts val="0"/>
              </a:spcBef>
              <a:spcAft>
                <a:spcPts val="0"/>
              </a:spcAft>
            </a:pPr>
            <a:r>
              <a:rPr sz="3000" b="1">
                <a:solidFill>
                  <a:srgbClr val="203142"/>
                </a:solidFill>
                <a:latin typeface="Arial"/>
              </a:rPr>
              <a:t>HW2: start from the provided code</a:t>
            </a:r>
          </a:p>
        </p:txBody>
      </p:sp>
      <p:sp>
        <p:nvSpPr>
          <p:cNvPr id="6" name="TextBox 5"/>
          <p:cNvSpPr txBox="1"/>
          <p:nvPr/>
        </p:nvSpPr>
        <p:spPr>
          <a:xfrm>
            <a:off x="566928" y="1444752"/>
            <a:ext cx="11045952" cy="457200"/>
          </a:xfrm>
          <a:prstGeom prst="rect">
            <a:avLst/>
          </a:prstGeom>
          <a:noFill/>
          <a:effectLst/>
        </p:spPr>
        <p:txBody>
          <a:bodyPr wrap="square" lIns="0" rIns="0" tIns="0" bIns="0" anchor="ctr">
            <a:noAutofit/>
          </a:bodyPr>
          <a:lstStyle/>
          <a:p>
            <a:pPr algn="l">
              <a:lnSpc>
                <a:spcPct val="112000"/>
              </a:lnSpc>
              <a:spcBef>
                <a:spcPts val="0"/>
              </a:spcBef>
              <a:spcAft>
                <a:spcPts val="0"/>
              </a:spcAft>
            </a:pPr>
            <a:r>
              <a:rPr sz="1750" b="0">
                <a:solidFill>
                  <a:srgbClr val="667583"/>
                </a:solidFill>
                <a:latin typeface="Arial"/>
              </a:rPr>
              <a:t>Prepare the CNN and character statistics, then follow ocr.py step by step.</a:t>
            </a:r>
          </a:p>
        </p:txBody>
      </p:sp>
      <p:cxnSp>
        <p:nvCxnSpPr>
          <p:cNvPr id="7" name="Connector 6"/>
          <p:cNvCxnSpPr/>
          <p:nvPr/>
        </p:nvCxnSpPr>
        <p:spPr>
          <a:xfrm>
            <a:off x="548640" y="6437376"/>
            <a:ext cx="11091672" cy="0"/>
          </a:xfrm>
          <a:prstGeom prst="line">
            <a:avLst/>
          </a:prstGeom>
          <a:ln w="10160">
            <a:solidFill>
              <a:srgbClr val="D8DFE7"/>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nchor="ctr">
            <a:no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nchor="ctr">
            <a:noAutofit/>
          </a:bodyPr>
          <a:lstStyle/>
          <a:p>
            <a:pPr algn="ctr">
              <a:lnSpc>
                <a:spcPct val="112000"/>
              </a:lnSpc>
              <a:spcBef>
                <a:spcPts val="0"/>
              </a:spcBef>
              <a:spcAft>
                <a:spcPts val="0"/>
              </a:spcAft>
            </a:pPr>
            <a:r>
              <a:rPr sz="880" b="0">
                <a:solidFill>
                  <a:srgbClr val="667583"/>
                </a:solidFill>
                <a:latin typeface="Arial"/>
              </a:rPr>
              <a:t>Instructor messages; Homework 2, pp. 1–2</a:t>
            </a:r>
          </a:p>
        </p:txBody>
      </p:sp>
      <p:sp>
        <p:nvSpPr>
          <p:cNvPr id="10" name="TextBox 9"/>
          <p:cNvSpPr txBox="1"/>
          <p:nvPr/>
        </p:nvSpPr>
        <p:spPr>
          <a:xfrm>
            <a:off x="10460736" y="6492240"/>
            <a:ext cx="1170432" cy="210312"/>
          </a:xfrm>
          <a:prstGeom prst="rect">
            <a:avLst/>
          </a:prstGeom>
          <a:noFill/>
          <a:effectLst/>
        </p:spPr>
        <p:txBody>
          <a:bodyPr wrap="square" lIns="0" rIns="0" tIns="0" bIns="0" anchor="ctr">
            <a:noAutofit/>
          </a:bodyPr>
          <a:lstStyle/>
          <a:p>
            <a:pPr algn="r">
              <a:lnSpc>
                <a:spcPct val="112000"/>
              </a:lnSpc>
              <a:spcBef>
                <a:spcPts val="0"/>
              </a:spcBef>
              <a:spcAft>
                <a:spcPts val="0"/>
              </a:spcAft>
            </a:pPr>
            <a:r>
              <a:rPr sz="1050" b="1">
                <a:solidFill>
                  <a:srgbClr val="667583"/>
                </a:solidFill>
                <a:latin typeface="Arial"/>
              </a:rPr>
              <a:t>01 / 09</a:t>
            </a:r>
          </a:p>
        </p:txBody>
      </p:sp>
      <p:sp>
        <p:nvSpPr>
          <p:cNvPr id="11" name="Rounded Rectangle 10"/>
          <p:cNvSpPr/>
          <p:nvPr/>
        </p:nvSpPr>
        <p:spPr>
          <a:xfrm>
            <a:off x="612648" y="2167128"/>
            <a:ext cx="5312664" cy="3054096"/>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6208776" y="2167128"/>
            <a:ext cx="5367528" cy="3054096"/>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59536" y="2423160"/>
            <a:ext cx="4389120" cy="265176"/>
          </a:xfrm>
          <a:prstGeom prst="rect">
            <a:avLst/>
          </a:prstGeom>
          <a:noFill/>
          <a:effectLst/>
        </p:spPr>
        <p:txBody>
          <a:bodyPr wrap="square" lIns="0" rIns="0" tIns="0" bIns="0" anchor="ctr">
            <a:noAutofit/>
          </a:bodyPr>
          <a:lstStyle/>
          <a:p>
            <a:pPr algn="l">
              <a:lnSpc>
                <a:spcPct val="112000"/>
              </a:lnSpc>
              <a:spcBef>
                <a:spcPts val="0"/>
              </a:spcBef>
              <a:spcAft>
                <a:spcPts val="0"/>
              </a:spcAft>
            </a:pPr>
            <a:r>
              <a:rPr sz="1250" b="1">
                <a:solidFill>
                  <a:srgbClr val="2D5BBB"/>
                </a:solidFill>
                <a:latin typeface="Arial"/>
              </a:rPr>
              <a:t>CLASS EXAMPLES</a:t>
            </a:r>
          </a:p>
        </p:txBody>
      </p:sp>
      <p:sp>
        <p:nvSpPr>
          <p:cNvPr id="14" name="TextBox 13"/>
          <p:cNvSpPr txBox="1"/>
          <p:nvPr/>
        </p:nvSpPr>
        <p:spPr>
          <a:xfrm>
            <a:off x="859536" y="2761488"/>
            <a:ext cx="4572000" cy="393192"/>
          </a:xfrm>
          <a:prstGeom prst="rect">
            <a:avLst/>
          </a:prstGeom>
          <a:noFill/>
          <a:effectLst/>
        </p:spPr>
        <p:txBody>
          <a:bodyPr wrap="square" lIns="0" rIns="0" tIns="0" bIns="0" anchor="ctr">
            <a:noAutofit/>
          </a:bodyPr>
          <a:lstStyle/>
          <a:p>
            <a:pPr algn="l">
              <a:lnSpc>
                <a:spcPct val="112000"/>
              </a:lnSpc>
              <a:spcBef>
                <a:spcPts val="0"/>
              </a:spcBef>
              <a:spcAft>
                <a:spcPts val="0"/>
              </a:spcAft>
            </a:pPr>
            <a:r>
              <a:rPr sz="2600" b="1">
                <a:solidFill>
                  <a:srgbClr val="16263D"/>
                </a:solidFill>
                <a:latin typeface="DejaVu Sans Mono"/>
              </a:rPr>
              <a:t>hw2_help.tgz</a:t>
            </a:r>
          </a:p>
        </p:txBody>
      </p:sp>
      <p:sp>
        <p:nvSpPr>
          <p:cNvPr id="15" name="TextBox 14"/>
          <p:cNvSpPr txBox="1"/>
          <p:nvPr/>
        </p:nvSpPr>
        <p:spPr>
          <a:xfrm>
            <a:off x="859536" y="3273552"/>
            <a:ext cx="4526280" cy="356616"/>
          </a:xfrm>
          <a:prstGeom prst="rect">
            <a:avLst/>
          </a:prstGeom>
          <a:noFill/>
          <a:effectLst/>
        </p:spPr>
        <p:txBody>
          <a:bodyPr wrap="square" lIns="0" rIns="0" tIns="0" bIns="0" anchor="ctr">
            <a:noAutofit/>
          </a:bodyPr>
          <a:lstStyle/>
          <a:p>
            <a:pPr algn="l">
              <a:lnSpc>
                <a:spcPct val="112000"/>
              </a:lnSpc>
              <a:spcBef>
                <a:spcPts val="0"/>
              </a:spcBef>
              <a:spcAft>
                <a:spcPts val="0"/>
              </a:spcAft>
            </a:pPr>
            <a:r>
              <a:rPr sz="2100" b="0">
                <a:solidFill>
                  <a:srgbClr val="203142"/>
                </a:solidFill>
                <a:latin typeface="Arial"/>
              </a:rPr>
              <a:t>You may reuse these files.</a:t>
            </a:r>
          </a:p>
        </p:txBody>
      </p:sp>
      <p:sp>
        <p:nvSpPr>
          <p:cNvPr id="16" name="TextBox 15"/>
          <p:cNvSpPr txBox="1"/>
          <p:nvPr/>
        </p:nvSpPr>
        <p:spPr>
          <a:xfrm>
            <a:off x="859536" y="3794760"/>
            <a:ext cx="4645152" cy="987552"/>
          </a:xfrm>
          <a:prstGeom prst="rect">
            <a:avLst/>
          </a:prstGeom>
          <a:noFill/>
          <a:effectLst/>
        </p:spPr>
        <p:txBody>
          <a:bodyPr wrap="square" lIns="0" rIns="0" tIns="0" bIns="0" anchor="ctr">
            <a:noAutofit/>
          </a:bodyPr>
          <a:lstStyle/>
          <a:p>
            <a:pPr algn="l">
              <a:lnSpc>
                <a:spcPct val="143000"/>
              </a:lnSpc>
              <a:spcBef>
                <a:spcPts val="0"/>
              </a:spcBef>
              <a:spcAft>
                <a:spcPts val="0"/>
              </a:spcAft>
            </a:pPr>
            <a:r>
              <a:rPr sz="1639" b="0">
                <a:solidFill>
                  <a:srgbClr val="203142"/>
                </a:solidFill>
                <a:latin typeface="DejaVu Sans Mono"/>
              </a:rPr>
              <a:t>train_emnist.py + example_models.py</a:t>
            </a:r>
          </a:p>
          <a:p>
            <a:pPr algn="l">
              <a:lnSpc>
                <a:spcPct val="143000"/>
              </a:lnSpc>
              <a:spcBef>
                <a:spcPts val="0"/>
              </a:spcBef>
              <a:spcAft>
                <a:spcPts val="0"/>
              </a:spcAft>
            </a:pPr>
            <a:r>
              <a:rPr sz="1639" b="0">
                <a:solidFill>
                  <a:srgbClr val="203142"/>
                </a:solidFill>
                <a:latin typeface="DejaVu Sans Mono"/>
              </a:rPr>
              <a:t>make_grammar.py</a:t>
            </a:r>
          </a:p>
          <a:p>
            <a:pPr algn="l">
              <a:lnSpc>
                <a:spcPct val="143000"/>
              </a:lnSpc>
              <a:spcBef>
                <a:spcPts val="0"/>
              </a:spcBef>
              <a:spcAft>
                <a:spcPts val="0"/>
              </a:spcAft>
            </a:pPr>
            <a:r>
              <a:rPr sz="1639" b="0">
                <a:solidFill>
                  <a:srgbClr val="203142"/>
                </a:solidFill>
                <a:latin typeface="DejaVu Sans Mono"/>
              </a:rPr>
              <a:t>updated_hmm.py</a:t>
            </a:r>
          </a:p>
        </p:txBody>
      </p:sp>
      <p:sp>
        <p:nvSpPr>
          <p:cNvPr id="17" name="TextBox 16"/>
          <p:cNvSpPr txBox="1"/>
          <p:nvPr/>
        </p:nvSpPr>
        <p:spPr>
          <a:xfrm>
            <a:off x="6473952" y="2423160"/>
            <a:ext cx="4480560" cy="265176"/>
          </a:xfrm>
          <a:prstGeom prst="rect">
            <a:avLst/>
          </a:prstGeom>
          <a:noFill/>
          <a:effectLst/>
        </p:spPr>
        <p:txBody>
          <a:bodyPr wrap="square" lIns="0" rIns="0" tIns="0" bIns="0" anchor="ctr">
            <a:noAutofit/>
          </a:bodyPr>
          <a:lstStyle/>
          <a:p>
            <a:pPr algn="l">
              <a:lnSpc>
                <a:spcPct val="112000"/>
              </a:lnSpc>
              <a:spcBef>
                <a:spcPts val="0"/>
              </a:spcBef>
              <a:spcAft>
                <a:spcPts val="0"/>
              </a:spcAft>
            </a:pPr>
            <a:r>
              <a:rPr sz="1250" b="1">
                <a:solidFill>
                  <a:srgbClr val="087F86"/>
                </a:solidFill>
                <a:latin typeface="Arial"/>
              </a:rPr>
              <a:t>EXAMPLE SOLUTION</a:t>
            </a:r>
          </a:p>
        </p:txBody>
      </p:sp>
      <p:sp>
        <p:nvSpPr>
          <p:cNvPr id="18" name="TextBox 17"/>
          <p:cNvSpPr txBox="1"/>
          <p:nvPr/>
        </p:nvSpPr>
        <p:spPr>
          <a:xfrm>
            <a:off x="6473952" y="2761488"/>
            <a:ext cx="4572000" cy="393192"/>
          </a:xfrm>
          <a:prstGeom prst="rect">
            <a:avLst/>
          </a:prstGeom>
          <a:noFill/>
          <a:effectLst/>
        </p:spPr>
        <p:txBody>
          <a:bodyPr wrap="square" lIns="0" rIns="0" tIns="0" bIns="0" anchor="ctr">
            <a:noAutofit/>
          </a:bodyPr>
          <a:lstStyle/>
          <a:p>
            <a:pPr algn="l">
              <a:lnSpc>
                <a:spcPct val="112000"/>
              </a:lnSpc>
              <a:spcBef>
                <a:spcPts val="0"/>
              </a:spcBef>
              <a:spcAft>
                <a:spcPts val="0"/>
              </a:spcAft>
            </a:pPr>
            <a:r>
              <a:rPr sz="2600" b="1">
                <a:solidFill>
                  <a:srgbClr val="16263D"/>
                </a:solidFill>
                <a:latin typeface="DejaVu Sans Mono"/>
              </a:rPr>
              <a:t>ocr.py</a:t>
            </a:r>
          </a:p>
        </p:txBody>
      </p:sp>
      <p:sp>
        <p:nvSpPr>
          <p:cNvPr id="19" name="TextBox 18"/>
          <p:cNvSpPr txBox="1"/>
          <p:nvPr/>
        </p:nvSpPr>
        <p:spPr>
          <a:xfrm>
            <a:off x="6473952" y="3419856"/>
            <a:ext cx="4590288" cy="1243584"/>
          </a:xfrm>
          <a:prstGeom prst="rect">
            <a:avLst/>
          </a:prstGeom>
          <a:noFill/>
          <a:effectLst/>
        </p:spPr>
        <p:txBody>
          <a:bodyPr wrap="square" lIns="0" rIns="0" tIns="0" bIns="0" anchor="ctr">
            <a:noAutofit/>
          </a:bodyPr>
          <a:lstStyle/>
          <a:p>
            <a:pPr algn="l">
              <a:lnSpc>
                <a:spcPct val="125000"/>
              </a:lnSpc>
              <a:spcBef>
                <a:spcPts val="0"/>
              </a:spcBef>
              <a:spcAft>
                <a:spcPts val="0"/>
              </a:spcAft>
            </a:pPr>
            <a:r>
              <a:rPr sz="2300" b="0">
                <a:solidFill>
                  <a:srgbClr val="203142"/>
                </a:solidFill>
                <a:latin typeface="Arial"/>
              </a:rPr>
              <a:t>Uses your trained model</a:t>
            </a:r>
          </a:p>
          <a:p>
            <a:pPr algn="l">
              <a:lnSpc>
                <a:spcPct val="125000"/>
              </a:lnSpc>
              <a:spcBef>
                <a:spcPts val="0"/>
              </a:spcBef>
              <a:spcAft>
                <a:spcPts val="0"/>
              </a:spcAft>
            </a:pPr>
            <a:r>
              <a:rPr sz="2300" b="0">
                <a:solidFill>
                  <a:srgbClr val="203142"/>
                </a:solidFill>
                <a:latin typeface="Arial"/>
              </a:rPr>
              <a:t>and your n-gram statistics</a:t>
            </a:r>
          </a:p>
          <a:p>
            <a:pPr algn="l">
              <a:lnSpc>
                <a:spcPct val="125000"/>
              </a:lnSpc>
              <a:spcBef>
                <a:spcPts val="0"/>
              </a:spcBef>
              <a:spcAft>
                <a:spcPts val="0"/>
              </a:spcAft>
            </a:pPr>
            <a:r>
              <a:rPr sz="2300" b="0">
                <a:solidFill>
                  <a:srgbClr val="203142"/>
                </a:solidFill>
                <a:latin typeface="Arial"/>
              </a:rPr>
              <a:t>to recognize the text.</a:t>
            </a:r>
          </a:p>
        </p:txBody>
      </p:sp>
      <p:sp>
        <p:nvSpPr>
          <p:cNvPr id="20" name="Rounded Rectangle 19"/>
          <p:cNvSpPr/>
          <p:nvPr/>
        </p:nvSpPr>
        <p:spPr>
          <a:xfrm>
            <a:off x="612648" y="5550408"/>
            <a:ext cx="10963656" cy="594360"/>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77824" y="5632704"/>
            <a:ext cx="10415016" cy="374904"/>
          </a:xfrm>
          <a:prstGeom prst="rect">
            <a:avLst/>
          </a:prstGeom>
          <a:noFill/>
          <a:effectLst/>
        </p:spPr>
        <p:txBody>
          <a:bodyPr wrap="square" lIns="0" rIns="0" tIns="0" bIns="0" anchor="ctr">
            <a:noAutofit/>
          </a:bodyPr>
          <a:lstStyle/>
          <a:p>
            <a:pPr algn="ctr">
              <a:lnSpc>
                <a:spcPct val="112000"/>
              </a:lnSpc>
              <a:spcBef>
                <a:spcPts val="0"/>
              </a:spcBef>
              <a:spcAft>
                <a:spcPts val="0"/>
              </a:spcAft>
            </a:pPr>
            <a:r>
              <a:rPr sz="2300" b="1">
                <a:solidFill>
                  <a:srgbClr val="2D5BBB"/>
                </a:solidFill>
                <a:latin typeface="Arial"/>
              </a:rPr>
              <a:t>Train the CNN  →  Build the grammar  →  Run OCR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1 · LOAD</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Load the configuration and the trained CNN</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ocr.py loads your saved classifier; training happens in train_emnist.py.</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141–158; ConvNet branch shown</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02 / 09</a:t>
            </a:r>
          </a:p>
        </p:txBody>
      </p:sp>
      <p:sp>
        <p:nvSpPr>
          <p:cNvPr id="11" name="Rounded Rectangle 10"/>
          <p:cNvSpPr/>
          <p:nvPr/>
        </p:nvSpPr>
        <p:spPr>
          <a:xfrm>
            <a:off x="640080" y="2084831"/>
            <a:ext cx="7498079" cy="3749039"/>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231136"/>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MAIN BLOCK · CONVNET EXCERPT</a:t>
            </a:r>
          </a:p>
        </p:txBody>
      </p:sp>
      <p:sp>
        <p:nvSpPr>
          <p:cNvPr id="13" name="TextBox 12"/>
          <p:cNvSpPr txBox="1"/>
          <p:nvPr/>
        </p:nvSpPr>
        <p:spPr>
          <a:xfrm>
            <a:off x="859536" y="2624327"/>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D5BBB"/>
                </a:solidFill>
                <a:latin typeface="DejaVu Sans Mono"/>
              </a:rPr>
              <a:t>with</a:t>
            </a:r>
            <a:r>
              <a:rPr sz="1800">
                <a:solidFill>
                  <a:srgbClr val="203142"/>
                </a:solidFill>
                <a:latin typeface="DejaVu Sans Mono"/>
              </a:rPr>
              <a:t> open(f"{args.config}", </a:t>
            </a:r>
            <a:r>
              <a:rPr sz="1800">
                <a:solidFill>
                  <a:srgbClr val="177065"/>
                </a:solidFill>
                <a:latin typeface="DejaVu Sans Mono"/>
              </a:rPr>
              <a:t>'r'</a:t>
            </a:r>
            <a:r>
              <a:rPr sz="1800">
                <a:solidFill>
                  <a:srgbClr val="203142"/>
                </a:solidFill>
                <a:latin typeface="DejaVu Sans Mono"/>
              </a:rPr>
              <a:t>) </a:t>
            </a:r>
            <a:r>
              <a:rPr sz="1800">
                <a:solidFill>
                  <a:srgbClr val="2D5BBB"/>
                </a:solidFill>
                <a:latin typeface="DejaVu Sans Mono"/>
              </a:rPr>
              <a:t>as</a:t>
            </a:r>
            <a:r>
              <a:rPr sz="1800">
                <a:solidFill>
                  <a:srgbClr val="203142"/>
                </a:solidFill>
                <a:latin typeface="DejaVu Sans Mono"/>
              </a:rPr>
              <a:t> infile:</a:t>
            </a:r>
          </a:p>
        </p:txBody>
      </p:sp>
      <p:sp>
        <p:nvSpPr>
          <p:cNvPr id="14" name="TextBox 13"/>
          <p:cNvSpPr txBox="1"/>
          <p:nvPr/>
        </p:nvSpPr>
        <p:spPr>
          <a:xfrm>
            <a:off x="859536" y="2903220"/>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config = yaml.safe_load(infile)</a:t>
            </a:r>
          </a:p>
        </p:txBody>
      </p:sp>
      <p:sp>
        <p:nvSpPr>
          <p:cNvPr id="15" name="TextBox 14"/>
          <p:cNvSpPr txBox="1"/>
          <p:nvPr/>
        </p:nvSpPr>
        <p:spPr>
          <a:xfrm>
            <a:off x="859536" y="3182111"/>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version = config[</a:t>
            </a:r>
            <a:r>
              <a:rPr sz="1800">
                <a:solidFill>
                  <a:srgbClr val="177065"/>
                </a:solidFill>
                <a:latin typeface="DejaVu Sans Mono"/>
              </a:rPr>
              <a:t>'model_version'</a:t>
            </a:r>
            <a:r>
              <a:rPr sz="1800">
                <a:solidFill>
                  <a:srgbClr val="203142"/>
                </a:solidFill>
                <a:latin typeface="DejaVu Sans Mono"/>
              </a:rPr>
              <a:t>]</a:t>
            </a:r>
          </a:p>
        </p:txBody>
      </p:sp>
      <p:sp>
        <p:nvSpPr>
          <p:cNvPr id="16" name="TextBox 15"/>
          <p:cNvSpPr txBox="1"/>
          <p:nvPr/>
        </p:nvSpPr>
        <p:spPr>
          <a:xfrm>
            <a:off x="859536" y="3461003"/>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a:r>
          </a:p>
        </p:txBody>
      </p:sp>
      <p:sp>
        <p:nvSpPr>
          <p:cNvPr id="17" name="TextBox 16"/>
          <p:cNvSpPr txBox="1"/>
          <p:nvPr/>
        </p:nvSpPr>
        <p:spPr>
          <a:xfrm>
            <a:off x="859536" y="3739896"/>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D5BBB"/>
                </a:solidFill>
                <a:latin typeface="DejaVu Sans Mono"/>
              </a:rPr>
              <a:t>if</a:t>
            </a:r>
            <a:r>
              <a:rPr sz="1800">
                <a:solidFill>
                  <a:srgbClr val="203142"/>
                </a:solidFill>
                <a:latin typeface="DejaVu Sans Mono"/>
              </a:rPr>
              <a:t> version == </a:t>
            </a:r>
            <a:r>
              <a:rPr sz="1800">
                <a:solidFill>
                  <a:srgbClr val="177065"/>
                </a:solidFill>
                <a:latin typeface="DejaVu Sans Mono"/>
              </a:rPr>
              <a:t>'convnet'</a:t>
            </a:r>
            <a:r>
              <a:rPr sz="1800">
                <a:solidFill>
                  <a:srgbClr val="203142"/>
                </a:solidFill>
                <a:latin typeface="DejaVu Sans Mono"/>
              </a:rPr>
              <a:t>:</a:t>
            </a:r>
          </a:p>
        </p:txBody>
      </p:sp>
      <p:sp>
        <p:nvSpPr>
          <p:cNvPr id="18" name="TextBox 17"/>
          <p:cNvSpPr txBox="1"/>
          <p:nvPr/>
        </p:nvSpPr>
        <p:spPr>
          <a:xfrm>
            <a:off x="859536" y="4018787"/>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model = example_models.ConvNet(classes=</a:t>
            </a:r>
            <a:r>
              <a:rPr sz="1800">
                <a:solidFill>
                  <a:srgbClr val="926034"/>
                </a:solidFill>
                <a:latin typeface="DejaVu Sans Mono"/>
              </a:rPr>
              <a:t>26</a:t>
            </a:r>
            <a:r>
              <a:rPr sz="1800">
                <a:solidFill>
                  <a:srgbClr val="203142"/>
                </a:solidFill>
                <a:latin typeface="DejaVu Sans Mono"/>
              </a:rPr>
              <a:t>)</a:t>
            </a:r>
          </a:p>
        </p:txBody>
      </p:sp>
      <p:sp>
        <p:nvSpPr>
          <p:cNvPr id="19" name="TextBox 18"/>
          <p:cNvSpPr txBox="1"/>
          <p:nvPr/>
        </p:nvSpPr>
        <p:spPr>
          <a:xfrm>
            <a:off x="859536" y="4297679"/>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a:r>
          </a:p>
        </p:txBody>
      </p:sp>
      <p:sp>
        <p:nvSpPr>
          <p:cNvPr id="20" name="TextBox 19"/>
          <p:cNvSpPr txBox="1"/>
          <p:nvPr/>
        </p:nvSpPr>
        <p:spPr>
          <a:xfrm>
            <a:off x="859536" y="4576571"/>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model.load_state_dict(torch.load(</a:t>
            </a:r>
          </a:p>
        </p:txBody>
      </p:sp>
      <p:sp>
        <p:nvSpPr>
          <p:cNvPr id="21" name="TextBox 20"/>
          <p:cNvSpPr txBox="1"/>
          <p:nvPr/>
        </p:nvSpPr>
        <p:spPr>
          <a:xfrm>
            <a:off x="859536" y="4855464"/>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config[</a:t>
            </a:r>
            <a:r>
              <a:rPr sz="1800">
                <a:solidFill>
                  <a:srgbClr val="177065"/>
                </a:solidFill>
                <a:latin typeface="DejaVu Sans Mono"/>
              </a:rPr>
              <a:t>'model'</a:t>
            </a:r>
            <a:r>
              <a:rPr sz="1800">
                <a:solidFill>
                  <a:srgbClr val="203142"/>
                </a:solidFill>
                <a:latin typeface="DejaVu Sans Mono"/>
              </a:rPr>
              <a:t>], weights_only=</a:t>
            </a:r>
            <a:r>
              <a:rPr sz="1800">
                <a:solidFill>
                  <a:srgbClr val="2D5BBB"/>
                </a:solidFill>
                <a:latin typeface="DejaVu Sans Mono"/>
              </a:rPr>
              <a:t>True</a:t>
            </a:r>
            <a:r>
              <a:rPr sz="1800">
                <a:solidFill>
                  <a:srgbClr val="203142"/>
                </a:solidFill>
                <a:latin typeface="DejaVu Sans Mono"/>
              </a:rPr>
              <a:t>,</a:t>
            </a:r>
          </a:p>
        </p:txBody>
      </p:sp>
      <p:sp>
        <p:nvSpPr>
          <p:cNvPr id="22" name="TextBox 21"/>
          <p:cNvSpPr txBox="1"/>
          <p:nvPr/>
        </p:nvSpPr>
        <p:spPr>
          <a:xfrm>
            <a:off x="859536" y="5134356"/>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map_location=device))</a:t>
            </a:r>
          </a:p>
        </p:txBody>
      </p:sp>
      <p:sp>
        <p:nvSpPr>
          <p:cNvPr id="23" name="TextBox 22"/>
          <p:cNvSpPr txBox="1"/>
          <p:nvPr/>
        </p:nvSpPr>
        <p:spPr>
          <a:xfrm>
            <a:off x="859536" y="5413248"/>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model.to(device)</a:t>
            </a:r>
          </a:p>
        </p:txBody>
      </p:sp>
      <p:sp>
        <p:nvSpPr>
          <p:cNvPr id="24" name="TextBox 23"/>
          <p:cNvSpPr txBox="1"/>
          <p:nvPr/>
        </p:nvSpPr>
        <p:spPr>
          <a:xfrm>
            <a:off x="8430768" y="2304288"/>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READ THE YAML</a:t>
            </a:r>
          </a:p>
        </p:txBody>
      </p:sp>
      <p:sp>
        <p:nvSpPr>
          <p:cNvPr id="25" name="TextBox 24"/>
          <p:cNvSpPr txBox="1"/>
          <p:nvPr/>
        </p:nvSpPr>
        <p:spPr>
          <a:xfrm>
            <a:off x="8430768" y="2606040"/>
            <a:ext cx="3063240" cy="941832"/>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--config selects the file.</a:t>
            </a:r>
          </a:p>
          <a:p>
            <a:pPr algn="l">
              <a:lnSpc>
                <a:spcPct val="112000"/>
              </a:lnSpc>
              <a:spcBef>
                <a:spcPts val="0"/>
              </a:spcBef>
              <a:spcAft>
                <a:spcPts val="0"/>
              </a:spcAft>
            </a:pPr>
            <a:r>
              <a:rPr sz="1820" b="0">
                <a:solidFill>
                  <a:srgbClr val="203142"/>
                </a:solidFill>
                <a:latin typeface="Arial"/>
              </a:rPr>
              <a:t>The YAML carries saved model information.</a:t>
            </a:r>
          </a:p>
        </p:txBody>
      </p:sp>
      <p:sp>
        <p:nvSpPr>
          <p:cNvPr id="26" name="TextBox 25"/>
          <p:cNvSpPr txBox="1"/>
          <p:nvPr/>
        </p:nvSpPr>
        <p:spPr>
          <a:xfrm>
            <a:off x="8430768" y="3730752"/>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BUILD + RESTORE</a:t>
            </a:r>
          </a:p>
        </p:txBody>
      </p:sp>
      <p:sp>
        <p:nvSpPr>
          <p:cNvPr id="27" name="TextBox 26"/>
          <p:cNvSpPr txBox="1"/>
          <p:nvPr/>
        </p:nvSpPr>
        <p:spPr>
          <a:xfrm>
            <a:off x="8430768" y="4032504"/>
            <a:ext cx="3063240" cy="1280160"/>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model_version selects the architecture; model names the weights file.</a:t>
            </a:r>
          </a:p>
        </p:txBody>
      </p:sp>
      <p:sp>
        <p:nvSpPr>
          <p:cNvPr id="28" name="Rounded Rectangle 27"/>
          <p:cNvSpPr/>
          <p:nvPr/>
        </p:nvSpPr>
        <p:spPr>
          <a:xfrm>
            <a:off x="640080" y="5943600"/>
            <a:ext cx="10908792" cy="338328"/>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50392" y="5986881"/>
            <a:ext cx="10488167" cy="301752"/>
          </a:xfrm>
          <a:prstGeom prst="rect">
            <a:avLst/>
          </a:prstGeom>
          <a:noFill/>
          <a:effectLst/>
        </p:spPr>
        <p:txBody>
          <a:bodyPr wrap="square" lIns="0" rIns="0" tIns="0" bIns="0">
            <a:spAutoFit/>
          </a:bodyPr>
          <a:lstStyle/>
          <a:p>
            <a:pPr algn="l">
              <a:lnSpc>
                <a:spcPct val="112000"/>
              </a:lnSpc>
              <a:spcBef>
                <a:spcPts val="0"/>
              </a:spcBef>
              <a:spcAft>
                <a:spcPts val="0"/>
              </a:spcAft>
            </a:pPr>
            <a:r>
              <a:rPr sz="1680" b="0">
                <a:solidFill>
                  <a:srgbClr val="203142"/>
                </a:solidFill>
                <a:latin typeface="Arial"/>
              </a:rPr>
              <a:t>Output: a loaded 26-letter classifier on the selected device.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2 · EMISSIONS</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Build B from the stored confusion matrix</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B describes how a true character can become a CNN observation.</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28–37, 164–165; prior deck: B example</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03 / 09</a:t>
            </a:r>
          </a:p>
        </p:txBody>
      </p:sp>
      <p:sp>
        <p:nvSpPr>
          <p:cNvPr id="11" name="Rounded Rectangle 10"/>
          <p:cNvSpPr/>
          <p:nvPr/>
        </p:nvSpPr>
        <p:spPr>
          <a:xfrm>
            <a:off x="640080" y="2084831"/>
            <a:ext cx="7498079" cy="1271016"/>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231136"/>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MAIN BLOCK</a:t>
            </a:r>
          </a:p>
        </p:txBody>
      </p:sp>
      <p:sp>
        <p:nvSpPr>
          <p:cNvPr id="13" name="TextBox 12"/>
          <p:cNvSpPr txBox="1"/>
          <p:nvPr/>
        </p:nvSpPr>
        <p:spPr>
          <a:xfrm>
            <a:off x="859536" y="2624327"/>
            <a:ext cx="7059167" cy="349250"/>
          </a:xfrm>
          <a:prstGeom prst="rect">
            <a:avLst/>
          </a:prstGeom>
          <a:noFill/>
          <a:effectLst/>
        </p:spPr>
        <p:txBody>
          <a:bodyPr wrap="none" lIns="0" rIns="0" tIns="0" bIns="0">
            <a:spAutoFit/>
          </a:bodyPr>
          <a:lstStyle/>
          <a:p>
            <a:pPr>
              <a:lnSpc>
                <a:spcPct val="100000"/>
              </a:lnSpc>
              <a:spcBef>
                <a:spcPts val="0"/>
              </a:spcBef>
              <a:spcAft>
                <a:spcPts val="0"/>
              </a:spcAft>
            </a:pPr>
            <a:r>
              <a:rPr sz="1900">
                <a:solidFill>
                  <a:srgbClr val="203142"/>
                </a:solidFill>
                <a:latin typeface="DejaVu Sans Mono"/>
              </a:rPr>
              <a:t>confusion = config[</a:t>
            </a:r>
            <a:r>
              <a:rPr sz="1900">
                <a:solidFill>
                  <a:srgbClr val="177065"/>
                </a:solidFill>
                <a:latin typeface="DejaVu Sans Mono"/>
              </a:rPr>
              <a:t>'confusion'</a:t>
            </a:r>
            <a:r>
              <a:rPr sz="1900">
                <a:solidFill>
                  <a:srgbClr val="203142"/>
                </a:solidFill>
                <a:latin typeface="DejaVu Sans Mono"/>
              </a:rPr>
              <a:t>]</a:t>
            </a:r>
          </a:p>
        </p:txBody>
      </p:sp>
      <p:sp>
        <p:nvSpPr>
          <p:cNvPr id="14" name="TextBox 13"/>
          <p:cNvSpPr txBox="1"/>
          <p:nvPr/>
        </p:nvSpPr>
        <p:spPr>
          <a:xfrm>
            <a:off x="859536" y="2918714"/>
            <a:ext cx="7059167" cy="349250"/>
          </a:xfrm>
          <a:prstGeom prst="rect">
            <a:avLst/>
          </a:prstGeom>
          <a:noFill/>
          <a:effectLst/>
        </p:spPr>
        <p:txBody>
          <a:bodyPr wrap="none" lIns="0" rIns="0" tIns="0" bIns="0">
            <a:spAutoFit/>
          </a:bodyPr>
          <a:lstStyle/>
          <a:p>
            <a:pPr>
              <a:lnSpc>
                <a:spcPct val="100000"/>
              </a:lnSpc>
              <a:spcBef>
                <a:spcPts val="0"/>
              </a:spcBef>
              <a:spcAft>
                <a:spcPts val="0"/>
              </a:spcAft>
            </a:pPr>
            <a:r>
              <a:rPr sz="1900">
                <a:solidFill>
                  <a:srgbClr val="203142"/>
                </a:solidFill>
                <a:latin typeface="DejaVu Sans Mono"/>
              </a:rPr>
              <a:t>B = makeBFromConfusion(confusion)</a:t>
            </a:r>
          </a:p>
        </p:txBody>
      </p:sp>
      <p:sp>
        <p:nvSpPr>
          <p:cNvPr id="15" name="Rounded Rectangle 14"/>
          <p:cNvSpPr/>
          <p:nvPr/>
        </p:nvSpPr>
        <p:spPr>
          <a:xfrm>
            <a:off x="640080" y="3575304"/>
            <a:ext cx="7498079" cy="1993392"/>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0392" y="3721608"/>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INSIDE MAKEBFROMCONFUSION · EXCERPT</a:t>
            </a:r>
          </a:p>
        </p:txBody>
      </p:sp>
      <p:sp>
        <p:nvSpPr>
          <p:cNvPr id="17" name="TextBox 16"/>
          <p:cNvSpPr txBox="1"/>
          <p:nvPr/>
        </p:nvSpPr>
        <p:spPr>
          <a:xfrm>
            <a:off x="859536" y="4114800"/>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B = np.zeros((</a:t>
            </a:r>
            <a:r>
              <a:rPr sz="2000">
                <a:solidFill>
                  <a:srgbClr val="926034"/>
                </a:solidFill>
                <a:latin typeface="DejaVu Sans Mono"/>
              </a:rPr>
              <a:t>27</a:t>
            </a:r>
            <a:r>
              <a:rPr sz="2000">
                <a:solidFill>
                  <a:srgbClr val="203142"/>
                </a:solidFill>
                <a:latin typeface="DejaVu Sans Mono"/>
              </a:rPr>
              <a:t>, </a:t>
            </a:r>
            <a:r>
              <a:rPr sz="2000">
                <a:solidFill>
                  <a:srgbClr val="926034"/>
                </a:solidFill>
                <a:latin typeface="DejaVu Sans Mono"/>
              </a:rPr>
              <a:t>27</a:t>
            </a:r>
            <a:r>
              <a:rPr sz="2000">
                <a:solidFill>
                  <a:srgbClr val="203142"/>
                </a:solidFill>
                <a:latin typeface="DejaVu Sans Mono"/>
              </a:rPr>
              <a:t>))</a:t>
            </a:r>
          </a:p>
        </p:txBody>
      </p:sp>
      <p:sp>
        <p:nvSpPr>
          <p:cNvPr id="18" name="TextBox 17"/>
          <p:cNvSpPr txBox="1"/>
          <p:nvPr/>
        </p:nvSpPr>
        <p:spPr>
          <a:xfrm>
            <a:off x="859536" y="4424680"/>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B[:</a:t>
            </a:r>
            <a:r>
              <a:rPr sz="2000">
                <a:solidFill>
                  <a:srgbClr val="926034"/>
                </a:solidFill>
                <a:latin typeface="DejaVu Sans Mono"/>
              </a:rPr>
              <a:t>26</a:t>
            </a:r>
            <a:r>
              <a:rPr sz="2000">
                <a:solidFill>
                  <a:srgbClr val="203142"/>
                </a:solidFill>
                <a:latin typeface="DejaVu Sans Mono"/>
              </a:rPr>
              <a:t>,:</a:t>
            </a:r>
            <a:r>
              <a:rPr sz="2000">
                <a:solidFill>
                  <a:srgbClr val="926034"/>
                </a:solidFill>
                <a:latin typeface="DejaVu Sans Mono"/>
              </a:rPr>
              <a:t>26</a:t>
            </a:r>
            <a:r>
              <a:rPr sz="2000">
                <a:solidFill>
                  <a:srgbClr val="203142"/>
                </a:solidFill>
                <a:latin typeface="DejaVu Sans Mono"/>
              </a:rPr>
              <a:t>] = np.array(confusion).T</a:t>
            </a:r>
          </a:p>
        </p:txBody>
      </p:sp>
      <p:sp>
        <p:nvSpPr>
          <p:cNvPr id="19" name="TextBox 18"/>
          <p:cNvSpPr txBox="1"/>
          <p:nvPr/>
        </p:nvSpPr>
        <p:spPr>
          <a:xfrm>
            <a:off x="859536" y="4734560"/>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B[</a:t>
            </a:r>
            <a:r>
              <a:rPr sz="2000">
                <a:solidFill>
                  <a:srgbClr val="926034"/>
                </a:solidFill>
                <a:latin typeface="DejaVu Sans Mono"/>
              </a:rPr>
              <a:t>26</a:t>
            </a:r>
            <a:r>
              <a:rPr sz="2000">
                <a:solidFill>
                  <a:srgbClr val="203142"/>
                </a:solidFill>
                <a:latin typeface="DejaVu Sans Mono"/>
              </a:rPr>
              <a:t>,</a:t>
            </a:r>
            <a:r>
              <a:rPr sz="2000">
                <a:solidFill>
                  <a:srgbClr val="926034"/>
                </a:solidFill>
                <a:latin typeface="DejaVu Sans Mono"/>
              </a:rPr>
              <a:t>26</a:t>
            </a:r>
            <a:r>
              <a:rPr sz="2000">
                <a:solidFill>
                  <a:srgbClr val="203142"/>
                </a:solidFill>
                <a:latin typeface="DejaVu Sans Mono"/>
              </a:rPr>
              <a:t>] = </a:t>
            </a:r>
            <a:r>
              <a:rPr sz="2000">
                <a:solidFill>
                  <a:srgbClr val="926034"/>
                </a:solidFill>
                <a:latin typeface="DejaVu Sans Mono"/>
              </a:rPr>
              <a:t>1.0</a:t>
            </a:r>
          </a:p>
        </p:txBody>
      </p:sp>
      <p:sp>
        <p:nvSpPr>
          <p:cNvPr id="20" name="TextBox 19"/>
          <p:cNvSpPr txBox="1"/>
          <p:nvPr/>
        </p:nvSpPr>
        <p:spPr>
          <a:xfrm>
            <a:off x="859536" y="5044440"/>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D5BBB"/>
                </a:solidFill>
                <a:latin typeface="DejaVu Sans Mono"/>
              </a:rPr>
              <a:t>return</a:t>
            </a:r>
            <a:r>
              <a:rPr sz="2000">
                <a:solidFill>
                  <a:srgbClr val="203142"/>
                </a:solidFill>
                <a:latin typeface="DejaVu Sans Mono"/>
              </a:rPr>
              <a:t> B</a:t>
            </a:r>
          </a:p>
        </p:txBody>
      </p:sp>
      <p:sp>
        <p:nvSpPr>
          <p:cNvPr id="21" name="TextBox 20"/>
          <p:cNvSpPr txBox="1"/>
          <p:nvPr/>
        </p:nvSpPr>
        <p:spPr>
          <a:xfrm>
            <a:off x="8430768" y="2331720"/>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27 × 27 ARRAY</a:t>
            </a:r>
          </a:p>
        </p:txBody>
      </p:sp>
      <p:sp>
        <p:nvSpPr>
          <p:cNvPr id="22" name="TextBox 21"/>
          <p:cNvSpPr txBox="1"/>
          <p:nvPr/>
        </p:nvSpPr>
        <p:spPr>
          <a:xfrm>
            <a:off x="8430768" y="2633472"/>
            <a:ext cx="3063240" cy="813816"/>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26 letter labels plus</a:t>
            </a:r>
          </a:p>
          <a:p>
            <a:pPr algn="l">
              <a:lnSpc>
                <a:spcPct val="112000"/>
              </a:lnSpc>
              <a:spcBef>
                <a:spcPts val="0"/>
              </a:spcBef>
              <a:spcAft>
                <a:spcPts val="0"/>
              </a:spcAft>
            </a:pPr>
            <a:r>
              <a:rPr sz="1820" b="0">
                <a:solidFill>
                  <a:srgbClr val="203142"/>
                </a:solidFill>
                <a:latin typeface="Arial"/>
              </a:rPr>
              <a:t>one space label.</a:t>
            </a:r>
          </a:p>
        </p:txBody>
      </p:sp>
      <p:sp>
        <p:nvSpPr>
          <p:cNvPr id="23" name="TextBox 22"/>
          <p:cNvSpPr txBox="1"/>
          <p:nvPr/>
        </p:nvSpPr>
        <p:spPr>
          <a:xfrm>
            <a:off x="8430768" y="3474720"/>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THE .T OPERATION</a:t>
            </a:r>
          </a:p>
        </p:txBody>
      </p:sp>
      <p:sp>
        <p:nvSpPr>
          <p:cNvPr id="24" name="TextBox 23"/>
          <p:cNvSpPr txBox="1"/>
          <p:nvPr/>
        </p:nvSpPr>
        <p:spPr>
          <a:xfrm>
            <a:off x="8430768" y="3776472"/>
            <a:ext cx="3063240" cy="932688"/>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The example transposes</a:t>
            </a:r>
          </a:p>
          <a:p>
            <a:pPr algn="l">
              <a:lnSpc>
                <a:spcPct val="112000"/>
              </a:lnSpc>
              <a:spcBef>
                <a:spcPts val="0"/>
              </a:spcBef>
              <a:spcAft>
                <a:spcPts val="0"/>
              </a:spcAft>
            </a:pPr>
            <a:r>
              <a:rPr sz="1820" b="0">
                <a:solidFill>
                  <a:srgbClr val="203142"/>
                </a:solidFill>
                <a:latin typeface="Arial"/>
              </a:rPr>
              <a:t>the stored confusion values.</a:t>
            </a:r>
          </a:p>
        </p:txBody>
      </p:sp>
      <p:sp>
        <p:nvSpPr>
          <p:cNvPr id="25" name="TextBox 24"/>
          <p:cNvSpPr txBox="1"/>
          <p:nvPr/>
        </p:nvSpPr>
        <p:spPr>
          <a:xfrm>
            <a:off x="8430768" y="4700016"/>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SPACE IS INDEX 26</a:t>
            </a:r>
          </a:p>
        </p:txBody>
      </p:sp>
      <p:sp>
        <p:nvSpPr>
          <p:cNvPr id="26" name="TextBox 25"/>
          <p:cNvSpPr txBox="1"/>
          <p:nvPr/>
        </p:nvSpPr>
        <p:spPr>
          <a:xfrm>
            <a:off x="8430768" y="5001768"/>
            <a:ext cx="3063240" cy="1051560"/>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B[26,26] = 1.0</a:t>
            </a:r>
          </a:p>
          <a:p>
            <a:pPr algn="l">
              <a:lnSpc>
                <a:spcPct val="112000"/>
              </a:lnSpc>
              <a:spcBef>
                <a:spcPts val="0"/>
              </a:spcBef>
              <a:spcAft>
                <a:spcPts val="0"/>
              </a:spcAft>
            </a:pPr>
            <a:r>
              <a:rPr sz="1820" b="0">
                <a:solidFill>
                  <a:srgbClr val="203142"/>
                </a:solidFill>
                <a:latin typeface="Arial"/>
              </a:rPr>
              <a:t>The sample assumes no</a:t>
            </a:r>
          </a:p>
          <a:p>
            <a:pPr algn="l">
              <a:lnSpc>
                <a:spcPct val="112000"/>
              </a:lnSpc>
              <a:spcBef>
                <a:spcPts val="0"/>
              </a:spcBef>
              <a:spcAft>
                <a:spcPts val="0"/>
              </a:spcAft>
            </a:pPr>
            <a:r>
              <a:rPr sz="1820" b="0">
                <a:solidFill>
                  <a:srgbClr val="203142"/>
                </a:solidFill>
                <a:latin typeface="Arial"/>
              </a:rPr>
              <a:t>letter–space confusion.</a:t>
            </a:r>
          </a:p>
        </p:txBody>
      </p:sp>
      <p:sp>
        <p:nvSpPr>
          <p:cNvPr id="27" name="Rounded Rectangle 26"/>
          <p:cNvSpPr/>
          <p:nvPr/>
        </p:nvSpPr>
        <p:spPr>
          <a:xfrm>
            <a:off x="640080" y="5916168"/>
            <a:ext cx="10908792" cy="365760"/>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850392" y="5967920"/>
            <a:ext cx="10488167" cy="329184"/>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203142"/>
                </a:solidFill>
                <a:latin typeface="Arial"/>
              </a:rPr>
              <a:t>Example meaning: true c → observed e with probability 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3 · GRAMMAR</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Read the character grammar into A and pi</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The saved 1-gram entries supply character pairs and starting-character information.</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40–58, 174–175; original operations retained</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04 / 09</a:t>
            </a:r>
          </a:p>
        </p:txBody>
      </p:sp>
      <p:sp>
        <p:nvSpPr>
          <p:cNvPr id="11" name="Rounded Rectangle 10"/>
          <p:cNvSpPr/>
          <p:nvPr/>
        </p:nvSpPr>
        <p:spPr>
          <a:xfrm>
            <a:off x="640080" y="2048256"/>
            <a:ext cx="7635240" cy="1179576"/>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194560"/>
            <a:ext cx="7214616"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MAIN BLOCK</a:t>
            </a:r>
          </a:p>
        </p:txBody>
      </p:sp>
      <p:sp>
        <p:nvSpPr>
          <p:cNvPr id="13" name="TextBox 12"/>
          <p:cNvSpPr txBox="1"/>
          <p:nvPr/>
        </p:nvSpPr>
        <p:spPr>
          <a:xfrm>
            <a:off x="859536" y="2587752"/>
            <a:ext cx="719632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transitions = config[</a:t>
            </a:r>
            <a:r>
              <a:rPr sz="1800">
                <a:solidFill>
                  <a:srgbClr val="177065"/>
                </a:solidFill>
                <a:latin typeface="DejaVu Sans Mono"/>
              </a:rPr>
              <a:t>'1gram'</a:t>
            </a:r>
            <a:r>
              <a:rPr sz="1800">
                <a:solidFill>
                  <a:srgbClr val="203142"/>
                </a:solidFill>
                <a:latin typeface="DejaVu Sans Mono"/>
              </a:rPr>
              <a:t>]</a:t>
            </a:r>
          </a:p>
        </p:txBody>
      </p:sp>
      <p:sp>
        <p:nvSpPr>
          <p:cNvPr id="14" name="TextBox 13"/>
          <p:cNvSpPr txBox="1"/>
          <p:nvPr/>
        </p:nvSpPr>
        <p:spPr>
          <a:xfrm>
            <a:off x="859536" y="2866644"/>
            <a:ext cx="719632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A, pi = makeAFrom1Gram(transitions)</a:t>
            </a:r>
          </a:p>
        </p:txBody>
      </p:sp>
      <p:sp>
        <p:nvSpPr>
          <p:cNvPr id="15" name="Rounded Rectangle 14"/>
          <p:cNvSpPr/>
          <p:nvPr/>
        </p:nvSpPr>
        <p:spPr>
          <a:xfrm>
            <a:off x="640080" y="3401568"/>
            <a:ext cx="7635240" cy="2807208"/>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50392" y="3547872"/>
            <a:ext cx="7214616"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INSIDE MAKEAFROM1GRAM · EXCERPT</a:t>
            </a:r>
          </a:p>
        </p:txBody>
      </p:sp>
      <p:sp>
        <p:nvSpPr>
          <p:cNvPr id="17" name="TextBox 16"/>
          <p:cNvSpPr txBox="1"/>
          <p:nvPr/>
        </p:nvSpPr>
        <p:spPr>
          <a:xfrm>
            <a:off x="859536" y="3941064"/>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D5BBB"/>
                </a:solidFill>
                <a:latin typeface="DejaVu Sans Mono"/>
              </a:rPr>
              <a:t>for</a:t>
            </a:r>
            <a:r>
              <a:rPr sz="1720">
                <a:solidFill>
                  <a:srgbClr val="203142"/>
                </a:solidFill>
                <a:latin typeface="DejaVu Sans Mono"/>
              </a:rPr>
              <a:t> entry, prob </a:t>
            </a:r>
            <a:r>
              <a:rPr sz="1720">
                <a:solidFill>
                  <a:srgbClr val="2D5BBB"/>
                </a:solidFill>
                <a:latin typeface="DejaVu Sans Mono"/>
              </a:rPr>
              <a:t>in</a:t>
            </a:r>
            <a:r>
              <a:rPr sz="1720">
                <a:solidFill>
                  <a:srgbClr val="203142"/>
                </a:solidFill>
                <a:latin typeface="DejaVu Sans Mono"/>
              </a:rPr>
              <a:t> transitions.items():</a:t>
            </a:r>
          </a:p>
        </p:txBody>
      </p:sp>
      <p:sp>
        <p:nvSpPr>
          <p:cNvPr id="18" name="TextBox 17"/>
          <p:cNvSpPr txBox="1"/>
          <p:nvPr/>
        </p:nvSpPr>
        <p:spPr>
          <a:xfrm>
            <a:off x="859536" y="4187952"/>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03142"/>
                </a:solidFill>
                <a:latin typeface="DejaVu Sans Mono"/>
              </a:rPr>
              <a:t>    </a:t>
            </a:r>
            <a:r>
              <a:rPr sz="1720">
                <a:solidFill>
                  <a:srgbClr val="2D5BBB"/>
                </a:solidFill>
                <a:latin typeface="DejaVu Sans Mono"/>
              </a:rPr>
              <a:t>if</a:t>
            </a:r>
            <a:r>
              <a:rPr sz="1720">
                <a:solidFill>
                  <a:srgbClr val="203142"/>
                </a:solidFill>
                <a:latin typeface="DejaVu Sans Mono"/>
              </a:rPr>
              <a:t> </a:t>
            </a:r>
            <a:r>
              <a:rPr sz="1720">
                <a:solidFill>
                  <a:srgbClr val="177065"/>
                </a:solidFill>
                <a:latin typeface="DejaVu Sans Mono"/>
              </a:rPr>
              <a:t>' '</a:t>
            </a:r>
            <a:r>
              <a:rPr sz="1720">
                <a:solidFill>
                  <a:srgbClr val="203142"/>
                </a:solidFill>
                <a:latin typeface="DejaVu Sans Mono"/>
              </a:rPr>
              <a:t> == entry[</a:t>
            </a:r>
            <a:r>
              <a:rPr sz="1720">
                <a:solidFill>
                  <a:srgbClr val="926034"/>
                </a:solidFill>
                <a:latin typeface="DejaVu Sans Mono"/>
              </a:rPr>
              <a:t>0</a:t>
            </a:r>
            <a:r>
              <a:rPr sz="1720">
                <a:solidFill>
                  <a:srgbClr val="203142"/>
                </a:solidFill>
                <a:latin typeface="DejaVu Sans Mono"/>
              </a:rPr>
              <a:t>]:</a:t>
            </a:r>
          </a:p>
        </p:txBody>
      </p:sp>
      <p:sp>
        <p:nvSpPr>
          <p:cNvPr id="19" name="TextBox 18"/>
          <p:cNvSpPr txBox="1"/>
          <p:nvPr/>
        </p:nvSpPr>
        <p:spPr>
          <a:xfrm>
            <a:off x="859536" y="4434840"/>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03142"/>
                </a:solidFill>
                <a:latin typeface="DejaVu Sans Mono"/>
              </a:rPr>
              <a:t>        pi[alphaToIdx(entry[</a:t>
            </a:r>
            <a:r>
              <a:rPr sz="1720">
                <a:solidFill>
                  <a:srgbClr val="926034"/>
                </a:solidFill>
                <a:latin typeface="DejaVu Sans Mono"/>
              </a:rPr>
              <a:t>1</a:t>
            </a:r>
            <a:r>
              <a:rPr sz="1720">
                <a:solidFill>
                  <a:srgbClr val="203142"/>
                </a:solidFill>
                <a:latin typeface="DejaVu Sans Mono"/>
              </a:rPr>
              <a:t>].lower())] = prob</a:t>
            </a:r>
          </a:p>
        </p:txBody>
      </p:sp>
      <p:sp>
        <p:nvSpPr>
          <p:cNvPr id="20" name="TextBox 19"/>
          <p:cNvSpPr txBox="1"/>
          <p:nvPr/>
        </p:nvSpPr>
        <p:spPr>
          <a:xfrm>
            <a:off x="859536" y="4681728"/>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03142"/>
                </a:solidFill>
                <a:latin typeface="DejaVu Sans Mono"/>
              </a:rPr>
              <a:t>    A[alphaToIdx(entry[</a:t>
            </a:r>
            <a:r>
              <a:rPr sz="1720">
                <a:solidFill>
                  <a:srgbClr val="926034"/>
                </a:solidFill>
                <a:latin typeface="DejaVu Sans Mono"/>
              </a:rPr>
              <a:t>0</a:t>
            </a:r>
            <a:r>
              <a:rPr sz="1720">
                <a:solidFill>
                  <a:srgbClr val="203142"/>
                </a:solidFill>
                <a:latin typeface="DejaVu Sans Mono"/>
              </a:rPr>
              <a:t>].lower()),</a:t>
            </a:r>
          </a:p>
        </p:txBody>
      </p:sp>
      <p:sp>
        <p:nvSpPr>
          <p:cNvPr id="21" name="TextBox 20"/>
          <p:cNvSpPr txBox="1"/>
          <p:nvPr/>
        </p:nvSpPr>
        <p:spPr>
          <a:xfrm>
            <a:off x="859536" y="4928616"/>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03142"/>
                </a:solidFill>
                <a:latin typeface="DejaVu Sans Mono"/>
              </a:rPr>
              <a:t>      alphaToIdx(entry[</a:t>
            </a:r>
            <a:r>
              <a:rPr sz="1720">
                <a:solidFill>
                  <a:srgbClr val="926034"/>
                </a:solidFill>
                <a:latin typeface="DejaVu Sans Mono"/>
              </a:rPr>
              <a:t>1</a:t>
            </a:r>
            <a:r>
              <a:rPr sz="1720">
                <a:solidFill>
                  <a:srgbClr val="203142"/>
                </a:solidFill>
                <a:latin typeface="DejaVu Sans Mono"/>
              </a:rPr>
              <a:t>].lower())] += prob</a:t>
            </a:r>
          </a:p>
        </p:txBody>
      </p:sp>
      <p:sp>
        <p:nvSpPr>
          <p:cNvPr id="22" name="TextBox 21"/>
          <p:cNvSpPr txBox="1"/>
          <p:nvPr/>
        </p:nvSpPr>
        <p:spPr>
          <a:xfrm>
            <a:off x="859536" y="5175504"/>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03142"/>
                </a:solidFill>
                <a:latin typeface="DejaVu Sans Mono"/>
              </a:rPr>
              <a:t>pi = pi / pi.sum()</a:t>
            </a:r>
          </a:p>
        </p:txBody>
      </p:sp>
      <p:sp>
        <p:nvSpPr>
          <p:cNvPr id="23" name="TextBox 22"/>
          <p:cNvSpPr txBox="1"/>
          <p:nvPr/>
        </p:nvSpPr>
        <p:spPr>
          <a:xfrm>
            <a:off x="859536" y="5422392"/>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D5BBB"/>
                </a:solidFill>
                <a:latin typeface="DejaVu Sans Mono"/>
              </a:rPr>
              <a:t>for</a:t>
            </a:r>
            <a:r>
              <a:rPr sz="1720">
                <a:solidFill>
                  <a:srgbClr val="203142"/>
                </a:solidFill>
                <a:latin typeface="DejaVu Sans Mono"/>
              </a:rPr>
              <a:t> i </a:t>
            </a:r>
            <a:r>
              <a:rPr sz="1720">
                <a:solidFill>
                  <a:srgbClr val="2D5BBB"/>
                </a:solidFill>
                <a:latin typeface="DejaVu Sans Mono"/>
              </a:rPr>
              <a:t>in</a:t>
            </a:r>
            <a:r>
              <a:rPr sz="1720">
                <a:solidFill>
                  <a:srgbClr val="203142"/>
                </a:solidFill>
                <a:latin typeface="DejaVu Sans Mono"/>
              </a:rPr>
              <a:t> range(</a:t>
            </a:r>
            <a:r>
              <a:rPr sz="1720">
                <a:solidFill>
                  <a:srgbClr val="926034"/>
                </a:solidFill>
                <a:latin typeface="DejaVu Sans Mono"/>
              </a:rPr>
              <a:t>26</a:t>
            </a:r>
            <a:r>
              <a:rPr sz="1720">
                <a:solidFill>
                  <a:srgbClr val="203142"/>
                </a:solidFill>
                <a:latin typeface="DejaVu Sans Mono"/>
              </a:rPr>
              <a:t>):</a:t>
            </a:r>
          </a:p>
        </p:txBody>
      </p:sp>
      <p:sp>
        <p:nvSpPr>
          <p:cNvPr id="24" name="TextBox 23"/>
          <p:cNvSpPr txBox="1"/>
          <p:nvPr/>
        </p:nvSpPr>
        <p:spPr>
          <a:xfrm>
            <a:off x="859536" y="5669280"/>
            <a:ext cx="7196327" cy="301752"/>
          </a:xfrm>
          <a:prstGeom prst="rect">
            <a:avLst/>
          </a:prstGeom>
          <a:noFill/>
          <a:effectLst/>
        </p:spPr>
        <p:txBody>
          <a:bodyPr wrap="none" lIns="0" rIns="0" tIns="0" bIns="0">
            <a:spAutoFit/>
          </a:bodyPr>
          <a:lstStyle/>
          <a:p>
            <a:pPr>
              <a:lnSpc>
                <a:spcPct val="100000"/>
              </a:lnSpc>
              <a:spcBef>
                <a:spcPts val="0"/>
              </a:spcBef>
              <a:spcAft>
                <a:spcPts val="0"/>
              </a:spcAft>
            </a:pPr>
            <a:r>
              <a:rPr sz="1720">
                <a:solidFill>
                  <a:srgbClr val="203142"/>
                </a:solidFill>
                <a:latin typeface="DejaVu Sans Mono"/>
              </a:rPr>
              <a:t>    A[:,i] = A[:,i] / np.sum(A[:,i])</a:t>
            </a:r>
          </a:p>
        </p:txBody>
      </p:sp>
      <p:sp>
        <p:nvSpPr>
          <p:cNvPr id="25" name="TextBox 24"/>
          <p:cNvSpPr txBox="1"/>
          <p:nvPr/>
        </p:nvSpPr>
        <p:spPr>
          <a:xfrm>
            <a:off x="8577072" y="2313432"/>
            <a:ext cx="292608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A STARTS AS ZEROS</a:t>
            </a:r>
          </a:p>
        </p:txBody>
      </p:sp>
      <p:sp>
        <p:nvSpPr>
          <p:cNvPr id="26" name="TextBox 25"/>
          <p:cNvSpPr txBox="1"/>
          <p:nvPr/>
        </p:nvSpPr>
        <p:spPr>
          <a:xfrm>
            <a:off x="8577072" y="2615184"/>
            <a:ext cx="2926080" cy="1271016"/>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Shape: (27, 27).</a:t>
            </a:r>
          </a:p>
          <a:p>
            <a:pPr algn="l">
              <a:lnSpc>
                <a:spcPct val="112000"/>
              </a:lnSpc>
              <a:spcBef>
                <a:spcPts val="0"/>
              </a:spcBef>
              <a:spcAft>
                <a:spcPts val="0"/>
              </a:spcAft>
            </a:pPr>
            <a:r>
              <a:rPr sz="1820" b="0">
                <a:solidFill>
                  <a:srgbClr val="203142"/>
                </a:solidFill>
                <a:latin typeface="Arial"/>
              </a:rPr>
              <a:t>entry[0] is the first character;</a:t>
            </a:r>
          </a:p>
          <a:p>
            <a:pPr algn="l">
              <a:lnSpc>
                <a:spcPct val="112000"/>
              </a:lnSpc>
              <a:spcBef>
                <a:spcPts val="0"/>
              </a:spcBef>
              <a:spcAft>
                <a:spcPts val="0"/>
              </a:spcAft>
            </a:pPr>
            <a:r>
              <a:rPr sz="1820" b="0">
                <a:solidFill>
                  <a:srgbClr val="203142"/>
                </a:solidFill>
                <a:latin typeface="Arial"/>
              </a:rPr>
              <a:t>entry[1] is the next.</a:t>
            </a:r>
          </a:p>
        </p:txBody>
      </p:sp>
      <p:sp>
        <p:nvSpPr>
          <p:cNvPr id="27" name="TextBox 26"/>
          <p:cNvSpPr txBox="1"/>
          <p:nvPr/>
        </p:nvSpPr>
        <p:spPr>
          <a:xfrm>
            <a:off x="8577072" y="3877056"/>
            <a:ext cx="292608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PI STARTS AS ZEROS</a:t>
            </a:r>
          </a:p>
        </p:txBody>
      </p:sp>
      <p:sp>
        <p:nvSpPr>
          <p:cNvPr id="28" name="TextBox 27"/>
          <p:cNvSpPr txBox="1"/>
          <p:nvPr/>
        </p:nvSpPr>
        <p:spPr>
          <a:xfrm>
            <a:off x="8577072" y="4178808"/>
            <a:ext cx="2926080" cy="1207008"/>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Shape: (27,).</a:t>
            </a:r>
          </a:p>
          <a:p>
            <a:pPr algn="l">
              <a:lnSpc>
                <a:spcPct val="112000"/>
              </a:lnSpc>
              <a:spcBef>
                <a:spcPts val="0"/>
              </a:spcBef>
              <a:spcAft>
                <a:spcPts val="0"/>
              </a:spcAft>
            </a:pPr>
            <a:r>
              <a:rPr sz="1820" b="0">
                <a:solidFill>
                  <a:srgbClr val="203142"/>
                </a:solidFill>
                <a:latin typeface="Arial"/>
              </a:rPr>
              <a:t>Pairs starting with a space</a:t>
            </a:r>
          </a:p>
          <a:p>
            <a:pPr algn="l">
              <a:lnSpc>
                <a:spcPct val="112000"/>
              </a:lnSpc>
              <a:spcBef>
                <a:spcPts val="0"/>
              </a:spcBef>
              <a:spcAft>
                <a:spcPts val="0"/>
              </a:spcAft>
            </a:pPr>
            <a:r>
              <a:rPr sz="1820" b="0">
                <a:solidFill>
                  <a:srgbClr val="203142"/>
                </a:solidFill>
                <a:latin typeface="Arial"/>
              </a:rPr>
              <a:t>provide word-start values.</a:t>
            </a:r>
          </a:p>
        </p:txBody>
      </p:sp>
      <p:sp>
        <p:nvSpPr>
          <p:cNvPr id="29" name="Rounded Rectangle 28"/>
          <p:cNvSpPr/>
          <p:nvPr/>
        </p:nvSpPr>
        <p:spPr>
          <a:xfrm>
            <a:off x="8430768" y="5559552"/>
            <a:ext cx="3108960" cy="630936"/>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613648" y="5660136"/>
            <a:ext cx="2779776" cy="457200"/>
          </a:xfrm>
          <a:prstGeom prst="rect">
            <a:avLst/>
          </a:prstGeom>
          <a:noFill/>
          <a:effectLst/>
        </p:spPr>
        <p:txBody>
          <a:bodyPr wrap="square" lIns="0" rIns="0" tIns="0" bIns="0">
            <a:spAutoFit/>
          </a:bodyPr>
          <a:lstStyle/>
          <a:p>
            <a:pPr algn="l">
              <a:lnSpc>
                <a:spcPct val="112000"/>
              </a:lnSpc>
              <a:spcBef>
                <a:spcPts val="0"/>
              </a:spcBef>
              <a:spcAft>
                <a:spcPts val="0"/>
              </a:spcAft>
            </a:pPr>
            <a:r>
              <a:rPr sz="1580" b="0">
                <a:solidFill>
                  <a:srgbClr val="667583"/>
                </a:solidFill>
                <a:latin typeface="Arial"/>
              </a:rPr>
              <a:t>As written: A[:, i]</a:t>
            </a:r>
          </a:p>
          <a:p>
            <a:pPr algn="l">
              <a:lnSpc>
                <a:spcPct val="112000"/>
              </a:lnSpc>
              <a:spcBef>
                <a:spcPts val="0"/>
              </a:spcBef>
              <a:spcAft>
                <a:spcPts val="0"/>
              </a:spcAft>
            </a:pPr>
            <a:r>
              <a:rPr sz="1580" b="0">
                <a:solidFill>
                  <a:srgbClr val="667583"/>
                </a:solidFill>
                <a:latin typeface="Arial"/>
              </a:rPr>
              <a:t>selects column 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4 · CNN PREDICTIONS</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Read the image and predict each letter cell</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Each aligned cell is 28 × 28 pixels; the model returns a score for each letter.</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61–101, 104–108, 181–188</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05 / 09</a:t>
            </a:r>
          </a:p>
        </p:txBody>
      </p:sp>
      <p:sp>
        <p:nvSpPr>
          <p:cNvPr id="11" name="Rounded Rectangle 10"/>
          <p:cNvSpPr/>
          <p:nvPr/>
        </p:nvSpPr>
        <p:spPr>
          <a:xfrm>
            <a:off x="640080" y="2084831"/>
            <a:ext cx="7498079" cy="2478024"/>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231136"/>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MAIN BLOCK</a:t>
            </a:r>
          </a:p>
        </p:txBody>
      </p:sp>
      <p:sp>
        <p:nvSpPr>
          <p:cNvPr id="13" name="TextBox 12"/>
          <p:cNvSpPr txBox="1"/>
          <p:nvPr/>
        </p:nvSpPr>
        <p:spPr>
          <a:xfrm>
            <a:off x="859536" y="2624327"/>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img = Image.open(args.image)</a:t>
            </a:r>
          </a:p>
        </p:txBody>
      </p:sp>
      <p:sp>
        <p:nvSpPr>
          <p:cNvPr id="14" name="TextBox 13"/>
          <p:cNvSpPr txBox="1"/>
          <p:nvPr/>
        </p:nvSpPr>
        <p:spPr>
          <a:xfrm>
            <a:off x="859536" y="2903220"/>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img = prepareImage(img, device).to(device)</a:t>
            </a:r>
          </a:p>
        </p:txBody>
      </p:sp>
      <p:sp>
        <p:nvSpPr>
          <p:cNvPr id="15" name="TextBox 14"/>
          <p:cNvSpPr txBox="1"/>
          <p:nvPr/>
        </p:nvSpPr>
        <p:spPr>
          <a:xfrm>
            <a:off x="859536" y="3182111"/>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raw_predictions = computeImgClasses(img, model)</a:t>
            </a:r>
          </a:p>
        </p:txBody>
      </p:sp>
      <p:sp>
        <p:nvSpPr>
          <p:cNvPr id="16" name="TextBox 15"/>
          <p:cNvSpPr txBox="1"/>
          <p:nvPr/>
        </p:nvSpPr>
        <p:spPr>
          <a:xfrm>
            <a:off x="859536" y="3461003"/>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raw_predictions = raw_predictions[</a:t>
            </a:r>
            <a:r>
              <a:rPr sz="1800">
                <a:solidFill>
                  <a:srgbClr val="926034"/>
                </a:solidFill>
                <a:latin typeface="DejaVu Sans Mono"/>
              </a:rPr>
              <a:t>0</a:t>
            </a:r>
            <a:r>
              <a:rPr sz="1800">
                <a:solidFill>
                  <a:srgbClr val="203142"/>
                </a:solidFill>
                <a:latin typeface="DejaVu Sans Mono"/>
              </a:rPr>
              <a:t>]</a:t>
            </a:r>
          </a:p>
        </p:txBody>
      </p:sp>
      <p:sp>
        <p:nvSpPr>
          <p:cNvPr id="17" name="TextBox 16"/>
          <p:cNvSpPr txBox="1"/>
          <p:nvPr/>
        </p:nvSpPr>
        <p:spPr>
          <a:xfrm>
            <a:off x="859536" y="3739896"/>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classes = torch.argmax(</a:t>
            </a:r>
          </a:p>
        </p:txBody>
      </p:sp>
      <p:sp>
        <p:nvSpPr>
          <p:cNvPr id="18" name="TextBox 17"/>
          <p:cNvSpPr txBox="1"/>
          <p:nvPr/>
        </p:nvSpPr>
        <p:spPr>
          <a:xfrm>
            <a:off x="859536" y="4018787"/>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raw_predictions, axis=</a:t>
            </a:r>
            <a:r>
              <a:rPr sz="1800">
                <a:solidFill>
                  <a:srgbClr val="926034"/>
                </a:solidFill>
                <a:latin typeface="DejaVu Sans Mono"/>
              </a:rPr>
              <a:t>1</a:t>
            </a:r>
            <a:r>
              <a:rPr sz="1800">
                <a:solidFill>
                  <a:srgbClr val="203142"/>
                </a:solidFill>
                <a:latin typeface="DejaVu Sans Mono"/>
              </a:rPr>
              <a:t>).cpu().numpy()</a:t>
            </a:r>
          </a:p>
        </p:txBody>
      </p:sp>
      <p:sp>
        <p:nvSpPr>
          <p:cNvPr id="19" name="Rounded Rectangle 18"/>
          <p:cNvSpPr/>
          <p:nvPr/>
        </p:nvSpPr>
        <p:spPr>
          <a:xfrm>
            <a:off x="640080" y="4663440"/>
            <a:ext cx="7498079" cy="1591056"/>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50392" y="4809744"/>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INSIDE COMPUTEIMGCLASSES · CROPPING EXCERPT</a:t>
            </a:r>
          </a:p>
        </p:txBody>
      </p:sp>
      <p:sp>
        <p:nvSpPr>
          <p:cNvPr id="21" name="TextBox 20"/>
          <p:cNvSpPr txBox="1"/>
          <p:nvPr/>
        </p:nvSpPr>
        <p:spPr>
          <a:xfrm>
            <a:off x="859536" y="5202936"/>
            <a:ext cx="7059167" cy="307238"/>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unfold = torch.nn.Unfold(</a:t>
            </a:r>
          </a:p>
        </p:txBody>
      </p:sp>
      <p:sp>
        <p:nvSpPr>
          <p:cNvPr id="22" name="TextBox 21"/>
          <p:cNvSpPr txBox="1"/>
          <p:nvPr/>
        </p:nvSpPr>
        <p:spPr>
          <a:xfrm>
            <a:off x="859536" y="5455310"/>
            <a:ext cx="7059167" cy="307238"/>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kernel_size=(patch_size, patch_size),</a:t>
            </a:r>
          </a:p>
        </p:txBody>
      </p:sp>
      <p:sp>
        <p:nvSpPr>
          <p:cNvPr id="23" name="TextBox 22"/>
          <p:cNvSpPr txBox="1"/>
          <p:nvPr/>
        </p:nvSpPr>
        <p:spPr>
          <a:xfrm>
            <a:off x="859536" y="5707684"/>
            <a:ext cx="7059167" cy="307238"/>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stride=stride)</a:t>
            </a:r>
          </a:p>
        </p:txBody>
      </p:sp>
      <p:sp>
        <p:nvSpPr>
          <p:cNvPr id="24" name="TextBox 23"/>
          <p:cNvSpPr txBox="1"/>
          <p:nvPr/>
        </p:nvSpPr>
        <p:spPr>
          <a:xfrm>
            <a:off x="859536" y="5960059"/>
            <a:ext cx="7059167" cy="307238"/>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patches = unfold(img)</a:t>
            </a:r>
          </a:p>
        </p:txBody>
      </p:sp>
      <p:sp>
        <p:nvSpPr>
          <p:cNvPr id="25" name="TextBox 24"/>
          <p:cNvSpPr txBox="1"/>
          <p:nvPr/>
        </p:nvSpPr>
        <p:spPr>
          <a:xfrm>
            <a:off x="8430768" y="2295144"/>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PREPAREIMAGE</a:t>
            </a:r>
          </a:p>
        </p:txBody>
      </p:sp>
      <p:sp>
        <p:nvSpPr>
          <p:cNvPr id="26" name="TextBox 25"/>
          <p:cNvSpPr txBox="1"/>
          <p:nvPr/>
        </p:nvSpPr>
        <p:spPr>
          <a:xfrm>
            <a:off x="8430768" y="2596896"/>
            <a:ext cx="3063240" cy="868680"/>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ToTensor(), float(),</a:t>
            </a:r>
          </a:p>
          <a:p>
            <a:pPr algn="l">
              <a:lnSpc>
                <a:spcPct val="112000"/>
              </a:lnSpc>
              <a:spcBef>
                <a:spcPts val="0"/>
              </a:spcBef>
              <a:spcAft>
                <a:spcPts val="0"/>
              </a:spcAft>
            </a:pPr>
            <a:r>
              <a:rPr sz="1820" b="0">
                <a:solidFill>
                  <a:srgbClr val="203142"/>
                </a:solidFill>
                <a:latin typeface="Arial"/>
              </a:rPr>
              <a:t>then add a batch dimension.</a:t>
            </a:r>
          </a:p>
        </p:txBody>
      </p:sp>
      <p:sp>
        <p:nvSpPr>
          <p:cNvPr id="27" name="TextBox 26"/>
          <p:cNvSpPr txBox="1"/>
          <p:nvPr/>
        </p:nvSpPr>
        <p:spPr>
          <a:xfrm>
            <a:off x="8430768" y="3502152"/>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COMPUTEIMGCLASSES</a:t>
            </a:r>
          </a:p>
        </p:txBody>
      </p:sp>
      <p:sp>
        <p:nvSpPr>
          <p:cNvPr id="28" name="TextBox 27"/>
          <p:cNvSpPr txBox="1"/>
          <p:nvPr/>
        </p:nvSpPr>
        <p:spPr>
          <a:xfrm>
            <a:off x="8430768" y="3803904"/>
            <a:ext cx="3063240" cy="1133856"/>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Defaults: size = stride = 28.</a:t>
            </a:r>
          </a:p>
          <a:p>
            <a:pPr algn="l">
              <a:lnSpc>
                <a:spcPct val="112000"/>
              </a:lnSpc>
              <a:spcBef>
                <a:spcPts val="0"/>
              </a:spcBef>
              <a:spcAft>
                <a:spcPts val="0"/>
              </a:spcAft>
            </a:pPr>
            <a:r>
              <a:rPr sz="1820" b="0">
                <a:solidFill>
                  <a:srgbClr val="203142"/>
                </a:solidFill>
                <a:latin typeface="Arial"/>
              </a:rPr>
              <a:t>Reshape patches, then run</a:t>
            </a:r>
          </a:p>
          <a:p>
            <a:pPr algn="l">
              <a:lnSpc>
                <a:spcPct val="112000"/>
              </a:lnSpc>
              <a:spcBef>
                <a:spcPts val="0"/>
              </a:spcBef>
              <a:spcAft>
                <a:spcPts val="0"/>
              </a:spcAft>
            </a:pPr>
            <a:r>
              <a:rPr sz="1820" b="0">
                <a:solidFill>
                  <a:srgbClr val="203142"/>
                </a:solidFill>
                <a:latin typeface="Arial"/>
              </a:rPr>
              <a:t>the CNN in batches.</a:t>
            </a:r>
          </a:p>
        </p:txBody>
      </p:sp>
      <p:sp>
        <p:nvSpPr>
          <p:cNvPr id="29" name="TextBox 28"/>
          <p:cNvSpPr txBox="1"/>
          <p:nvPr/>
        </p:nvSpPr>
        <p:spPr>
          <a:xfrm>
            <a:off x="8430768" y="4965192"/>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CLASSES</a:t>
            </a:r>
          </a:p>
        </p:txBody>
      </p:sp>
      <p:sp>
        <p:nvSpPr>
          <p:cNvPr id="30" name="TextBox 29"/>
          <p:cNvSpPr txBox="1"/>
          <p:nvPr/>
        </p:nvSpPr>
        <p:spPr>
          <a:xfrm>
            <a:off x="8430768" y="5266944"/>
            <a:ext cx="3063240" cy="1097280"/>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One predicted letter ID</a:t>
            </a:r>
          </a:p>
          <a:p>
            <a:pPr algn="l">
              <a:lnSpc>
                <a:spcPct val="112000"/>
              </a:lnSpc>
              <a:spcBef>
                <a:spcPts val="0"/>
              </a:spcBef>
              <a:spcAft>
                <a:spcPts val="0"/>
              </a:spcAft>
            </a:pPr>
            <a:r>
              <a:rPr sz="1820" b="0">
                <a:solidFill>
                  <a:srgbClr val="203142"/>
                </a:solidFill>
                <a:latin typeface="Arial"/>
              </a:rPr>
              <a:t>per cell: 0–25.</a:t>
            </a:r>
          </a:p>
          <a:p>
            <a:pPr algn="l">
              <a:lnSpc>
                <a:spcPct val="112000"/>
              </a:lnSpc>
              <a:spcBef>
                <a:spcPts val="0"/>
              </a:spcBef>
              <a:spcAft>
                <a:spcPts val="0"/>
              </a:spcAft>
            </a:pPr>
            <a:r>
              <a:rPr sz="1820" b="0">
                <a:solidFill>
                  <a:srgbClr val="203142"/>
                </a:solidFill>
                <a:latin typeface="Arial"/>
              </a:rPr>
              <a:t>Spaces are handled next.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5 · OBSERVATIONS</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Turn letter labels and spaces into observations</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Each cell becomes one 27-dimensional one-hot vector for the Markov model.</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193–203; idxToAlpha / alphaToIdx: 15–25</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06 / 09</a:t>
            </a:r>
          </a:p>
        </p:txBody>
      </p:sp>
      <p:sp>
        <p:nvSpPr>
          <p:cNvPr id="11" name="Rounded Rectangle 10"/>
          <p:cNvSpPr/>
          <p:nvPr/>
        </p:nvSpPr>
        <p:spPr>
          <a:xfrm>
            <a:off x="640080" y="2084831"/>
            <a:ext cx="7498079" cy="3794760"/>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231136"/>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MAIN BLOCK · BLANK-CELL TEST AND ONE-HOT ENCODING</a:t>
            </a:r>
          </a:p>
        </p:txBody>
      </p:sp>
      <p:sp>
        <p:nvSpPr>
          <p:cNvPr id="13" name="TextBox 12"/>
          <p:cNvSpPr txBox="1"/>
          <p:nvPr/>
        </p:nvSpPr>
        <p:spPr>
          <a:xfrm>
            <a:off x="859536" y="2624327"/>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observations = []</a:t>
            </a:r>
          </a:p>
        </p:txBody>
      </p:sp>
      <p:sp>
        <p:nvSpPr>
          <p:cNvPr id="14" name="TextBox 13"/>
          <p:cNvSpPr txBox="1"/>
          <p:nvPr/>
        </p:nvSpPr>
        <p:spPr>
          <a:xfrm>
            <a:off x="859536" y="2903220"/>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D5BBB"/>
                </a:solidFill>
                <a:latin typeface="DejaVu Sans Mono"/>
              </a:rPr>
              <a:t>for</a:t>
            </a:r>
            <a:r>
              <a:rPr sz="1800">
                <a:solidFill>
                  <a:srgbClr val="203142"/>
                </a:solidFill>
                <a:latin typeface="DejaVu Sans Mono"/>
              </a:rPr>
              <a:t> idx, prediction </a:t>
            </a:r>
            <a:r>
              <a:rPr sz="1800">
                <a:solidFill>
                  <a:srgbClr val="2D5BBB"/>
                </a:solidFill>
                <a:latin typeface="DejaVu Sans Mono"/>
              </a:rPr>
              <a:t>in</a:t>
            </a:r>
            <a:r>
              <a:rPr sz="1800">
                <a:solidFill>
                  <a:srgbClr val="203142"/>
                </a:solidFill>
                <a:latin typeface="DejaVu Sans Mono"/>
              </a:rPr>
              <a:t> enumerate(classes):</a:t>
            </a:r>
          </a:p>
        </p:txBody>
      </p:sp>
      <p:sp>
        <p:nvSpPr>
          <p:cNvPr id="15" name="TextBox 14"/>
          <p:cNvSpPr txBox="1"/>
          <p:nvPr/>
        </p:nvSpPr>
        <p:spPr>
          <a:xfrm>
            <a:off x="859536" y="3182111"/>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patch = img[</a:t>
            </a:r>
            <a:r>
              <a:rPr sz="1800">
                <a:solidFill>
                  <a:srgbClr val="926034"/>
                </a:solidFill>
                <a:latin typeface="DejaVu Sans Mono"/>
              </a:rPr>
              <a:t>0</a:t>
            </a:r>
            <a:r>
              <a:rPr sz="1800">
                <a:solidFill>
                  <a:srgbClr val="203142"/>
                </a:solidFill>
                <a:latin typeface="DejaVu Sans Mono"/>
              </a:rPr>
              <a:t>, </a:t>
            </a:r>
            <a:r>
              <a:rPr sz="1800">
                <a:solidFill>
                  <a:srgbClr val="926034"/>
                </a:solidFill>
                <a:latin typeface="DejaVu Sans Mono"/>
              </a:rPr>
              <a:t>0</a:t>
            </a:r>
            <a:r>
              <a:rPr sz="1800">
                <a:solidFill>
                  <a:srgbClr val="203142"/>
                </a:solidFill>
                <a:latin typeface="DejaVu Sans Mono"/>
              </a:rPr>
              <a:t>, :, idx*</a:t>
            </a:r>
            <a:r>
              <a:rPr sz="1800">
                <a:solidFill>
                  <a:srgbClr val="926034"/>
                </a:solidFill>
                <a:latin typeface="DejaVu Sans Mono"/>
              </a:rPr>
              <a:t>28</a:t>
            </a:r>
            <a:r>
              <a:rPr sz="1800">
                <a:solidFill>
                  <a:srgbClr val="203142"/>
                </a:solidFill>
                <a:latin typeface="DejaVu Sans Mono"/>
              </a:rPr>
              <a:t>:(idx+</a:t>
            </a:r>
            <a:r>
              <a:rPr sz="1800">
                <a:solidFill>
                  <a:srgbClr val="926034"/>
                </a:solidFill>
                <a:latin typeface="DejaVu Sans Mono"/>
              </a:rPr>
              <a:t>1</a:t>
            </a:r>
            <a:r>
              <a:rPr sz="1800">
                <a:solidFill>
                  <a:srgbClr val="203142"/>
                </a:solidFill>
                <a:latin typeface="DejaVu Sans Mono"/>
              </a:rPr>
              <a:t>)*</a:t>
            </a:r>
            <a:r>
              <a:rPr sz="1800">
                <a:solidFill>
                  <a:srgbClr val="926034"/>
                </a:solidFill>
                <a:latin typeface="DejaVu Sans Mono"/>
              </a:rPr>
              <a:t>28</a:t>
            </a:r>
            <a:r>
              <a:rPr sz="1800">
                <a:solidFill>
                  <a:srgbClr val="203142"/>
                </a:solidFill>
                <a:latin typeface="DejaVu Sans Mono"/>
              </a:rPr>
              <a:t>]</a:t>
            </a:r>
          </a:p>
        </p:txBody>
      </p:sp>
      <p:sp>
        <p:nvSpPr>
          <p:cNvPr id="16" name="TextBox 15"/>
          <p:cNvSpPr txBox="1"/>
          <p:nvPr/>
        </p:nvSpPr>
        <p:spPr>
          <a:xfrm>
            <a:off x="859536" y="3461003"/>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observation = np.zeros(</a:t>
            </a:r>
            <a:r>
              <a:rPr sz="1800">
                <a:solidFill>
                  <a:srgbClr val="926034"/>
                </a:solidFill>
                <a:latin typeface="DejaVu Sans Mono"/>
              </a:rPr>
              <a:t>27</a:t>
            </a:r>
            <a:r>
              <a:rPr sz="1800">
                <a:solidFill>
                  <a:srgbClr val="203142"/>
                </a:solidFill>
                <a:latin typeface="DejaVu Sans Mono"/>
              </a:rPr>
              <a:t>)</a:t>
            </a:r>
          </a:p>
        </p:txBody>
      </p:sp>
      <p:sp>
        <p:nvSpPr>
          <p:cNvPr id="17" name="TextBox 16"/>
          <p:cNvSpPr txBox="1"/>
          <p:nvPr/>
        </p:nvSpPr>
        <p:spPr>
          <a:xfrm>
            <a:off x="859536" y="3739896"/>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a:t>
            </a:r>
            <a:r>
              <a:rPr sz="1800">
                <a:solidFill>
                  <a:srgbClr val="2D5BBB"/>
                </a:solidFill>
                <a:latin typeface="DejaVu Sans Mono"/>
              </a:rPr>
              <a:t>if</a:t>
            </a:r>
            <a:r>
              <a:rPr sz="1800">
                <a:solidFill>
                  <a:srgbClr val="203142"/>
                </a:solidFill>
                <a:latin typeface="DejaVu Sans Mono"/>
              </a:rPr>
              <a:t> torch.max(patch) &lt; </a:t>
            </a:r>
            <a:r>
              <a:rPr sz="1800">
                <a:solidFill>
                  <a:srgbClr val="926034"/>
                </a:solidFill>
                <a:latin typeface="DejaVu Sans Mono"/>
              </a:rPr>
              <a:t>0.5</a:t>
            </a:r>
            <a:r>
              <a:rPr sz="1800">
                <a:solidFill>
                  <a:srgbClr val="203142"/>
                </a:solidFill>
                <a:latin typeface="DejaVu Sans Mono"/>
              </a:rPr>
              <a:t>:</a:t>
            </a:r>
          </a:p>
        </p:txBody>
      </p:sp>
      <p:sp>
        <p:nvSpPr>
          <p:cNvPr id="18" name="TextBox 17"/>
          <p:cNvSpPr txBox="1"/>
          <p:nvPr/>
        </p:nvSpPr>
        <p:spPr>
          <a:xfrm>
            <a:off x="859536" y="4018787"/>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observation[-</a:t>
            </a:r>
            <a:r>
              <a:rPr sz="1800">
                <a:solidFill>
                  <a:srgbClr val="926034"/>
                </a:solidFill>
                <a:latin typeface="DejaVu Sans Mono"/>
              </a:rPr>
              <a:t>1</a:t>
            </a:r>
            <a:r>
              <a:rPr sz="1800">
                <a:solidFill>
                  <a:srgbClr val="203142"/>
                </a:solidFill>
                <a:latin typeface="DejaVu Sans Mono"/>
              </a:rPr>
              <a:t>] = </a:t>
            </a:r>
            <a:r>
              <a:rPr sz="1800">
                <a:solidFill>
                  <a:srgbClr val="926034"/>
                </a:solidFill>
                <a:latin typeface="DejaVu Sans Mono"/>
              </a:rPr>
              <a:t>1.0</a:t>
            </a:r>
          </a:p>
        </p:txBody>
      </p:sp>
      <p:sp>
        <p:nvSpPr>
          <p:cNvPr id="19" name="TextBox 18"/>
          <p:cNvSpPr txBox="1"/>
          <p:nvPr/>
        </p:nvSpPr>
        <p:spPr>
          <a:xfrm>
            <a:off x="859536" y="4297679"/>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a:t>
            </a:r>
            <a:r>
              <a:rPr sz="1800">
                <a:solidFill>
                  <a:srgbClr val="2D5BBB"/>
                </a:solidFill>
                <a:latin typeface="DejaVu Sans Mono"/>
              </a:rPr>
              <a:t>else</a:t>
            </a:r>
            <a:r>
              <a:rPr sz="1800">
                <a:solidFill>
                  <a:srgbClr val="203142"/>
                </a:solidFill>
                <a:latin typeface="DejaVu Sans Mono"/>
              </a:rPr>
              <a:t>:</a:t>
            </a:r>
          </a:p>
        </p:txBody>
      </p:sp>
      <p:sp>
        <p:nvSpPr>
          <p:cNvPr id="20" name="TextBox 19"/>
          <p:cNvSpPr txBox="1"/>
          <p:nvPr/>
        </p:nvSpPr>
        <p:spPr>
          <a:xfrm>
            <a:off x="859536" y="4576571"/>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observation[prediction] = </a:t>
            </a:r>
            <a:r>
              <a:rPr sz="1800">
                <a:solidFill>
                  <a:srgbClr val="926034"/>
                </a:solidFill>
                <a:latin typeface="DejaVu Sans Mono"/>
              </a:rPr>
              <a:t>1</a:t>
            </a:r>
          </a:p>
        </p:txBody>
      </p:sp>
      <p:sp>
        <p:nvSpPr>
          <p:cNvPr id="21" name="TextBox 20"/>
          <p:cNvSpPr txBox="1"/>
          <p:nvPr/>
        </p:nvSpPr>
        <p:spPr>
          <a:xfrm>
            <a:off x="859536" y="4855464"/>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observations.append(</a:t>
            </a:r>
          </a:p>
        </p:txBody>
      </p:sp>
      <p:sp>
        <p:nvSpPr>
          <p:cNvPr id="22" name="TextBox 21"/>
          <p:cNvSpPr txBox="1"/>
          <p:nvPr/>
        </p:nvSpPr>
        <p:spPr>
          <a:xfrm>
            <a:off x="859536" y="5134356"/>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        observation.reshape(</a:t>
            </a:r>
            <a:r>
              <a:rPr sz="1800">
                <a:solidFill>
                  <a:srgbClr val="926034"/>
                </a:solidFill>
                <a:latin typeface="DejaVu Sans Mono"/>
              </a:rPr>
              <a:t>1</a:t>
            </a:r>
            <a:r>
              <a:rPr sz="1800">
                <a:solidFill>
                  <a:srgbClr val="203142"/>
                </a:solidFill>
                <a:latin typeface="DejaVu Sans Mono"/>
              </a:rPr>
              <a:t>, </a:t>
            </a:r>
            <a:r>
              <a:rPr sz="1800">
                <a:solidFill>
                  <a:srgbClr val="926034"/>
                </a:solidFill>
                <a:latin typeface="DejaVu Sans Mono"/>
              </a:rPr>
              <a:t>27</a:t>
            </a:r>
            <a:r>
              <a:rPr sz="1800">
                <a:solidFill>
                  <a:srgbClr val="203142"/>
                </a:solidFill>
                <a:latin typeface="DejaVu Sans Mono"/>
              </a:rPr>
              <a:t>))</a:t>
            </a:r>
          </a:p>
        </p:txBody>
      </p:sp>
      <p:sp>
        <p:nvSpPr>
          <p:cNvPr id="23" name="TextBox 22"/>
          <p:cNvSpPr txBox="1"/>
          <p:nvPr/>
        </p:nvSpPr>
        <p:spPr>
          <a:xfrm>
            <a:off x="859536" y="5413248"/>
            <a:ext cx="7059167" cy="333756"/>
          </a:xfrm>
          <a:prstGeom prst="rect">
            <a:avLst/>
          </a:prstGeom>
          <a:noFill/>
          <a:effectLst/>
        </p:spPr>
        <p:txBody>
          <a:bodyPr wrap="none" lIns="0" rIns="0" tIns="0" bIns="0">
            <a:spAutoFit/>
          </a:bodyPr>
          <a:lstStyle/>
          <a:p>
            <a:pPr>
              <a:lnSpc>
                <a:spcPct val="100000"/>
              </a:lnSpc>
              <a:spcBef>
                <a:spcPts val="0"/>
              </a:spcBef>
              <a:spcAft>
                <a:spcPts val="0"/>
              </a:spcAft>
            </a:pPr>
            <a:r>
              <a:rPr sz="1800">
                <a:solidFill>
                  <a:srgbClr val="203142"/>
                </a:solidFill>
                <a:latin typeface="DejaVu Sans Mono"/>
              </a:rPr>
              <a:t>observations = np.concat(observations)</a:t>
            </a:r>
          </a:p>
        </p:txBody>
      </p:sp>
      <p:sp>
        <p:nvSpPr>
          <p:cNvPr id="24" name="TextBox 23"/>
          <p:cNvSpPr txBox="1"/>
          <p:nvPr/>
        </p:nvSpPr>
        <p:spPr>
          <a:xfrm>
            <a:off x="8430768" y="2331720"/>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BLANK CELL</a:t>
            </a:r>
          </a:p>
        </p:txBody>
      </p:sp>
      <p:sp>
        <p:nvSpPr>
          <p:cNvPr id="25" name="TextBox 24"/>
          <p:cNvSpPr txBox="1"/>
          <p:nvPr/>
        </p:nvSpPr>
        <p:spPr>
          <a:xfrm>
            <a:off x="8430768" y="2633472"/>
            <a:ext cx="3063240" cy="932688"/>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max(patch) &lt; 0.5</a:t>
            </a:r>
          </a:p>
          <a:p>
            <a:pPr algn="l">
              <a:lnSpc>
                <a:spcPct val="112000"/>
              </a:lnSpc>
              <a:spcBef>
                <a:spcPts val="0"/>
              </a:spcBef>
              <a:spcAft>
                <a:spcPts val="0"/>
              </a:spcAft>
            </a:pPr>
            <a:r>
              <a:rPr sz="1820" b="0">
                <a:solidFill>
                  <a:srgbClr val="203142"/>
                </a:solidFill>
                <a:latin typeface="Arial"/>
              </a:rPr>
              <a:t>Set index 26 to 1.</a:t>
            </a:r>
          </a:p>
        </p:txBody>
      </p:sp>
      <p:sp>
        <p:nvSpPr>
          <p:cNvPr id="26" name="TextBox 25"/>
          <p:cNvSpPr txBox="1"/>
          <p:nvPr/>
        </p:nvSpPr>
        <p:spPr>
          <a:xfrm>
            <a:off x="8430768" y="3621024"/>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LETTER CELL</a:t>
            </a:r>
          </a:p>
        </p:txBody>
      </p:sp>
      <p:sp>
        <p:nvSpPr>
          <p:cNvPr id="27" name="TextBox 26"/>
          <p:cNvSpPr txBox="1"/>
          <p:nvPr/>
        </p:nvSpPr>
        <p:spPr>
          <a:xfrm>
            <a:off x="8430768" y="3922776"/>
            <a:ext cx="3063240" cy="896112"/>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Set the CNN-predicted</a:t>
            </a:r>
          </a:p>
          <a:p>
            <a:pPr algn="l">
              <a:lnSpc>
                <a:spcPct val="112000"/>
              </a:lnSpc>
              <a:spcBef>
                <a:spcPts val="0"/>
              </a:spcBef>
              <a:spcAft>
                <a:spcPts val="0"/>
              </a:spcAft>
            </a:pPr>
            <a:r>
              <a:rPr sz="1820" b="0">
                <a:solidFill>
                  <a:srgbClr val="203142"/>
                </a:solidFill>
                <a:latin typeface="Arial"/>
              </a:rPr>
              <a:t>letter index to 1.</a:t>
            </a:r>
          </a:p>
        </p:txBody>
      </p:sp>
      <p:sp>
        <p:nvSpPr>
          <p:cNvPr id="28" name="TextBox 27"/>
          <p:cNvSpPr txBox="1"/>
          <p:nvPr/>
        </p:nvSpPr>
        <p:spPr>
          <a:xfrm>
            <a:off x="8430768" y="4837176"/>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KEEP EVERY POSITION</a:t>
            </a:r>
          </a:p>
        </p:txBody>
      </p:sp>
      <p:sp>
        <p:nvSpPr>
          <p:cNvPr id="29" name="TextBox 28"/>
          <p:cNvSpPr txBox="1"/>
          <p:nvPr/>
        </p:nvSpPr>
        <p:spPr>
          <a:xfrm>
            <a:off x="8430768" y="5138928"/>
            <a:ext cx="3063240" cy="1188720"/>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Shape: (T, 27).</a:t>
            </a:r>
          </a:p>
          <a:p>
            <a:pPr algn="l">
              <a:lnSpc>
                <a:spcPct val="112000"/>
              </a:lnSpc>
              <a:spcBef>
                <a:spcPts val="0"/>
              </a:spcBef>
              <a:spcAft>
                <a:spcPts val="0"/>
              </a:spcAft>
            </a:pPr>
            <a:r>
              <a:rPr sz="1820" b="0">
                <a:solidFill>
                  <a:srgbClr val="203142"/>
                </a:solidFill>
                <a:latin typeface="Arial"/>
              </a:rPr>
              <a:t>T = number of cells.</a:t>
            </a:r>
          </a:p>
        </p:txBody>
      </p:sp>
      <p:sp>
        <p:nvSpPr>
          <p:cNvPr id="30" name="Rounded Rectangle 29"/>
          <p:cNvSpPr/>
          <p:nvPr/>
        </p:nvSpPr>
        <p:spPr>
          <a:xfrm>
            <a:off x="640080" y="5998464"/>
            <a:ext cx="10908792" cy="292608"/>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50392" y="6026378"/>
            <a:ext cx="10488167" cy="256032"/>
          </a:xfrm>
          <a:prstGeom prst="rect">
            <a:avLst/>
          </a:prstGeom>
          <a:noFill/>
          <a:effectLst/>
        </p:spPr>
        <p:txBody>
          <a:bodyPr wrap="square" lIns="0" rIns="0" tIns="0" bIns="0">
            <a:spAutoFit/>
          </a:bodyPr>
          <a:lstStyle/>
          <a:p>
            <a:pPr algn="l">
              <a:lnSpc>
                <a:spcPct val="112000"/>
              </a:lnSpc>
              <a:spcBef>
                <a:spcPts val="0"/>
              </a:spcBef>
              <a:spcAft>
                <a:spcPts val="0"/>
              </a:spcAft>
            </a:pPr>
            <a:r>
              <a:rPr sz="1580" b="0">
                <a:solidFill>
                  <a:srgbClr val="203142"/>
                </a:solidFill>
                <a:latin typeface="Arial"/>
              </a:rPr>
              <a:t>The Markov model receives predicted labels—not the CNN’s full score vectors.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6 · MARKOV DECODING</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Call the supplied forward and backward routines</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A, B, pi and the observations are passed to updated_hmm.py.</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208–217; final-output path, diagnostic branch omitted</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07 / 09</a:t>
            </a:r>
          </a:p>
        </p:txBody>
      </p:sp>
      <p:sp>
        <p:nvSpPr>
          <p:cNvPr id="11" name="Rounded Rectangle 10"/>
          <p:cNvSpPr/>
          <p:nvPr/>
        </p:nvSpPr>
        <p:spPr>
          <a:xfrm>
            <a:off x="640080" y="2084831"/>
            <a:ext cx="10908792" cy="3630168"/>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231136"/>
            <a:ext cx="10488167"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MAIN BLOCK · FINAL-OUTPUT PATH (DIAGNOSTIC PRINTS OMITTED)</a:t>
            </a:r>
          </a:p>
        </p:txBody>
      </p:sp>
      <p:sp>
        <p:nvSpPr>
          <p:cNvPr id="13" name="TextBox 12"/>
          <p:cNvSpPr txBox="1"/>
          <p:nvPr/>
        </p:nvSpPr>
        <p:spPr>
          <a:xfrm>
            <a:off x="859536" y="2624327"/>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log_A = np.log(A + </a:t>
            </a:r>
            <a:r>
              <a:rPr sz="1870">
                <a:solidFill>
                  <a:srgbClr val="926034"/>
                </a:solidFill>
                <a:latin typeface="DejaVu Sans Mono"/>
              </a:rPr>
              <a:t>10e-6</a:t>
            </a:r>
            <a:r>
              <a:rPr sz="1870">
                <a:solidFill>
                  <a:srgbClr val="203142"/>
                </a:solidFill>
                <a:latin typeface="DejaVu Sans Mono"/>
              </a:rPr>
              <a:t>)</a:t>
            </a:r>
          </a:p>
        </p:txBody>
      </p:sp>
      <p:sp>
        <p:nvSpPr>
          <p:cNvPr id="14" name="TextBox 13"/>
          <p:cNvSpPr txBox="1"/>
          <p:nvPr/>
        </p:nvSpPr>
        <p:spPr>
          <a:xfrm>
            <a:off x="859536" y="2891332"/>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log_B = np.log(B + </a:t>
            </a:r>
            <a:r>
              <a:rPr sz="1870">
                <a:solidFill>
                  <a:srgbClr val="926034"/>
                </a:solidFill>
                <a:latin typeface="DejaVu Sans Mono"/>
              </a:rPr>
              <a:t>10e-6</a:t>
            </a:r>
            <a:r>
              <a:rPr sz="1870">
                <a:solidFill>
                  <a:srgbClr val="203142"/>
                </a:solidFill>
                <a:latin typeface="DejaVu Sans Mono"/>
              </a:rPr>
              <a:t>)</a:t>
            </a:r>
          </a:p>
        </p:txBody>
      </p:sp>
      <p:sp>
        <p:nvSpPr>
          <p:cNvPr id="15" name="TextBox 14"/>
          <p:cNvSpPr txBox="1"/>
          <p:nvPr/>
        </p:nvSpPr>
        <p:spPr>
          <a:xfrm>
            <a:off x="859536" y="3158337"/>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log_pi = np.log(pi)</a:t>
            </a:r>
          </a:p>
        </p:txBody>
      </p:sp>
      <p:sp>
        <p:nvSpPr>
          <p:cNvPr id="16" name="TextBox 15"/>
          <p:cNvSpPr txBox="1"/>
          <p:nvPr/>
        </p:nvSpPr>
        <p:spPr>
          <a:xfrm>
            <a:off x="859536" y="3425342"/>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
            </a:r>
          </a:p>
        </p:txBody>
      </p:sp>
      <p:sp>
        <p:nvSpPr>
          <p:cNvPr id="17" name="TextBox 16"/>
          <p:cNvSpPr txBox="1"/>
          <p:nvPr/>
        </p:nvSpPr>
        <p:spPr>
          <a:xfrm>
            <a:off x="859536" y="3692347"/>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log_alpha, log_likelihood = updated_hmm.forward_pass_log(</a:t>
            </a:r>
          </a:p>
        </p:txBody>
      </p:sp>
      <p:sp>
        <p:nvSpPr>
          <p:cNvPr id="18" name="TextBox 17"/>
          <p:cNvSpPr txBox="1"/>
          <p:nvPr/>
        </p:nvSpPr>
        <p:spPr>
          <a:xfrm>
            <a:off x="859536" y="3959352"/>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    log_pi, log_A, log_B, observations)</a:t>
            </a:r>
          </a:p>
        </p:txBody>
      </p:sp>
      <p:sp>
        <p:nvSpPr>
          <p:cNvPr id="19" name="TextBox 18"/>
          <p:cNvSpPr txBox="1"/>
          <p:nvPr/>
        </p:nvSpPr>
        <p:spPr>
          <a:xfrm>
            <a:off x="859536" y="4226356"/>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log_beta = updated_hmm.backward_pass_log(</a:t>
            </a:r>
          </a:p>
        </p:txBody>
      </p:sp>
      <p:sp>
        <p:nvSpPr>
          <p:cNvPr id="20" name="TextBox 19"/>
          <p:cNvSpPr txBox="1"/>
          <p:nvPr/>
        </p:nvSpPr>
        <p:spPr>
          <a:xfrm>
            <a:off x="859536" y="4493361"/>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    log_A, log_B, observations)</a:t>
            </a:r>
          </a:p>
        </p:txBody>
      </p:sp>
      <p:sp>
        <p:nvSpPr>
          <p:cNvPr id="21" name="TextBox 20"/>
          <p:cNvSpPr txBox="1"/>
          <p:nvPr/>
        </p:nvSpPr>
        <p:spPr>
          <a:xfrm>
            <a:off x="859536" y="4760366"/>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log_gamma, log_xi = updated_hmm.compute_expectations_log(</a:t>
            </a:r>
          </a:p>
        </p:txBody>
      </p:sp>
      <p:sp>
        <p:nvSpPr>
          <p:cNvPr id="22" name="TextBox 21"/>
          <p:cNvSpPr txBox="1"/>
          <p:nvPr/>
        </p:nvSpPr>
        <p:spPr>
          <a:xfrm>
            <a:off x="859536" y="5027371"/>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    log_alpha, log_beta, log_A, log_B,</a:t>
            </a:r>
          </a:p>
        </p:txBody>
      </p:sp>
      <p:sp>
        <p:nvSpPr>
          <p:cNvPr id="23" name="TextBox 22"/>
          <p:cNvSpPr txBox="1"/>
          <p:nvPr/>
        </p:nvSpPr>
        <p:spPr>
          <a:xfrm>
            <a:off x="859536" y="5294375"/>
            <a:ext cx="10469880" cy="321868"/>
          </a:xfrm>
          <a:prstGeom prst="rect">
            <a:avLst/>
          </a:prstGeom>
          <a:noFill/>
          <a:effectLst/>
        </p:spPr>
        <p:txBody>
          <a:bodyPr wrap="none" lIns="0" rIns="0" tIns="0" bIns="0">
            <a:spAutoFit/>
          </a:bodyPr>
          <a:lstStyle/>
          <a:p>
            <a:pPr>
              <a:lnSpc>
                <a:spcPct val="100000"/>
              </a:lnSpc>
              <a:spcBef>
                <a:spcPts val="0"/>
              </a:spcBef>
              <a:spcAft>
                <a:spcPts val="0"/>
              </a:spcAft>
            </a:pPr>
            <a:r>
              <a:rPr sz="1870">
                <a:solidFill>
                  <a:srgbClr val="203142"/>
                </a:solidFill>
                <a:latin typeface="DejaVu Sans Mono"/>
              </a:rPr>
              <a:t>    observations, log_likelihood)</a:t>
            </a:r>
          </a:p>
        </p:txBody>
      </p:sp>
      <p:sp>
        <p:nvSpPr>
          <p:cNvPr id="24" name="Rounded Rectangle 23"/>
          <p:cNvSpPr/>
          <p:nvPr/>
        </p:nvSpPr>
        <p:spPr>
          <a:xfrm>
            <a:off x="640080" y="5879592"/>
            <a:ext cx="3474720" cy="411480"/>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68096" y="5934456"/>
            <a:ext cx="859536" cy="173736"/>
          </a:xfrm>
          <a:prstGeom prst="rect">
            <a:avLst/>
          </a:prstGeom>
          <a:noFill/>
          <a:effectLst/>
        </p:spPr>
        <p:txBody>
          <a:bodyPr wrap="square" lIns="0" rIns="0" tIns="0" bIns="0">
            <a:spAutoFit/>
          </a:bodyPr>
          <a:lstStyle/>
          <a:p>
            <a:pPr algn="l">
              <a:lnSpc>
                <a:spcPct val="112000"/>
              </a:lnSpc>
              <a:spcBef>
                <a:spcPts val="0"/>
              </a:spcBef>
              <a:spcAft>
                <a:spcPts val="0"/>
              </a:spcAft>
            </a:pPr>
            <a:r>
              <a:rPr sz="910" b="1">
                <a:solidFill>
                  <a:srgbClr val="087F86"/>
                </a:solidFill>
                <a:latin typeface="Arial"/>
              </a:rPr>
              <a:t>FORWARD</a:t>
            </a:r>
          </a:p>
        </p:txBody>
      </p:sp>
      <p:sp>
        <p:nvSpPr>
          <p:cNvPr id="26" name="TextBox 25"/>
          <p:cNvSpPr txBox="1"/>
          <p:nvPr/>
        </p:nvSpPr>
        <p:spPr>
          <a:xfrm>
            <a:off x="768096" y="6089904"/>
            <a:ext cx="3218687" cy="182880"/>
          </a:xfrm>
          <a:prstGeom prst="rect">
            <a:avLst/>
          </a:prstGeom>
          <a:noFill/>
          <a:effectLst/>
        </p:spPr>
        <p:txBody>
          <a:bodyPr wrap="square" lIns="0" rIns="0" tIns="0" bIns="0">
            <a:spAutoFit/>
          </a:bodyPr>
          <a:lstStyle/>
          <a:p>
            <a:pPr algn="l">
              <a:lnSpc>
                <a:spcPct val="112000"/>
              </a:lnSpc>
              <a:spcBef>
                <a:spcPts val="0"/>
              </a:spcBef>
              <a:spcAft>
                <a:spcPts val="0"/>
              </a:spcAft>
            </a:pPr>
            <a:r>
              <a:rPr sz="1200" b="0">
                <a:solidFill>
                  <a:srgbClr val="203142"/>
                </a:solidFill>
                <a:latin typeface="Arial"/>
              </a:rPr>
              <a:t>log_alpha: prefix information</a:t>
            </a:r>
          </a:p>
        </p:txBody>
      </p:sp>
      <p:sp>
        <p:nvSpPr>
          <p:cNvPr id="27" name="Rounded Rectangle 26"/>
          <p:cNvSpPr/>
          <p:nvPr/>
        </p:nvSpPr>
        <p:spPr>
          <a:xfrm>
            <a:off x="4352544" y="5879592"/>
            <a:ext cx="3474720" cy="411480"/>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4480559" y="5934456"/>
            <a:ext cx="859536" cy="173736"/>
          </a:xfrm>
          <a:prstGeom prst="rect">
            <a:avLst/>
          </a:prstGeom>
          <a:noFill/>
          <a:effectLst/>
        </p:spPr>
        <p:txBody>
          <a:bodyPr wrap="square" lIns="0" rIns="0" tIns="0" bIns="0">
            <a:spAutoFit/>
          </a:bodyPr>
          <a:lstStyle/>
          <a:p>
            <a:pPr algn="l">
              <a:lnSpc>
                <a:spcPct val="112000"/>
              </a:lnSpc>
              <a:spcBef>
                <a:spcPts val="0"/>
              </a:spcBef>
              <a:spcAft>
                <a:spcPts val="0"/>
              </a:spcAft>
            </a:pPr>
            <a:r>
              <a:rPr sz="910" b="1">
                <a:solidFill>
                  <a:srgbClr val="087F86"/>
                </a:solidFill>
                <a:latin typeface="Arial"/>
              </a:rPr>
              <a:t>BACKWARD</a:t>
            </a:r>
          </a:p>
        </p:txBody>
      </p:sp>
      <p:sp>
        <p:nvSpPr>
          <p:cNvPr id="29" name="TextBox 28"/>
          <p:cNvSpPr txBox="1"/>
          <p:nvPr/>
        </p:nvSpPr>
        <p:spPr>
          <a:xfrm>
            <a:off x="4480559" y="6089904"/>
            <a:ext cx="3218687" cy="182880"/>
          </a:xfrm>
          <a:prstGeom prst="rect">
            <a:avLst/>
          </a:prstGeom>
          <a:noFill/>
          <a:effectLst/>
        </p:spPr>
        <p:txBody>
          <a:bodyPr wrap="square" lIns="0" rIns="0" tIns="0" bIns="0">
            <a:spAutoFit/>
          </a:bodyPr>
          <a:lstStyle/>
          <a:p>
            <a:pPr algn="l">
              <a:lnSpc>
                <a:spcPct val="112000"/>
              </a:lnSpc>
              <a:spcBef>
                <a:spcPts val="0"/>
              </a:spcBef>
              <a:spcAft>
                <a:spcPts val="0"/>
              </a:spcAft>
            </a:pPr>
            <a:r>
              <a:rPr sz="1200" b="0">
                <a:solidFill>
                  <a:srgbClr val="203142"/>
                </a:solidFill>
                <a:latin typeface="Arial"/>
              </a:rPr>
              <a:t>log_beta: future information</a:t>
            </a:r>
          </a:p>
        </p:txBody>
      </p:sp>
      <p:sp>
        <p:nvSpPr>
          <p:cNvPr id="30" name="Rounded Rectangle 29"/>
          <p:cNvSpPr/>
          <p:nvPr/>
        </p:nvSpPr>
        <p:spPr>
          <a:xfrm>
            <a:off x="8074152" y="5879592"/>
            <a:ext cx="3474720" cy="411480"/>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202168" y="5934456"/>
            <a:ext cx="859536" cy="173736"/>
          </a:xfrm>
          <a:prstGeom prst="rect">
            <a:avLst/>
          </a:prstGeom>
          <a:noFill/>
          <a:effectLst/>
        </p:spPr>
        <p:txBody>
          <a:bodyPr wrap="square" lIns="0" rIns="0" tIns="0" bIns="0">
            <a:spAutoFit/>
          </a:bodyPr>
          <a:lstStyle/>
          <a:p>
            <a:pPr algn="l">
              <a:lnSpc>
                <a:spcPct val="112000"/>
              </a:lnSpc>
              <a:spcBef>
                <a:spcPts val="0"/>
              </a:spcBef>
              <a:spcAft>
                <a:spcPts val="0"/>
              </a:spcAft>
            </a:pPr>
            <a:r>
              <a:rPr sz="910" b="1">
                <a:solidFill>
                  <a:srgbClr val="087F86"/>
                </a:solidFill>
                <a:latin typeface="Arial"/>
              </a:rPr>
              <a:t>COMBINE</a:t>
            </a:r>
          </a:p>
        </p:txBody>
      </p:sp>
      <p:sp>
        <p:nvSpPr>
          <p:cNvPr id="32" name="TextBox 31"/>
          <p:cNvSpPr txBox="1"/>
          <p:nvPr/>
        </p:nvSpPr>
        <p:spPr>
          <a:xfrm>
            <a:off x="8202168" y="6089904"/>
            <a:ext cx="3218687" cy="182880"/>
          </a:xfrm>
          <a:prstGeom prst="rect">
            <a:avLst/>
          </a:prstGeom>
          <a:noFill/>
          <a:effectLst/>
        </p:spPr>
        <p:txBody>
          <a:bodyPr wrap="square" lIns="0" rIns="0" tIns="0" bIns="0">
            <a:spAutoFit/>
          </a:bodyPr>
          <a:lstStyle/>
          <a:p>
            <a:pPr algn="l">
              <a:lnSpc>
                <a:spcPct val="112000"/>
              </a:lnSpc>
              <a:spcBef>
                <a:spcPts val="0"/>
              </a:spcBef>
              <a:spcAft>
                <a:spcPts val="0"/>
              </a:spcAft>
            </a:pPr>
            <a:r>
              <a:rPr sz="1200" b="0">
                <a:solidFill>
                  <a:srgbClr val="203142"/>
                </a:solidFill>
                <a:latin typeface="Arial"/>
              </a:rPr>
              <a:t>log_gamma: both 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sp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7726679" y="265176"/>
            <a:ext cx="3913632" cy="219456"/>
          </a:xfrm>
          <a:prstGeom prst="rect">
            <a:avLst/>
          </a:prstGeom>
          <a:noFill/>
          <a:effectLst/>
        </p:spPr>
        <p:txBody>
          <a:bodyPr wrap="square" lIns="0" rIns="0" tIns="0" bIns="0">
            <a:spAutoFit/>
          </a:bodyPr>
          <a:lstStyle/>
          <a:p>
            <a:pPr algn="r">
              <a:lnSpc>
                <a:spcPct val="112000"/>
              </a:lnSpc>
              <a:spcBef>
                <a:spcPts val="0"/>
              </a:spcBef>
              <a:spcAft>
                <a:spcPts val="0"/>
              </a:spcAft>
            </a:pPr>
            <a:r>
              <a:rPr sz="1100" b="1">
                <a:solidFill>
                  <a:srgbClr val="087F86"/>
                </a:solidFill>
                <a:latin typeface="Arial"/>
              </a:rPr>
              <a:t>OCR.PY / 7 · TEXT OUTPUT</a:t>
            </a:r>
          </a:p>
        </p:txBody>
      </p:sp>
      <p:sp>
        <p:nvSpPr>
          <p:cNvPr id="5" name="TextBox 4"/>
          <p:cNvSpPr txBox="1"/>
          <p:nvPr/>
        </p:nvSpPr>
        <p:spPr>
          <a:xfrm>
            <a:off x="548640" y="786384"/>
            <a:ext cx="11082528" cy="594360"/>
          </a:xfrm>
          <a:prstGeom prst="rect">
            <a:avLst/>
          </a:prstGeom>
          <a:noFill/>
          <a:effectLst/>
        </p:spPr>
        <p:txBody>
          <a:bodyPr wrap="square" lIns="0" rIns="0" tIns="0" bIns="0">
            <a:spAutoFit/>
          </a:bodyPr>
          <a:lstStyle/>
          <a:p>
            <a:pPr algn="l">
              <a:lnSpc>
                <a:spcPct val="112000"/>
              </a:lnSpc>
              <a:spcBef>
                <a:spcPts val="0"/>
              </a:spcBef>
              <a:spcAft>
                <a:spcPts val="0"/>
              </a:spcAft>
            </a:pPr>
            <a:r>
              <a:rPr sz="3000" b="1">
                <a:solidFill>
                  <a:srgbClr val="203142"/>
                </a:solidFill>
                <a:latin typeface="Arial"/>
              </a:rPr>
              <a:t>Choose the character IDs and print the text</a:t>
            </a:r>
          </a:p>
        </p:txBody>
      </p:sp>
      <p:sp>
        <p:nvSpPr>
          <p:cNvPr id="6" name="TextBox 5"/>
          <p:cNvSpPr txBox="1"/>
          <p:nvPr/>
        </p:nvSpPr>
        <p:spPr>
          <a:xfrm>
            <a:off x="566928" y="1444752"/>
            <a:ext cx="11045952" cy="457200"/>
          </a:xfrm>
          <a:prstGeom prst="rect">
            <a:avLst/>
          </a:prstGeom>
          <a:noFill/>
          <a:effectLst/>
        </p:spPr>
        <p:txBody>
          <a:bodyPr wrap="square" lIns="0" rIns="0" tIns="0" bIns="0">
            <a:spAutoFit/>
          </a:bodyPr>
          <a:lstStyle/>
          <a:p>
            <a:pPr algn="l">
              <a:lnSpc>
                <a:spcPct val="112000"/>
              </a:lnSpc>
              <a:spcBef>
                <a:spcPts val="0"/>
              </a:spcBef>
              <a:spcAft>
                <a:spcPts val="0"/>
              </a:spcAft>
            </a:pPr>
            <a:r>
              <a:rPr sz="1750" b="0">
                <a:solidFill>
                  <a:srgbClr val="667583"/>
                </a:solidFill>
                <a:latin typeface="Arial"/>
              </a:rPr>
              <a:t>The final output is built from log_gamma, then mapped back to letters and spaces.</a:t>
            </a:r>
          </a:p>
        </p:txBody>
      </p:sp>
      <p:cxnSp>
        <p:nvCxnSpPr>
          <p:cNvPr id="7" name="Connector 6"/>
          <p:cNvCxnSpPr/>
          <p:nvPr/>
        </p:nvCxnSpPr>
        <p:spPr>
          <a:xfrm>
            <a:off x="548640" y="6400800"/>
            <a:ext cx="11091672" cy="0"/>
          </a:xfrm>
          <a:prstGeom prst="line">
            <a:avLst/>
          </a:prstGeom>
          <a:ln w="8890">
            <a:solidFill>
              <a:srgbClr val="D4DFEA"/>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sp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spAutoFit/>
          </a:bodyPr>
          <a:lstStyle/>
          <a:p>
            <a:pPr algn="ctr">
              <a:lnSpc>
                <a:spcPct val="112000"/>
              </a:lnSpc>
              <a:spcBef>
                <a:spcPts val="0"/>
              </a:spcBef>
              <a:spcAft>
                <a:spcPts val="0"/>
              </a:spcAft>
            </a:pPr>
            <a:r>
              <a:rPr sz="880" b="0">
                <a:solidFill>
                  <a:srgbClr val="667583"/>
                </a:solidFill>
                <a:latin typeface="Arial"/>
              </a:rPr>
              <a:t>ocr.py: 15–19, 219–223; Homework 2, p. 2, simple_test_4</a:t>
            </a:r>
          </a:p>
        </p:txBody>
      </p:sp>
      <p:sp>
        <p:nvSpPr>
          <p:cNvPr id="10" name="page_number"/>
          <p:cNvSpPr txBox="1"/>
          <p:nvPr/>
        </p:nvSpPr>
        <p:spPr>
          <a:xfrm>
            <a:off x="10460736" y="6492240"/>
            <a:ext cx="1170432" cy="210312"/>
          </a:xfrm>
          <a:prstGeom prst="rect">
            <a:avLst/>
          </a:prstGeom>
          <a:noFill/>
          <a:effectLst/>
        </p:spPr>
        <p:txBody>
          <a:bodyPr wrap="square" lIns="0" rIns="0" tIns="0" bIns="0">
            <a:spAutoFit/>
          </a:bodyPr>
          <a:lstStyle/>
          <a:p>
            <a:pPr algn="r">
              <a:lnSpc>
                <a:spcPct val="112000"/>
              </a:lnSpc>
              <a:spcBef>
                <a:spcPts val="0"/>
              </a:spcBef>
              <a:spcAft>
                <a:spcPts val="0"/>
              </a:spcAft>
            </a:pPr>
            <a:r>
              <a:rPr sz="1050" b="1">
                <a:solidFill>
                  <a:srgbClr val="667583"/>
                </a:solidFill>
                <a:latin typeface="Arial"/>
              </a:rPr>
              <a:t>08 / 09</a:t>
            </a:r>
          </a:p>
        </p:txBody>
      </p:sp>
      <p:sp>
        <p:nvSpPr>
          <p:cNvPr id="11" name="Rounded Rectangle 10"/>
          <p:cNvSpPr/>
          <p:nvPr/>
        </p:nvSpPr>
        <p:spPr>
          <a:xfrm>
            <a:off x="640080" y="2084831"/>
            <a:ext cx="7498079" cy="2331720"/>
          </a:xfrm>
          <a:prstGeom prst="roundRect">
            <a:avLst>
              <a:gd name="adj" fmla="val 8000"/>
            </a:avLst>
          </a:prstGeom>
          <a:solidFill>
            <a:srgbClr val="F0F4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50392" y="2231136"/>
            <a:ext cx="7077455" cy="201168"/>
          </a:xfrm>
          <a:prstGeom prst="rect">
            <a:avLst/>
          </a:prstGeom>
          <a:noFill/>
          <a:effectLst/>
        </p:spPr>
        <p:txBody>
          <a:bodyPr wrap="square" lIns="0" rIns="0" tIns="0" bIns="0">
            <a:spAutoFit/>
          </a:bodyPr>
          <a:lstStyle/>
          <a:p>
            <a:pPr algn="l">
              <a:lnSpc>
                <a:spcPct val="112000"/>
              </a:lnSpc>
              <a:spcBef>
                <a:spcPts val="0"/>
              </a:spcBef>
              <a:spcAft>
                <a:spcPts val="0"/>
              </a:spcAft>
            </a:pPr>
            <a:r>
              <a:rPr sz="1070" b="1">
                <a:solidFill>
                  <a:srgbClr val="667583"/>
                </a:solidFill>
                <a:latin typeface="Arial"/>
              </a:rPr>
              <a:t>FINAL-OUTPUT EXCERPT</a:t>
            </a:r>
          </a:p>
        </p:txBody>
      </p:sp>
      <p:sp>
        <p:nvSpPr>
          <p:cNvPr id="13" name="TextBox 12"/>
          <p:cNvSpPr txBox="1"/>
          <p:nvPr/>
        </p:nvSpPr>
        <p:spPr>
          <a:xfrm>
            <a:off x="859536" y="2624327"/>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smooth_prediction = </a:t>
            </a:r>
            <a:r>
              <a:rPr sz="2000">
                <a:solidFill>
                  <a:srgbClr val="177065"/>
                </a:solidFill>
                <a:latin typeface="DejaVu Sans Mono"/>
              </a:rPr>
              <a:t>''</a:t>
            </a:r>
            <a:r>
              <a:rPr sz="2000">
                <a:solidFill>
                  <a:srgbClr val="203142"/>
                </a:solidFill>
                <a:latin typeface="DejaVu Sans Mono"/>
              </a:rPr>
              <a:t>.join([</a:t>
            </a:r>
          </a:p>
        </p:txBody>
      </p:sp>
      <p:sp>
        <p:nvSpPr>
          <p:cNvPr id="14" name="TextBox 13"/>
          <p:cNvSpPr txBox="1"/>
          <p:nvPr/>
        </p:nvSpPr>
        <p:spPr>
          <a:xfrm>
            <a:off x="859536" y="2934208"/>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    idxToAlpha(ob)</a:t>
            </a:r>
          </a:p>
        </p:txBody>
      </p:sp>
      <p:sp>
        <p:nvSpPr>
          <p:cNvPr id="15" name="TextBox 14"/>
          <p:cNvSpPr txBox="1"/>
          <p:nvPr/>
        </p:nvSpPr>
        <p:spPr>
          <a:xfrm>
            <a:off x="859536" y="3244087"/>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    </a:t>
            </a:r>
            <a:r>
              <a:rPr sz="2000">
                <a:solidFill>
                  <a:srgbClr val="2D5BBB"/>
                </a:solidFill>
                <a:latin typeface="DejaVu Sans Mono"/>
              </a:rPr>
              <a:t>for</a:t>
            </a:r>
            <a:r>
              <a:rPr sz="2000">
                <a:solidFill>
                  <a:srgbClr val="203142"/>
                </a:solidFill>
                <a:latin typeface="DejaVu Sans Mono"/>
              </a:rPr>
              <a:t> ob </a:t>
            </a:r>
            <a:r>
              <a:rPr sz="2000">
                <a:solidFill>
                  <a:srgbClr val="2D5BBB"/>
                </a:solidFill>
                <a:latin typeface="DejaVu Sans Mono"/>
              </a:rPr>
              <a:t>in</a:t>
            </a:r>
            <a:r>
              <a:rPr sz="2000">
                <a:solidFill>
                  <a:srgbClr val="203142"/>
                </a:solidFill>
                <a:latin typeface="DejaVu Sans Mono"/>
              </a:rPr>
              <a:t> np.argmax(log_gamma, axis=</a:t>
            </a:r>
            <a:r>
              <a:rPr sz="2000">
                <a:solidFill>
                  <a:srgbClr val="926034"/>
                </a:solidFill>
                <a:latin typeface="DejaVu Sans Mono"/>
              </a:rPr>
              <a:t>1</a:t>
            </a:r>
            <a:r>
              <a:rPr sz="2000">
                <a:solidFill>
                  <a:srgbClr val="203142"/>
                </a:solidFill>
                <a:latin typeface="DejaVu Sans Mono"/>
              </a:rPr>
              <a:t>)</a:t>
            </a:r>
          </a:p>
        </p:txBody>
      </p:sp>
      <p:sp>
        <p:nvSpPr>
          <p:cNvPr id="16" name="TextBox 15"/>
          <p:cNvSpPr txBox="1"/>
          <p:nvPr/>
        </p:nvSpPr>
        <p:spPr>
          <a:xfrm>
            <a:off x="859536" y="3553967"/>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a:t>
            </a:r>
          </a:p>
        </p:txBody>
      </p:sp>
      <p:sp>
        <p:nvSpPr>
          <p:cNvPr id="17" name="TextBox 16"/>
          <p:cNvSpPr txBox="1"/>
          <p:nvPr/>
        </p:nvSpPr>
        <p:spPr>
          <a:xfrm>
            <a:off x="859536" y="3863847"/>
            <a:ext cx="7059167" cy="364743"/>
          </a:xfrm>
          <a:prstGeom prst="rect">
            <a:avLst/>
          </a:prstGeom>
          <a:noFill/>
          <a:effectLst/>
        </p:spPr>
        <p:txBody>
          <a:bodyPr wrap="none" lIns="0" rIns="0" tIns="0" bIns="0">
            <a:spAutoFit/>
          </a:bodyPr>
          <a:lstStyle/>
          <a:p>
            <a:pPr>
              <a:lnSpc>
                <a:spcPct val="100000"/>
              </a:lnSpc>
              <a:spcBef>
                <a:spcPts val="0"/>
              </a:spcBef>
              <a:spcAft>
                <a:spcPts val="0"/>
              </a:spcAft>
            </a:pPr>
            <a:r>
              <a:rPr sz="2000">
                <a:solidFill>
                  <a:srgbClr val="203142"/>
                </a:solidFill>
                <a:latin typeface="DejaVu Sans Mono"/>
              </a:rPr>
              <a:t>print(smooth_prediction)</a:t>
            </a:r>
          </a:p>
        </p:txBody>
      </p:sp>
      <p:sp>
        <p:nvSpPr>
          <p:cNvPr id="18" name="TextBox 17"/>
          <p:cNvSpPr txBox="1"/>
          <p:nvPr/>
        </p:nvSpPr>
        <p:spPr>
          <a:xfrm>
            <a:off x="8430768" y="2286000"/>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ARGMAX(AXIS=1)</a:t>
            </a:r>
          </a:p>
        </p:txBody>
      </p:sp>
      <p:sp>
        <p:nvSpPr>
          <p:cNvPr id="19" name="TextBox 18"/>
          <p:cNvSpPr txBox="1"/>
          <p:nvPr/>
        </p:nvSpPr>
        <p:spPr>
          <a:xfrm>
            <a:off x="8430768" y="2587752"/>
            <a:ext cx="3063240" cy="822960"/>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Choose one state ID</a:t>
            </a:r>
          </a:p>
          <a:p>
            <a:pPr algn="l">
              <a:lnSpc>
                <a:spcPct val="112000"/>
              </a:lnSpc>
              <a:spcBef>
                <a:spcPts val="0"/>
              </a:spcBef>
              <a:spcAft>
                <a:spcPts val="0"/>
              </a:spcAft>
            </a:pPr>
            <a:r>
              <a:rPr sz="1820" b="0">
                <a:solidFill>
                  <a:srgbClr val="203142"/>
                </a:solidFill>
                <a:latin typeface="Arial"/>
              </a:rPr>
              <a:t>for each cell.</a:t>
            </a:r>
          </a:p>
        </p:txBody>
      </p:sp>
      <p:sp>
        <p:nvSpPr>
          <p:cNvPr id="20" name="TextBox 19"/>
          <p:cNvSpPr txBox="1"/>
          <p:nvPr/>
        </p:nvSpPr>
        <p:spPr>
          <a:xfrm>
            <a:off x="8430768" y="3438144"/>
            <a:ext cx="3063240" cy="219456"/>
          </a:xfrm>
          <a:prstGeom prst="rect">
            <a:avLst/>
          </a:prstGeom>
          <a:noFill/>
          <a:effectLst/>
        </p:spPr>
        <p:txBody>
          <a:bodyPr wrap="square" lIns="0" rIns="0" tIns="0" bIns="0">
            <a:spAutoFit/>
          </a:bodyPr>
          <a:lstStyle/>
          <a:p>
            <a:pPr algn="l">
              <a:lnSpc>
                <a:spcPct val="112000"/>
              </a:lnSpc>
              <a:spcBef>
                <a:spcPts val="0"/>
              </a:spcBef>
              <a:spcAft>
                <a:spcPts val="0"/>
              </a:spcAft>
            </a:pPr>
            <a:r>
              <a:rPr sz="1170" b="1">
                <a:solidFill>
                  <a:srgbClr val="087F86"/>
                </a:solidFill>
                <a:latin typeface="Arial"/>
              </a:rPr>
              <a:t>IDXTOALPHA</a:t>
            </a:r>
          </a:p>
        </p:txBody>
      </p:sp>
      <p:sp>
        <p:nvSpPr>
          <p:cNvPr id="21" name="TextBox 20"/>
          <p:cNvSpPr txBox="1"/>
          <p:nvPr/>
        </p:nvSpPr>
        <p:spPr>
          <a:xfrm>
            <a:off x="8430768" y="3739896"/>
            <a:ext cx="3063240" cy="795528"/>
          </a:xfrm>
          <a:prstGeom prst="rect">
            <a:avLst/>
          </a:prstGeom>
          <a:noFill/>
          <a:effectLst/>
        </p:spPr>
        <p:txBody>
          <a:bodyPr wrap="square" lIns="0" rIns="0" tIns="0" bIns="0">
            <a:spAutoFit/>
          </a:bodyPr>
          <a:lstStyle/>
          <a:p>
            <a:pPr algn="l">
              <a:lnSpc>
                <a:spcPct val="112000"/>
              </a:lnSpc>
              <a:spcBef>
                <a:spcPts val="0"/>
              </a:spcBef>
              <a:spcAft>
                <a:spcPts val="0"/>
              </a:spcAft>
            </a:pPr>
            <a:r>
              <a:rPr sz="1820" b="0">
                <a:solidFill>
                  <a:srgbClr val="203142"/>
                </a:solidFill>
                <a:latin typeface="Arial"/>
              </a:rPr>
              <a:t>0–25 → a–z</a:t>
            </a:r>
          </a:p>
          <a:p>
            <a:pPr algn="l">
              <a:lnSpc>
                <a:spcPct val="112000"/>
              </a:lnSpc>
              <a:spcBef>
                <a:spcPts val="0"/>
              </a:spcBef>
              <a:spcAft>
                <a:spcPts val="0"/>
              </a:spcAft>
            </a:pPr>
            <a:r>
              <a:rPr sz="1820" b="0">
                <a:solidFill>
                  <a:srgbClr val="203142"/>
                </a:solidFill>
                <a:latin typeface="Arial"/>
              </a:rPr>
              <a:t>26 → space</a:t>
            </a:r>
          </a:p>
        </p:txBody>
      </p:sp>
      <p:sp>
        <p:nvSpPr>
          <p:cNvPr id="22" name="Rounded Rectangle 21"/>
          <p:cNvSpPr/>
          <p:nvPr/>
        </p:nvSpPr>
        <p:spPr>
          <a:xfrm>
            <a:off x="640080" y="4709160"/>
            <a:ext cx="4919472" cy="932688"/>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501384" y="4709160"/>
            <a:ext cx="5047488" cy="932688"/>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59536" y="4864608"/>
            <a:ext cx="4480560" cy="210312"/>
          </a:xfrm>
          <a:prstGeom prst="rect">
            <a:avLst/>
          </a:prstGeom>
          <a:noFill/>
          <a:effectLst/>
        </p:spPr>
        <p:txBody>
          <a:bodyPr wrap="square" lIns="0" rIns="0" tIns="0" bIns="0">
            <a:spAutoFit/>
          </a:bodyPr>
          <a:lstStyle/>
          <a:p>
            <a:pPr algn="l">
              <a:lnSpc>
                <a:spcPct val="112000"/>
              </a:lnSpc>
              <a:spcBef>
                <a:spcPts val="0"/>
              </a:spcBef>
              <a:spcAft>
                <a:spcPts val="0"/>
              </a:spcAft>
            </a:pPr>
            <a:r>
              <a:rPr sz="1150" b="1">
                <a:solidFill>
                  <a:srgbClr val="2D5BBB"/>
                </a:solidFill>
                <a:latin typeface="Arial"/>
              </a:rPr>
              <a:t>RAW CNN OUTPUT</a:t>
            </a:r>
          </a:p>
        </p:txBody>
      </p:sp>
      <p:sp>
        <p:nvSpPr>
          <p:cNvPr id="25" name="TextBox 24"/>
          <p:cNvSpPr txBox="1"/>
          <p:nvPr/>
        </p:nvSpPr>
        <p:spPr>
          <a:xfrm>
            <a:off x="6720840" y="4864608"/>
            <a:ext cx="4535424" cy="210312"/>
          </a:xfrm>
          <a:prstGeom prst="rect">
            <a:avLst/>
          </a:prstGeom>
          <a:noFill/>
          <a:effectLst/>
        </p:spPr>
        <p:txBody>
          <a:bodyPr wrap="square" lIns="0" rIns="0" tIns="0" bIns="0">
            <a:spAutoFit/>
          </a:bodyPr>
          <a:lstStyle/>
          <a:p>
            <a:pPr algn="l">
              <a:lnSpc>
                <a:spcPct val="112000"/>
              </a:lnSpc>
              <a:spcBef>
                <a:spcPts val="0"/>
              </a:spcBef>
              <a:spcAft>
                <a:spcPts val="0"/>
              </a:spcAft>
            </a:pPr>
            <a:r>
              <a:rPr sz="1150" b="1">
                <a:solidFill>
                  <a:srgbClr val="087F86"/>
                </a:solidFill>
                <a:latin typeface="Arial"/>
              </a:rPr>
              <a:t>FINAL DECODED TEXT</a:t>
            </a:r>
          </a:p>
        </p:txBody>
      </p:sp>
      <p:sp>
        <p:nvSpPr>
          <p:cNvPr id="26" name="TextBox 25"/>
          <p:cNvSpPr txBox="1"/>
          <p:nvPr/>
        </p:nvSpPr>
        <p:spPr>
          <a:xfrm>
            <a:off x="859536" y="5212080"/>
            <a:ext cx="4526280" cy="301752"/>
          </a:xfrm>
          <a:prstGeom prst="rect">
            <a:avLst/>
          </a:prstGeom>
          <a:noFill/>
          <a:effectLst/>
        </p:spPr>
        <p:txBody>
          <a:bodyPr wrap="square" lIns="0" rIns="0" tIns="0" bIns="0">
            <a:spAutoFit/>
          </a:bodyPr>
          <a:lstStyle/>
          <a:p>
            <a:pPr algn="l">
              <a:lnSpc>
                <a:spcPct val="112000"/>
              </a:lnSpc>
              <a:spcBef>
                <a:spcPts val="0"/>
              </a:spcBef>
              <a:spcAft>
                <a:spcPts val="0"/>
              </a:spcAft>
            </a:pPr>
            <a:r>
              <a:rPr sz="2100" b="0">
                <a:solidFill>
                  <a:srgbClr val="203142"/>
                </a:solidFill>
                <a:latin typeface="DejaVu Sans Mono"/>
              </a:rPr>
              <a:t>hoid fast to dreams</a:t>
            </a:r>
          </a:p>
        </p:txBody>
      </p:sp>
      <p:sp>
        <p:nvSpPr>
          <p:cNvPr id="27" name="TextBox 26"/>
          <p:cNvSpPr txBox="1"/>
          <p:nvPr/>
        </p:nvSpPr>
        <p:spPr>
          <a:xfrm>
            <a:off x="6720840" y="5212080"/>
            <a:ext cx="4572000" cy="301752"/>
          </a:xfrm>
          <a:prstGeom prst="rect">
            <a:avLst/>
          </a:prstGeom>
          <a:noFill/>
          <a:effectLst/>
        </p:spPr>
        <p:txBody>
          <a:bodyPr wrap="square" lIns="0" rIns="0" tIns="0" bIns="0">
            <a:spAutoFit/>
          </a:bodyPr>
          <a:lstStyle/>
          <a:p>
            <a:pPr algn="l">
              <a:lnSpc>
                <a:spcPct val="112000"/>
              </a:lnSpc>
              <a:spcBef>
                <a:spcPts val="0"/>
              </a:spcBef>
              <a:spcAft>
                <a:spcPts val="0"/>
              </a:spcAft>
            </a:pPr>
            <a:r>
              <a:rPr sz="2100" b="0">
                <a:solidFill>
                  <a:srgbClr val="203142"/>
                </a:solidFill>
                <a:latin typeface="DejaVu Sans Mono"/>
              </a:rPr>
              <a:t>hold fast to dreams</a:t>
            </a:r>
          </a:p>
        </p:txBody>
      </p:sp>
      <p:sp>
        <p:nvSpPr>
          <p:cNvPr id="28" name="TextBox 27"/>
          <p:cNvSpPr txBox="1"/>
          <p:nvPr/>
        </p:nvSpPr>
        <p:spPr>
          <a:xfrm>
            <a:off x="5769864" y="4983480"/>
            <a:ext cx="530352" cy="475488"/>
          </a:xfrm>
          <a:prstGeom prst="rect">
            <a:avLst/>
          </a:prstGeom>
          <a:noFill/>
          <a:effectLst/>
        </p:spPr>
        <p:txBody>
          <a:bodyPr wrap="square" lIns="0" rIns="0" tIns="0" bIns="0">
            <a:spAutoFit/>
          </a:bodyPr>
          <a:lstStyle/>
          <a:p>
            <a:pPr algn="l">
              <a:lnSpc>
                <a:spcPct val="112000"/>
              </a:lnSpc>
              <a:spcBef>
                <a:spcPts val="0"/>
              </a:spcBef>
              <a:spcAft>
                <a:spcPts val="0"/>
              </a:spcAft>
            </a:pPr>
            <a:r>
              <a:rPr sz="3100" b="1">
                <a:solidFill>
                  <a:srgbClr val="667583"/>
                </a:solidFill>
                <a:latin typeface="Arial"/>
              </a:rPr>
              <a:t>→</a:t>
            </a:r>
          </a:p>
        </p:txBody>
      </p:sp>
      <p:sp>
        <p:nvSpPr>
          <p:cNvPr id="29" name="TextBox 28"/>
          <p:cNvSpPr txBox="1"/>
          <p:nvPr/>
        </p:nvSpPr>
        <p:spPr>
          <a:xfrm>
            <a:off x="713232" y="5760720"/>
            <a:ext cx="10652760" cy="274320"/>
          </a:xfrm>
          <a:prstGeom prst="rect">
            <a:avLst/>
          </a:prstGeom>
          <a:noFill/>
          <a:effectLst/>
        </p:spPr>
        <p:txBody>
          <a:bodyPr wrap="square" lIns="0" rIns="0" tIns="0" bIns="0">
            <a:spAutoFit/>
          </a:bodyPr>
          <a:lstStyle/>
          <a:p>
            <a:pPr algn="l">
              <a:lnSpc>
                <a:spcPct val="112000"/>
              </a:lnSpc>
              <a:spcBef>
                <a:spcPts val="0"/>
              </a:spcBef>
              <a:spcAft>
                <a:spcPts val="0"/>
              </a:spcAft>
            </a:pPr>
            <a:r>
              <a:rPr sz="1400" b="0">
                <a:solidFill>
                  <a:srgbClr val="667583"/>
                </a:solidFill>
                <a:latin typeface="Arial"/>
              </a:rPr>
              <a:t>Example from the homework; the result depends on the trained CNN and n-grams.</a:t>
            </a:r>
          </a:p>
        </p:txBody>
      </p:sp>
      <p:sp>
        <p:nvSpPr>
          <p:cNvPr id="30" name="Rounded Rectangle 29"/>
          <p:cNvSpPr/>
          <p:nvPr/>
        </p:nvSpPr>
        <p:spPr>
          <a:xfrm>
            <a:off x="640080" y="6053328"/>
            <a:ext cx="10908792" cy="237744"/>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50392" y="6067298"/>
            <a:ext cx="10488167" cy="209804"/>
          </a:xfrm>
          <a:prstGeom prst="rect">
            <a:avLst/>
          </a:prstGeom>
          <a:noFill/>
          <a:effectLst/>
        </p:spPr>
        <p:txBody>
          <a:bodyPr wrap="square" lIns="0" rIns="0" tIns="0" bIns="0">
            <a:spAutoFit/>
          </a:bodyPr>
          <a:lstStyle/>
          <a:p>
            <a:pPr algn="l">
              <a:lnSpc>
                <a:spcPct val="112000"/>
              </a:lnSpc>
              <a:spcBef>
                <a:spcPts val="0"/>
              </a:spcBef>
              <a:spcAft>
                <a:spcPts val="0"/>
              </a:spcAft>
            </a:pPr>
            <a:r>
              <a:rPr sz="1400" b="0">
                <a:solidFill>
                  <a:srgbClr val="203142"/>
                </a:solidFill>
                <a:latin typeface="Arial"/>
              </a:rPr>
              <a:t>The last printed line is graded: decoded text only, without a prefix.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D"/>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2D5BB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48640" y="265176"/>
            <a:ext cx="7680960" cy="219456"/>
          </a:xfrm>
          <a:prstGeom prst="rect">
            <a:avLst/>
          </a:prstGeom>
          <a:noFill/>
          <a:effectLst/>
        </p:spPr>
        <p:txBody>
          <a:bodyPr wrap="square" lIns="0" rIns="0" tIns="0" bIns="0" anchor="ctr">
            <a:noAutofit/>
          </a:bodyPr>
          <a:lstStyle/>
          <a:p>
            <a:pPr algn="l">
              <a:lnSpc>
                <a:spcPct val="112000"/>
              </a:lnSpc>
              <a:spcBef>
                <a:spcPts val="0"/>
              </a:spcBef>
              <a:spcAft>
                <a:spcPts val="0"/>
              </a:spcAft>
            </a:pPr>
            <a:r>
              <a:rPr sz="1120" b="1">
                <a:solidFill>
                  <a:srgbClr val="667583"/>
                </a:solidFill>
                <a:latin typeface="Arial"/>
              </a:rPr>
              <a:t>CS461 / MACHINE LEARNING PRINCIPLES</a:t>
            </a:r>
          </a:p>
        </p:txBody>
      </p:sp>
      <p:sp>
        <p:nvSpPr>
          <p:cNvPr id="4" name="TextBox 3"/>
          <p:cNvSpPr txBox="1"/>
          <p:nvPr/>
        </p:nvSpPr>
        <p:spPr>
          <a:xfrm>
            <a:off x="8229600" y="265176"/>
            <a:ext cx="3410712" cy="219456"/>
          </a:xfrm>
          <a:prstGeom prst="rect">
            <a:avLst/>
          </a:prstGeom>
          <a:noFill/>
          <a:effectLst/>
        </p:spPr>
        <p:txBody>
          <a:bodyPr wrap="square" lIns="0" rIns="0" tIns="0" bIns="0" anchor="ctr">
            <a:noAutofit/>
          </a:bodyPr>
          <a:lstStyle/>
          <a:p>
            <a:pPr algn="r">
              <a:lnSpc>
                <a:spcPct val="112000"/>
              </a:lnSpc>
              <a:spcBef>
                <a:spcPts val="0"/>
              </a:spcBef>
              <a:spcAft>
                <a:spcPts val="0"/>
              </a:spcAft>
            </a:pPr>
            <a:r>
              <a:rPr sz="1100" b="1">
                <a:solidFill>
                  <a:srgbClr val="087F86"/>
                </a:solidFill>
                <a:latin typeface="Arial"/>
              </a:rPr>
              <a:t>RUN + SUBMIT</a:t>
            </a:r>
          </a:p>
        </p:txBody>
      </p:sp>
      <p:sp>
        <p:nvSpPr>
          <p:cNvPr id="5" name="TextBox 4"/>
          <p:cNvSpPr txBox="1"/>
          <p:nvPr/>
        </p:nvSpPr>
        <p:spPr>
          <a:xfrm>
            <a:off x="548640" y="786384"/>
            <a:ext cx="11082528" cy="576072"/>
          </a:xfrm>
          <a:prstGeom prst="rect">
            <a:avLst/>
          </a:prstGeom>
          <a:noFill/>
          <a:effectLst/>
        </p:spPr>
        <p:txBody>
          <a:bodyPr wrap="square" lIns="0" rIns="0" tIns="0" bIns="0" anchor="ctr">
            <a:noAutofit/>
          </a:bodyPr>
          <a:lstStyle/>
          <a:p>
            <a:pPr algn="l">
              <a:lnSpc>
                <a:spcPct val="112000"/>
              </a:lnSpc>
              <a:spcBef>
                <a:spcPts val="0"/>
              </a:spcBef>
              <a:spcAft>
                <a:spcPts val="0"/>
              </a:spcAft>
            </a:pPr>
            <a:r>
              <a:rPr sz="3000" b="1">
                <a:solidFill>
                  <a:srgbClr val="203142"/>
                </a:solidFill>
                <a:latin typeface="Arial"/>
              </a:rPr>
              <a:t>Run OCR, then submit your files</a:t>
            </a:r>
          </a:p>
        </p:txBody>
      </p:sp>
      <p:sp>
        <p:nvSpPr>
          <p:cNvPr id="6" name="TextBox 5"/>
          <p:cNvSpPr txBox="1"/>
          <p:nvPr/>
        </p:nvSpPr>
        <p:spPr>
          <a:xfrm>
            <a:off x="566928" y="1444752"/>
            <a:ext cx="11045952" cy="457200"/>
          </a:xfrm>
          <a:prstGeom prst="rect">
            <a:avLst/>
          </a:prstGeom>
          <a:noFill/>
          <a:effectLst/>
        </p:spPr>
        <p:txBody>
          <a:bodyPr wrap="square" lIns="0" rIns="0" tIns="0" bIns="0" anchor="ctr">
            <a:noAutofit/>
          </a:bodyPr>
          <a:lstStyle/>
          <a:p>
            <a:pPr algn="l">
              <a:lnSpc>
                <a:spcPct val="112000"/>
              </a:lnSpc>
              <a:spcBef>
                <a:spcPts val="0"/>
              </a:spcBef>
              <a:spcAft>
                <a:spcPts val="0"/>
              </a:spcAft>
            </a:pPr>
            <a:r>
              <a:rPr sz="1750" b="0">
                <a:solidFill>
                  <a:srgbClr val="667583"/>
                </a:solidFill>
                <a:latin typeface="Arial"/>
              </a:rPr>
              <a:t>Example: ConvNet model, with the EMNIST files in ./data/EMNIST/raw/.</a:t>
            </a:r>
          </a:p>
        </p:txBody>
      </p:sp>
      <p:cxnSp>
        <p:nvCxnSpPr>
          <p:cNvPr id="7" name="Connector 6"/>
          <p:cNvCxnSpPr/>
          <p:nvPr/>
        </p:nvCxnSpPr>
        <p:spPr>
          <a:xfrm>
            <a:off x="548640" y="6437376"/>
            <a:ext cx="11091672" cy="0"/>
          </a:xfrm>
          <a:prstGeom prst="line">
            <a:avLst/>
          </a:prstGeom>
          <a:ln w="10160">
            <a:solidFill>
              <a:srgbClr val="D8DFE7"/>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48640" y="6528816"/>
            <a:ext cx="3474720" cy="164592"/>
          </a:xfrm>
          <a:prstGeom prst="rect">
            <a:avLst/>
          </a:prstGeom>
          <a:noFill/>
          <a:effectLst/>
        </p:spPr>
        <p:txBody>
          <a:bodyPr wrap="square" lIns="0" rIns="0" tIns="0" bIns="0" anchor="ctr">
            <a:noAutofit/>
          </a:bodyPr>
          <a:lstStyle/>
          <a:p>
            <a:pPr algn="l">
              <a:lnSpc>
                <a:spcPct val="112000"/>
              </a:lnSpc>
              <a:spcBef>
                <a:spcPts val="0"/>
              </a:spcBef>
              <a:spcAft>
                <a:spcPts val="0"/>
              </a:spcAft>
            </a:pPr>
            <a:r>
              <a:rPr sz="950" b="0">
                <a:solidFill>
                  <a:srgbClr val="667583"/>
                </a:solidFill>
                <a:latin typeface="Arial"/>
              </a:rPr>
              <a:t>HW2 / CNN + MARKOV OCR</a:t>
            </a:r>
          </a:p>
        </p:txBody>
      </p:sp>
      <p:sp>
        <p:nvSpPr>
          <p:cNvPr id="9" name="TextBox 8"/>
          <p:cNvSpPr txBox="1"/>
          <p:nvPr/>
        </p:nvSpPr>
        <p:spPr>
          <a:xfrm>
            <a:off x="3657600" y="6501384"/>
            <a:ext cx="6400800" cy="210312"/>
          </a:xfrm>
          <a:prstGeom prst="rect">
            <a:avLst/>
          </a:prstGeom>
          <a:noFill/>
          <a:effectLst/>
        </p:spPr>
        <p:txBody>
          <a:bodyPr wrap="square" lIns="0" rIns="0" tIns="0" bIns="0" anchor="ctr">
            <a:noAutofit/>
          </a:bodyPr>
          <a:lstStyle/>
          <a:p>
            <a:pPr algn="ctr">
              <a:lnSpc>
                <a:spcPct val="112000"/>
              </a:lnSpc>
              <a:spcBef>
                <a:spcPts val="0"/>
              </a:spcBef>
              <a:spcAft>
                <a:spcPts val="0"/>
              </a:spcAft>
            </a:pPr>
            <a:r>
              <a:rPr sz="880" b="0">
                <a:solidFill>
                  <a:srgbClr val="667583"/>
                </a:solidFill>
                <a:latin typeface="Arial"/>
              </a:rPr>
              <a:t>train_emnist.py; make_grammar.py; ocr.py; Homework 2, p. 1</a:t>
            </a:r>
          </a:p>
        </p:txBody>
      </p:sp>
      <p:sp>
        <p:nvSpPr>
          <p:cNvPr id="10" name="TextBox 9"/>
          <p:cNvSpPr txBox="1"/>
          <p:nvPr/>
        </p:nvSpPr>
        <p:spPr>
          <a:xfrm>
            <a:off x="10460736" y="6492240"/>
            <a:ext cx="1170432" cy="210312"/>
          </a:xfrm>
          <a:prstGeom prst="rect">
            <a:avLst/>
          </a:prstGeom>
          <a:noFill/>
          <a:effectLst/>
        </p:spPr>
        <p:txBody>
          <a:bodyPr wrap="square" lIns="0" rIns="0" tIns="0" bIns="0" anchor="ctr">
            <a:noAutofit/>
          </a:bodyPr>
          <a:lstStyle/>
          <a:p>
            <a:pPr algn="r">
              <a:lnSpc>
                <a:spcPct val="112000"/>
              </a:lnSpc>
              <a:spcBef>
                <a:spcPts val="0"/>
              </a:spcBef>
              <a:spcAft>
                <a:spcPts val="0"/>
              </a:spcAft>
            </a:pPr>
            <a:r>
              <a:rPr sz="1050" b="1">
                <a:solidFill>
                  <a:srgbClr val="667583"/>
                </a:solidFill>
                <a:latin typeface="Arial"/>
              </a:rPr>
              <a:t>09 / 09</a:t>
            </a:r>
          </a:p>
        </p:txBody>
      </p:sp>
      <p:sp>
        <p:nvSpPr>
          <p:cNvPr id="11" name="Rounded Rectangle 10"/>
          <p:cNvSpPr/>
          <p:nvPr/>
        </p:nvSpPr>
        <p:spPr>
          <a:xfrm>
            <a:off x="630936" y="2157984"/>
            <a:ext cx="1682496" cy="603504"/>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450592" y="2157984"/>
            <a:ext cx="9107424" cy="60350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58952" y="2249424"/>
            <a:ext cx="1426464" cy="420624"/>
          </a:xfrm>
          <a:prstGeom prst="rect">
            <a:avLst/>
          </a:prstGeom>
          <a:noFill/>
          <a:effectLst/>
        </p:spPr>
        <p:txBody>
          <a:bodyPr wrap="square" lIns="0" rIns="0" tIns="0" bIns="0" anchor="ctr">
            <a:noAutofit/>
          </a:bodyPr>
          <a:lstStyle/>
          <a:p>
            <a:pPr algn="l">
              <a:lnSpc>
                <a:spcPct val="112000"/>
              </a:lnSpc>
              <a:spcBef>
                <a:spcPts val="0"/>
              </a:spcBef>
              <a:spcAft>
                <a:spcPts val="0"/>
              </a:spcAft>
            </a:pPr>
            <a:r>
              <a:rPr sz="1240" b="1">
                <a:solidFill>
                  <a:srgbClr val="2D5BBB"/>
                </a:solidFill>
                <a:latin typeface="Arial"/>
              </a:rPr>
              <a:t>1  TRAIN</a:t>
            </a:r>
          </a:p>
        </p:txBody>
      </p:sp>
      <p:sp>
        <p:nvSpPr>
          <p:cNvPr id="14" name="TextBox 13"/>
          <p:cNvSpPr txBox="1"/>
          <p:nvPr/>
        </p:nvSpPr>
        <p:spPr>
          <a:xfrm>
            <a:off x="2615184" y="2231136"/>
            <a:ext cx="8787384" cy="457200"/>
          </a:xfrm>
          <a:prstGeom prst="rect">
            <a:avLst/>
          </a:prstGeom>
          <a:noFill/>
          <a:effectLst/>
        </p:spPr>
        <p:txBody>
          <a:bodyPr wrap="square" lIns="0" rIns="0" tIns="0" bIns="0" anchor="ctr">
            <a:noAutofit/>
          </a:bodyPr>
          <a:lstStyle/>
          <a:p>
            <a:pPr algn="l">
              <a:lnSpc>
                <a:spcPct val="132000"/>
              </a:lnSpc>
              <a:spcBef>
                <a:spcPts val="0"/>
              </a:spcBef>
              <a:spcAft>
                <a:spcPts val="0"/>
              </a:spcAft>
            </a:pPr>
            <a:r>
              <a:rPr sz="1700" b="0">
                <a:solidFill>
                  <a:srgbClr val="203142"/>
                </a:solidFill>
                <a:latin typeface="DejaVu Sans Mono"/>
              </a:rPr>
              <a:t>python3 train_emnist.py --emnist_root ./data --version convnet</a:t>
            </a:r>
          </a:p>
        </p:txBody>
      </p:sp>
      <p:sp>
        <p:nvSpPr>
          <p:cNvPr id="15" name="Rounded Rectangle 14"/>
          <p:cNvSpPr/>
          <p:nvPr/>
        </p:nvSpPr>
        <p:spPr>
          <a:xfrm>
            <a:off x="630936" y="2880360"/>
            <a:ext cx="1682496" cy="832104"/>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2450592" y="2880360"/>
            <a:ext cx="9107424" cy="83210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58952" y="2971800"/>
            <a:ext cx="1426464" cy="649224"/>
          </a:xfrm>
          <a:prstGeom prst="rect">
            <a:avLst/>
          </a:prstGeom>
          <a:noFill/>
          <a:effectLst/>
        </p:spPr>
        <p:txBody>
          <a:bodyPr wrap="square" lIns="0" rIns="0" tIns="0" bIns="0" anchor="ctr">
            <a:noAutofit/>
          </a:bodyPr>
          <a:lstStyle/>
          <a:p>
            <a:pPr algn="l">
              <a:lnSpc>
                <a:spcPct val="112000"/>
              </a:lnSpc>
              <a:spcBef>
                <a:spcPts val="0"/>
              </a:spcBef>
              <a:spcAft>
                <a:spcPts val="0"/>
              </a:spcAft>
            </a:pPr>
            <a:r>
              <a:rPr sz="1240" b="1">
                <a:solidFill>
                  <a:srgbClr val="2D5BBB"/>
                </a:solidFill>
                <a:latin typeface="Arial"/>
              </a:rPr>
              <a:t>2  NAME FILES</a:t>
            </a:r>
          </a:p>
        </p:txBody>
      </p:sp>
      <p:sp>
        <p:nvSpPr>
          <p:cNvPr id="18" name="TextBox 17"/>
          <p:cNvSpPr txBox="1"/>
          <p:nvPr/>
        </p:nvSpPr>
        <p:spPr>
          <a:xfrm>
            <a:off x="2615184" y="2953512"/>
            <a:ext cx="8787384" cy="685800"/>
          </a:xfrm>
          <a:prstGeom prst="rect">
            <a:avLst/>
          </a:prstGeom>
          <a:noFill/>
          <a:effectLst/>
        </p:spPr>
        <p:txBody>
          <a:bodyPr wrap="square" lIns="0" rIns="0" tIns="0" bIns="0" anchor="ctr">
            <a:noAutofit/>
          </a:bodyPr>
          <a:lstStyle/>
          <a:p>
            <a:pPr algn="l">
              <a:lnSpc>
                <a:spcPct val="132000"/>
              </a:lnSpc>
              <a:spcBef>
                <a:spcPts val="0"/>
              </a:spcBef>
              <a:spcAft>
                <a:spcPts val="0"/>
              </a:spcAft>
            </a:pPr>
            <a:r>
              <a:rPr sz="1700" b="0">
                <a:solidFill>
                  <a:srgbClr val="203142"/>
                </a:solidFill>
                <a:latin typeface="DejaVu Sans Mono"/>
              </a:rPr>
              <a:t>cp convnet_config.yaml config.yaml</a:t>
            </a:r>
          </a:p>
          <a:p>
            <a:pPr algn="l">
              <a:lnSpc>
                <a:spcPct val="132000"/>
              </a:lnSpc>
              <a:spcBef>
                <a:spcPts val="0"/>
              </a:spcBef>
              <a:spcAft>
                <a:spcPts val="0"/>
              </a:spcAft>
            </a:pPr>
            <a:r>
              <a:rPr sz="1700" b="0">
                <a:solidFill>
                  <a:srgbClr val="203142"/>
                </a:solidFill>
                <a:latin typeface="DejaVu Sans Mono"/>
              </a:rPr>
              <a:t>cp ocr.py hw2.py</a:t>
            </a:r>
          </a:p>
        </p:txBody>
      </p:sp>
      <p:sp>
        <p:nvSpPr>
          <p:cNvPr id="19" name="Rounded Rectangle 18"/>
          <p:cNvSpPr/>
          <p:nvPr/>
        </p:nvSpPr>
        <p:spPr>
          <a:xfrm>
            <a:off x="630936" y="3831336"/>
            <a:ext cx="1682496" cy="603504"/>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2450592" y="3831336"/>
            <a:ext cx="9107424" cy="60350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58952" y="3922776"/>
            <a:ext cx="1426464" cy="420624"/>
          </a:xfrm>
          <a:prstGeom prst="rect">
            <a:avLst/>
          </a:prstGeom>
          <a:noFill/>
          <a:effectLst/>
        </p:spPr>
        <p:txBody>
          <a:bodyPr wrap="square" lIns="0" rIns="0" tIns="0" bIns="0" anchor="ctr">
            <a:noAutofit/>
          </a:bodyPr>
          <a:lstStyle/>
          <a:p>
            <a:pPr algn="l">
              <a:lnSpc>
                <a:spcPct val="112000"/>
              </a:lnSpc>
              <a:spcBef>
                <a:spcPts val="0"/>
              </a:spcBef>
              <a:spcAft>
                <a:spcPts val="0"/>
              </a:spcAft>
            </a:pPr>
            <a:r>
              <a:rPr sz="1240" b="1">
                <a:solidFill>
                  <a:srgbClr val="2D5BBB"/>
                </a:solidFill>
                <a:latin typeface="Arial"/>
              </a:rPr>
              <a:t>3  GRAMMAR</a:t>
            </a:r>
          </a:p>
        </p:txBody>
      </p:sp>
      <p:sp>
        <p:nvSpPr>
          <p:cNvPr id="22" name="TextBox 21"/>
          <p:cNvSpPr txBox="1"/>
          <p:nvPr/>
        </p:nvSpPr>
        <p:spPr>
          <a:xfrm>
            <a:off x="2615184" y="3904488"/>
            <a:ext cx="8787384" cy="457200"/>
          </a:xfrm>
          <a:prstGeom prst="rect">
            <a:avLst/>
          </a:prstGeom>
          <a:noFill/>
          <a:effectLst/>
        </p:spPr>
        <p:txBody>
          <a:bodyPr wrap="square" lIns="0" rIns="0" tIns="0" bIns="0" anchor="ctr">
            <a:noAutofit/>
          </a:bodyPr>
          <a:lstStyle/>
          <a:p>
            <a:pPr algn="l">
              <a:lnSpc>
                <a:spcPct val="132000"/>
              </a:lnSpc>
              <a:spcBef>
                <a:spcPts val="0"/>
              </a:spcBef>
              <a:spcAft>
                <a:spcPts val="0"/>
              </a:spcAft>
            </a:pPr>
            <a:r>
              <a:rPr sz="1700" b="0">
                <a:solidFill>
                  <a:srgbClr val="203142"/>
                </a:solidFill>
                <a:latin typeface="DejaVu Sans Mono"/>
              </a:rPr>
              <a:t>python3 make_grammar.py book.txt 1 config.yaml</a:t>
            </a:r>
          </a:p>
        </p:txBody>
      </p:sp>
      <p:sp>
        <p:nvSpPr>
          <p:cNvPr id="23" name="Rounded Rectangle 22"/>
          <p:cNvSpPr/>
          <p:nvPr/>
        </p:nvSpPr>
        <p:spPr>
          <a:xfrm>
            <a:off x="630936" y="4553712"/>
            <a:ext cx="1682496" cy="603504"/>
          </a:xfrm>
          <a:prstGeom prst="roundRect">
            <a:avLst>
              <a:gd name="adj" fmla="val 8000"/>
            </a:avLst>
          </a:prstGeom>
          <a:solidFill>
            <a:srgbClr val="EAF0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2450592" y="4553712"/>
            <a:ext cx="9107424" cy="603504"/>
          </a:xfrm>
          <a:prstGeom prst="roundRect">
            <a:avLst>
              <a:gd name="adj" fmla="val 8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58952" y="4645152"/>
            <a:ext cx="1426464" cy="420624"/>
          </a:xfrm>
          <a:prstGeom prst="rect">
            <a:avLst/>
          </a:prstGeom>
          <a:noFill/>
          <a:effectLst/>
        </p:spPr>
        <p:txBody>
          <a:bodyPr wrap="square" lIns="0" rIns="0" tIns="0" bIns="0" anchor="ctr">
            <a:noAutofit/>
          </a:bodyPr>
          <a:lstStyle/>
          <a:p>
            <a:pPr algn="l">
              <a:lnSpc>
                <a:spcPct val="112000"/>
              </a:lnSpc>
              <a:spcBef>
                <a:spcPts val="0"/>
              </a:spcBef>
              <a:spcAft>
                <a:spcPts val="0"/>
              </a:spcAft>
            </a:pPr>
            <a:r>
              <a:rPr sz="1240" b="1">
                <a:solidFill>
                  <a:srgbClr val="2D5BBB"/>
                </a:solidFill>
                <a:latin typeface="Arial"/>
              </a:rPr>
              <a:t>4  RUN</a:t>
            </a:r>
          </a:p>
        </p:txBody>
      </p:sp>
      <p:sp>
        <p:nvSpPr>
          <p:cNvPr id="26" name="TextBox 25"/>
          <p:cNvSpPr txBox="1"/>
          <p:nvPr/>
        </p:nvSpPr>
        <p:spPr>
          <a:xfrm>
            <a:off x="2615184" y="4626864"/>
            <a:ext cx="8787384" cy="457200"/>
          </a:xfrm>
          <a:prstGeom prst="rect">
            <a:avLst/>
          </a:prstGeom>
          <a:noFill/>
          <a:effectLst/>
        </p:spPr>
        <p:txBody>
          <a:bodyPr wrap="square" lIns="0" rIns="0" tIns="0" bIns="0" anchor="ctr">
            <a:noAutofit/>
          </a:bodyPr>
          <a:lstStyle/>
          <a:p>
            <a:pPr algn="l">
              <a:lnSpc>
                <a:spcPct val="132000"/>
              </a:lnSpc>
              <a:spcBef>
                <a:spcPts val="0"/>
              </a:spcBef>
              <a:spcAft>
                <a:spcPts val="0"/>
              </a:spcAft>
            </a:pPr>
            <a:r>
              <a:rPr sz="1700" b="0">
                <a:solidFill>
                  <a:srgbClr val="203142"/>
                </a:solidFill>
                <a:latin typeface="DejaVu Sans Mono"/>
              </a:rPr>
              <a:t>python3 hw2.py --config config.yaml --image input.png</a:t>
            </a:r>
          </a:p>
        </p:txBody>
      </p:sp>
      <p:sp>
        <p:nvSpPr>
          <p:cNvPr id="27" name="TextBox 26"/>
          <p:cNvSpPr txBox="1"/>
          <p:nvPr/>
        </p:nvSpPr>
        <p:spPr>
          <a:xfrm>
            <a:off x="768096" y="5404104"/>
            <a:ext cx="1115568" cy="265176"/>
          </a:xfrm>
          <a:prstGeom prst="rect">
            <a:avLst/>
          </a:prstGeom>
          <a:noFill/>
          <a:effectLst/>
        </p:spPr>
        <p:txBody>
          <a:bodyPr wrap="square" lIns="0" rIns="0" tIns="0" bIns="0" anchor="ctr">
            <a:noAutofit/>
          </a:bodyPr>
          <a:lstStyle/>
          <a:p>
            <a:pPr algn="l">
              <a:lnSpc>
                <a:spcPct val="112000"/>
              </a:lnSpc>
              <a:spcBef>
                <a:spcPts val="0"/>
              </a:spcBef>
              <a:spcAft>
                <a:spcPts val="0"/>
              </a:spcAft>
            </a:pPr>
            <a:r>
              <a:rPr sz="1250" b="1">
                <a:solidFill>
                  <a:srgbClr val="087F86"/>
                </a:solidFill>
                <a:latin typeface="Arial"/>
              </a:rPr>
              <a:t>SUBMIT</a:t>
            </a:r>
          </a:p>
        </p:txBody>
      </p:sp>
      <p:sp>
        <p:nvSpPr>
          <p:cNvPr id="28" name="TextBox 27"/>
          <p:cNvSpPr txBox="1"/>
          <p:nvPr/>
        </p:nvSpPr>
        <p:spPr>
          <a:xfrm>
            <a:off x="1901952" y="5367528"/>
            <a:ext cx="9500616" cy="320040"/>
          </a:xfrm>
          <a:prstGeom prst="rect">
            <a:avLst/>
          </a:prstGeom>
          <a:noFill/>
          <a:effectLst/>
        </p:spPr>
        <p:txBody>
          <a:bodyPr wrap="square" lIns="0" rIns="0" tIns="0" bIns="0" anchor="ctr">
            <a:noAutofit/>
          </a:bodyPr>
          <a:lstStyle/>
          <a:p>
            <a:pPr algn="l">
              <a:lnSpc>
                <a:spcPct val="112000"/>
              </a:lnSpc>
              <a:spcBef>
                <a:spcPts val="0"/>
              </a:spcBef>
              <a:spcAft>
                <a:spcPts val="0"/>
              </a:spcAft>
            </a:pPr>
            <a:r>
              <a:rPr sz="1810" b="1">
                <a:solidFill>
                  <a:srgbClr val="203142"/>
                </a:solidFill>
                <a:latin typeface="Arial"/>
              </a:rPr>
              <a:t>hw2.py + config.yaml + model weights + required helper files</a:t>
            </a:r>
          </a:p>
        </p:txBody>
      </p:sp>
      <p:sp>
        <p:nvSpPr>
          <p:cNvPr id="29" name="TextBox 28"/>
          <p:cNvSpPr txBox="1"/>
          <p:nvPr/>
        </p:nvSpPr>
        <p:spPr>
          <a:xfrm>
            <a:off x="1901952" y="5715000"/>
            <a:ext cx="9500616" cy="265176"/>
          </a:xfrm>
          <a:prstGeom prst="rect">
            <a:avLst/>
          </a:prstGeom>
          <a:noFill/>
          <a:effectLst/>
        </p:spPr>
        <p:txBody>
          <a:bodyPr wrap="square" lIns="0" rIns="0" tIns="0" bIns="0" anchor="ctr">
            <a:noAutofit/>
          </a:bodyPr>
          <a:lstStyle/>
          <a:p>
            <a:pPr algn="l">
              <a:lnSpc>
                <a:spcPct val="112000"/>
              </a:lnSpc>
              <a:spcBef>
                <a:spcPts val="0"/>
              </a:spcBef>
              <a:spcAft>
                <a:spcPts val="0"/>
              </a:spcAft>
            </a:pPr>
            <a:r>
              <a:rPr sz="1660" b="0">
                <a:solidFill>
                  <a:srgbClr val="667583"/>
                </a:solidFill>
                <a:latin typeface="Arial"/>
              </a:rPr>
              <a:t>Name supporting files in the YAML config.</a:t>
            </a:r>
          </a:p>
        </p:txBody>
      </p:sp>
      <p:sp>
        <p:nvSpPr>
          <p:cNvPr id="30" name="Rounded Rectangle 29"/>
          <p:cNvSpPr/>
          <p:nvPr/>
        </p:nvSpPr>
        <p:spPr>
          <a:xfrm>
            <a:off x="630936" y="6025896"/>
            <a:ext cx="10927080" cy="329184"/>
          </a:xfrm>
          <a:prstGeom prst="roundRect">
            <a:avLst>
              <a:gd name="adj" fmla="val 8000"/>
            </a:avLst>
          </a:prstGeom>
          <a:solidFill>
            <a:srgbClr val="E5F4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832104" y="6044184"/>
            <a:ext cx="10524744" cy="292608"/>
          </a:xfrm>
          <a:prstGeom prst="rect">
            <a:avLst/>
          </a:prstGeom>
          <a:noFill/>
          <a:effectLst/>
        </p:spPr>
        <p:txBody>
          <a:bodyPr wrap="square" lIns="0" rIns="0" tIns="0" bIns="0" anchor="ctr">
            <a:noAutofit/>
          </a:bodyPr>
          <a:lstStyle/>
          <a:p>
            <a:pPr algn="ctr">
              <a:lnSpc>
                <a:spcPct val="112000"/>
              </a:lnSpc>
              <a:spcBef>
                <a:spcPts val="0"/>
              </a:spcBef>
              <a:spcAft>
                <a:spcPts val="0"/>
              </a:spcAft>
            </a:pPr>
            <a:r>
              <a:rPr sz="1730" b="1">
                <a:solidFill>
                  <a:srgbClr val="087F86"/>
                </a:solidFill>
                <a:latin typeface="Arial"/>
              </a:rPr>
              <a:t>Final printed line: decoded text only, with no label or prefix.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CS461 HW2 — CNN + Markov OCR: ocr.py walkthrough</dc:title>
  <dc:subject>Concise recitation with selected source-code excerpts and Chinese speaker notes</dc:subject>
  <dc:creator>CS461 Recitation</dc:creator>
  <cp:keywords>CS461, HW2, OCR, CNN, Markov, ocr.py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