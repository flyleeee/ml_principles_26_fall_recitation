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0" autoAdjust="0"/>
    <p:restoredTop sz="94610"/>
  </p:normalViewPr>
  <p:slideViewPr>
    <p:cSldViewPr snapToGrid="0" snapToObjects="1">
      <p:cViewPr>
        <p:scale>
          <a:sx n="62" d="100"/>
          <a:sy n="62" d="100"/>
        </p:scale>
        <p:origin x="2669" y="1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0908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1 review
Timing: 00:00–00:30
CORE REVIEW
SUGGESTED ENGLISH DELIVERY
We have about twenty minutes to reconnect the ideas behind the sample questions. We are not going to memorize answer letters. We will practice how to explain an estimator, choose pseudocounts, and recognize what a model is learning. After the review, we will move to the quiz.
CLASSROOM PROMPT / ANSWER
No warm-up discussion here; start the MLE/MAP example immediately.
中文备课提示
开场控制在30秒。不要逐条讲目录，也不用再介绍quiz评分规则。正文聚焦lecture05/06末尾的公开例题；神经网络和优化细节只放备用页。
SOURCES / SCOPE
L5: https://firner.com/presentations/cs461/2026-Fall/cs461_05/
L6: https://firner.com/presentations/cs461/2026-Fall/cs461_06/
Lecture 05 says the quiz covers topics through that lecture. Lecture 06 adds further sample questions about earlier concepts. This deck does not claim to know the unseen quiz.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MLE and MAP optimize different objectives
Timing: 00:30–02:15
CORE REVIEW
SUGGESTED ENGLISH DELIVERY
Both methods use a likelihood: the probability of the observed data for a candidate parameter. MLE chooses the parameter that makes the observations most likely. MAP also includes a prior preference over parameters. For eight heads and two tails, the Bernoulli MLE is eight over ten. But with a small sample, that estimate can move a lot when we repeat the experiment. A prior can make it less sensitive to that small sample.
CLASSROOM PROMPT / ANSWER
Ask: “Does MLE maximize p(D given theta), or p(theta given D)?” Answer: p(D given theta). The second is the posterior used by MAP.
中文备课提示
重点区分likelihood和posterior。MLE不是“参数在给定数据后概率最大”，后者是MAP。8/10这个例子接到下一页的伪计数。不要在此页推导求导公式。
SOURCES / SCOPE
L1: https://firner.com/presentations/cs461/2026-Fall/cs461_01/
L2: https://firner.com/presentations/cs461/2026-Fall/cs461_02/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Pseudocounts encode preference and strength
Timing: 02:15–03:30
CORE REVIEW
SUGGESTED ENGLISH DELIVERY
A pseudocount is a way to represent a prior preference as additional counts. The ratio tells us which outcome the prior favors; the total tells us how strongly it favors that proportion. Add five heads and five tails to our observed eight and two. We get thirteen over twenty, or 0.65, between the observed proportion of 0.8 and the prior proportion of 0.5. If the pseudocounts stay fixed while the dataset grows, their relative influence gets smaller.
CLASSROOM PROMPT / ANSWER
Ask: “Do 5 and 5 have the same preferred proportion as 50 and 50?” Yes; 50 and 50 is stronger. Optional arithmetic: with 80 heads of 100 trials and the original 5+5 pseudocounts, MAP = 85/110 ≈ 0.773.
中文备课提示
只讲比例和总量两个旋钮。课件采用直接相加的M记号，不要把M与Beta/Dirichlet形状参数混用。若严格用Beta(a,b)的MAP，则M_H=a−1、M_T=b−1（内部众数适用时）。
SOURCES / SCOPE
L2: https://firner.com/presentations/cs461/2026-Fall/cs461_02/
This uses the course’s additive pseudocount convention. For an interior Beta/Dirichlet MAP, the additive pseudocounts equal shape parameters minus one. A posterior mean uses a different convention. Fixed priors, not priors whose strength grows with N, are intended in the large-data statement.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express a belief about a die
Timing: 03:30–04:15
CORE REVIEW
SUGGESTED ENGLISH DELIVERY
Take twenty seconds to choose six positive integer pseudocounts. Half the probability should go to face six, and the remaining half should be split equally across the other faces. You are not trying to guess a unique total. Any proportional set that satisfies those conditions is valid.
CLASSROOM PROMPT / ANSWER
Give 20 seconds of quiet thinking, then ask for one proposed vector. Do not reveal the next slide immediately. A valid minimal positive-integer vector is (1,1,1,1,1,5). Multiples of it also work.
中文备课提示
留20秒给学生自己算，不要看到空格就自己填。强调概率是“该面计数/总计数”，不是直接把0.5写成计数。
SOURCES / SCOPE
L5: https://firner.com/presentations/cs461/2026-Fall/cs461_05/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valid prior: (1, 1, 1, 1, 1, 5)
Timing: 04:15–05:45
CORE REVIEW
SUGGESTED ENGLISH DELIVERY
The first five faces have one count each, so together they have five counts. Face six also has five. That gives face six exactly half the total. Doubling every count preserves the proportions but increases the prior strength. Now imagine ten actual rolls, with face six appearing twice. The observed frequency is 0.2. The additive-count estimate is seven over twenty, or 0.35. It is pulled toward the prior preference of 0.5, not necessarily toward zero.
CLASSROOM PROMPT / ANSWER
Ask: “Why does (1,1,1,1,1,2) not work?” Because 2/7 is not 1/2. “Does a stronger prior have to change the preferred probability?” No. Ratio and total are separate.
中文备课提示
总计数=10，不是6。MAP分母一定是所有观察+所有伪计数。用0.2→0.35说明引入偏好并不等于“向0偏”。这组练习加了真实观察部分，帮助学生迁移而不是只背例题。
SOURCES / SCOPE
L2: https://firner.com/presentations/cs461/2026-Fall/cs461_02/
L5: https://firner.com/presentations/cs461/2026-Fall/cs461_05/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Unbiased does not mean lowest error
Timing: 05:45–07:30
CORE REVIEW
SUGGESTED ENGLISH DELIVERY
Imagine repeatedly collecting a dataset and estimating the same true quantity. Bias is the offset between the average estimate and that true quantity. Variance measures how much estimates move around across datasets. Our goal is small mean squared error, not zero bias at any cost. Estimator A has zero bias but variance nine, giving MSE nine. Estimator B has bias one and variance three, giving MSE four. The biased estimator is better on this metric.
CLASSROOM PROMPT / ANSWER
Ask students to compute B’s MSE before emphasizing the 4: one squared plus three. Do not say that MAP always lowers MSE; a poor prior can add too much squared bias.
中文备课提示
bias这里是统计估计偏差，不是模型截距b。MSE=variance+bias²是参数估计误差的分解，不含观测噪声；预测新带噪声标签时还要加不可约噪声。原lecture05的sin例题有歧义：在对称输入分布下0预测可有平均残差为0，但对固定x估计sin(x)，bias=−sin(x)，一般并非逐点无偏。不要在主讲中复述未经限定的“0对sin(x)无偏”。若学生问，说明必须先定义被估计量和期望针对的随机性。
SOURCES / SCOPE
L2: https://firner.com/presentations/cs461/2026-Fall/cs461_02/
L3: https://firner.com/presentations/cs461/2026-Fall/cs461_03/
The identity shown is for squared error in estimating a fixed scalar parameter. It does not imply that all MAP estimators uniformly dominate MLE. The ambiguous sine example in L5 is intentionally not used as a correctness rule.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noise does not call for more complexity
Timing: 07:30–09:00
CORE REVIEW
SUGGESTED ENGLISH DELIVERY
A complicated model may reduce training error by fitting random fluctuations rather than a reproducible pattern. That is why lower training error is not sufficient evidence of a better model. In this schematic, validation error eventually increases. Additional independent observations can help us estimate the underlying pattern more reliably. For a simple average of independent noise terms, the variance is sigma squared over N. But more training data does not remove randomness from the next label we observe.
CLASSROOM PROMPT / ANSWER
Ask: “If the labels become noisier, should we automatically increase polynomial degree?” No. Use a suitable model, additional independent data, and validation to control overfitting.
中文备课提示
图是概念示意，不是教授实验数据。强调“噪声越大→一定需要更复杂模型”是错误的；“更多iid数据有助于估计”也不是每次都保证test accuracy上升。最后公式只用于独立噪声均值的直觉，别当成任意模型的泛化公式。
SOURCES / SCOPE
L3: https://firner.com/presentations/cs461/2026-Fall/cs461_03/
L4: https://firner.com/presentations/cs461/2026-Fall/cs461_04/
L5: https://firner.com/presentations/cs461/2026-Fall/cs461_05/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distribution does the model learn?
Timing: 09:00–10:30
CORE REVIEW
SUGGESTED ENGLISH DELIVERY
A generative classifier models how the features and labels occur together. Naive Bayes estimates class probabilities and the distribution of each feature within a class, assuming conditional independence of the features given the class. It can then use Bayes’ rule to classify. A discriminative model like logistic regression directly models the label distribution given the input. It does not have to model every aspect of the input distribution. That is the simpler learning target highlighted in the lecture examples.
CLASSROOM PROMPT / ANSWER
Ask: “Can Naive Bayes still output p(y given x)?” Yes. A model’s final prediction does not identify which distributions it learned. The independence assumption is conditional on the class, not unconditional independence of all features.
中文备课提示
不要把“能输出p(y|x)”当作判别式定义，因为朴素贝叶斯最后也算后验。判别式的学习目标通常更直接，而不是所有判别式模型都一定更简单/更准确/更可解释。可用垃圾邮件：NB先学每类邮件的词分布，logistic直接从词预测spam概率。
SOURCES / SCOPE
L1: https://firner.com/presentations/cs461/2026-Fall/cs461_01/
L3: https://firner.com/presentations/cs461/2026-Fall/cs461_03/
L6: https://firner.com/presentations/cs461/2026-Fall/cs461_06/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Regularization is a preference over parameters
Timing: 10:30–12:00
CORE REVIEW
SUGGESTED ENGLISH DELIVERY
Regularization adds a cost for some parameter choices. The data term rewards fitting observations, while the penalty expresses a preference. Ridge penalizes squared weight magnitudes and corresponds to a zero-centered Gaussian prior. Lasso penalizes absolute magnitudes and can produce exact zeros, corresponding to a Laplace prior. Increasing the polynomial degree changes which functions the model can represent. Increasing lambda changes which parameters it prefers within that feature set.
CLASSROOM PROMPT / ANSWER
Ask: “Does increasing lambda automatically add an x-squared feature?” No. “Does reducing all weights mean every prediction must approach zero?” Hold that thought for the next slide.
中文备课提示
L2前的1/2只是常数约定，为了梯度简洁，不影响核心解释。Gaussian/Laplace的对应是在以NLL为数据项的MAP解释下。不要承诺普通SGD+L1一定产生精确0，表述用can/promotes sparsity即可。
SOURCES / SCOPE
L4: https://firner.com/presentations/cs461/2026-Fall/cs461_04/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weights do not mean zero predictions
Timing: 12:00–13:15
CORE REVIEW
SUGGESTED ENGLISH DELIVERY
Look carefully at what is penalized. In the convention used here, we penalize w, not the intercept b. Suppose every weight is zero but the intercept is two. Linear regression predicts two everywhere. Logistic regression predicts sigmoid of two, about 0.88, everywhere. So penalizing weights is not the same as requiring the output to be zero. Also remember that the intercept called bias is a different concept from the statistical bias we discussed earlier.
CLASSROOM PROMPT / ANSWER
Ask: “If both w and b were zero in logistic regression, what would the probability be?” It would be 0.5, still not zero.
中文备课提示
这是lecture06例题最容易踩的坑。别只说regularization不影响输出——当然会间接影响；准确说它不直接要求输出接近0。若有实现连bias也惩罚，要另外讨论；本课采用不惩罚b的约定。
SOURCES / SCOPE
L4: https://firner.com/presentations/cs461/2026-Fall/cs461_04/
L6: https://firner.com/presentations/cs461/2026-Fall/cs461_06/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logistic boundary is where the score is zero
Timing: 13:15–14:30
CORE REVIEW
SUGGESTED ENGLISH DELIVERY
There are three different objects: a score, a probability, and a predicted label. The score is w transpose phi of x plus b. Sigmoid maps the score to a probability between zero and one. Thresholding that probability gives a class label. At the usual threshold of one half, the boundary occurs exactly where the score is zero. We can therefore understand the boundary by studying the score and the chosen features without calculating many sigmoid values.
CLASSROOM PROMPT / ANSWER
Ask: “If z is negative, is sigmoid(z) negative?” No: it is between zero and one half. “What moves or bends the decision boundary?” The weights, intercept, and chosen features.
中文备课提示
修正原讲义部分口语化“sigmoid输出0或1”：sigmoid本身输出概率，threshold才变标签。只用正负号理解边界，给下一页xy交互特征铺垫。
SOURCES / SCOPE
L4: https://firner.com/presentations/cs461/2026-Fall/cs461_04/
L5: https://firner.com/presentations/cs461/2026-Fall/cs461_05/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XOR needs an interaction feature
Timing: 14:30–16:45
CORE REVIEW
SUGGESTED ENGLISH DELIVERY
These are signed coordinates: minus one and plus one. Class one occupies opposite-sign corners, so a single straight line cannot separate the classes. Look at the product x one times x two. It is negative exactly at the two class-one corners and positive at the two class-zero corners. Adding that product as a feature makes the pattern easy. Choose the score to be minus that product. Now class-one points have positive scores and class-zero points have negative scores. The model is still linear in its expanded feature vector, even though its boundary in the original coordinates is not a single straight line.
CLASSROOM PROMPT / ANSWER
Pause 15 seconds: “What extra feature distinguishes same-sign from opposite-sign corners?” Answer: x₁x₂. Optional: “Would adding only x₁² and x₂² separate these four points?” No; both squared features equal one at every corner.
中文备课提示
一定说明本页坐标是±1，别把z=−x1x2直接套到0/1 XOR。若学生使用0/1坐标，可用z=x1+x2−2x1x2−0.5。交互项xy是教授例题重点，单独加x²、y²无法区分这四个角。主讲先看乘积符号再代入sigmoid，避免过度解释3D空间。
SOURCES / SCOPE
L3: https://firner.com/presentations/cs461/2026-Fall/cs461_03/
L6: https://firner.com/presentations/cs461/2026-Fall/cs461_06/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One-minute check: true or false?
Timing: 16:45–17:45
CORE REVIEW
SUGGESTED ENGLISH DELIVERY
Take thirty seconds and decide true or false for each statement. Try to attach a reason, not just a letter. Then we will check the four answers together.
CLASSROOM PROMPT / ANSWER
Keep the answer slide hidden during the thinking time. The answers are F, T, T, F. Ask for a show of hands or a quick verbal vote; do not spend a minute on each item.
中文备课提示
先给30秒独立判断，再点学生说原因。总共只用1分钟，解释留到下一页。答案FTTF。
SOURCES / SCOPE
L2: https://firner.com/presentations/cs461/2026-Fall/cs461_02/
L4: https://firner.com/presentations/cs461/2026-Fall/cs461_04/
L6: https://firner.com/presentations/cs461/2026-Fall/cs461_06/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use the distinction, not a slogan
Timing: 17:45–19:15
CORE REVIEW
SUGGESTED ENGLISH DELIVERY
A is false: zero bias alone does not minimize MSE. B is true: multiplying numerator and denominator by the same factor preserves proportions, but the total pseudocount increases. C is true: Naive Bayes assumes the features are independent conditional on the class. D is false: an L2 penalty acts on the selected parameters, not directly on the output probability. One last connection: with fixed pseudocounts, the data eventually outweigh the prior. That is why the additive-count MAP and MLE estimates approach each other as N grows.
CLASSROOM PROMPT / ANSWER
If students disagreed on an item, ask which term or distribution they were comparing. Use the counterexample w=0, b=2 for D. For A, reuse the numerical MSE table.
中文备课提示
逐题约15–20秒，剩余时间补充MLE/MAP大样本关系。避免把“MLE通常更高variance”说成任意统计模型无条件成立的定理；本课程伪计数/收缩估计情境下解释即可。
SOURCES / SCOPE
L2: https://firner.com/presentations/cs461/2026-Fall/cs461_02/
L4: https://firner.com/presentations/cs461/2026-Fall/cs461_04/
L6: https://firner.com/presentations/cs461/2026-Fall/cs461_06/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things to keep
Timing: 19:15–20:00
CORE REVIEW
SUGGESTED ENGLISH DELIVERY
Keep these four moves in mind. Count the observed and added observations correctly. Compare total error, not bias alone. Distinguish the distribution being learned from the final prediction, and distinguish parameter penalties from outputs. Finally, look for a feature interaction when a straight-line boundary cannot represent the pattern. Read the question carefully, especially whether it asks for true, false, or does not. We will stop the review here and move to the quiz.
CLASSROOM PROMPT / ANSWER
Stop at this slide for the timed review. The three following slides are optional references, not part of the 20-minute plan.
中文备课提示
到此必须收尾进入quiz，后面3页是备用，不要顺势全讲。若前面超时，缩短第14页讲解而不是挤压考试时间。
SOURCES / SCOPE
L2: https://firner.com/presentations/cs461/2026-Fall/cs461_02/
L3: https://firner.com/presentations/cs461/2026-Fall/cs461_03/
L4: https://firner.com/presentations/cs461/2026-Fall/cs461_04/
L6: https://firner.com/presentations/cs461/2026-Fall/cs461_06/
Concepts follow the course; the numbers and explanations here are original practice examples, not the actual quiz.</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4.svg"/><Relationship Id="rId4" Type="http://schemas.openxmlformats.org/officeDocument/2006/relationships/image" Target="../media/image23.svg"/></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00:00–00:30</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A 20-MINUTE RESET</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Quiz 1 review</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L5 · Firner L6 | Public sample-question topics</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1 / 15</a:t>
            </a:r>
            <a:endParaRPr lang="en-US" sz="1050" dirty="0"/>
          </a:p>
        </p:txBody>
      </p:sp>
      <p:sp>
        <p:nvSpPr>
          <p:cNvPr id="10" name="Text 8"/>
          <p:cNvSpPr/>
          <p:nvPr/>
        </p:nvSpPr>
        <p:spPr>
          <a:xfrm>
            <a:off x="585216" y="1728216"/>
            <a:ext cx="10789920" cy="457200"/>
          </a:xfrm>
          <a:prstGeom prst="rect">
            <a:avLst/>
          </a:prstGeom>
          <a:noFill/>
          <a:ln/>
        </p:spPr>
        <p:txBody>
          <a:bodyPr wrap="square" lIns="0" tIns="0" rIns="0" bIns="0" rtlCol="0" anchor="ctr">
            <a:spAutoFit/>
          </a:bodyPr>
          <a:lstStyle/>
          <a:p>
            <a:pPr marL="0" indent="0">
              <a:buNone/>
            </a:pPr>
            <a:r>
              <a:rPr lang="en-US" sz="2500" dirty="0">
                <a:solidFill>
                  <a:srgbClr val="5E6E80"/>
                </a:solidFill>
                <a:latin typeface="Aptos" pitchFamily="34" charset="0"/>
                <a:ea typeface="Aptos" pitchFamily="34" charset="-122"/>
                <a:cs typeface="Aptos" pitchFamily="34" charset="-120"/>
              </a:rPr>
              <a:t>Explain the idea. Use the equation. Check the claim.</a:t>
            </a:r>
            <a:endParaRPr lang="en-US" sz="2500" dirty="0"/>
          </a:p>
        </p:txBody>
      </p:sp>
      <p:sp>
        <p:nvSpPr>
          <p:cNvPr id="11" name="Shape 9"/>
          <p:cNvSpPr/>
          <p:nvPr/>
        </p:nvSpPr>
        <p:spPr>
          <a:xfrm>
            <a:off x="585216" y="2487168"/>
            <a:ext cx="5404104" cy="1115568"/>
          </a:xfrm>
          <a:prstGeom prst="rect">
            <a:avLst/>
          </a:prstGeom>
          <a:solidFill>
            <a:srgbClr val="FFFFFF"/>
          </a:solidFill>
          <a:ln w="6350">
            <a:solidFill>
              <a:srgbClr val="FFFFFF"/>
            </a:solidFill>
            <a:prstDash val="solid"/>
          </a:ln>
        </p:spPr>
      </p:sp>
      <p:sp>
        <p:nvSpPr>
          <p:cNvPr id="12" name="Text 10"/>
          <p:cNvSpPr/>
          <p:nvPr/>
        </p:nvSpPr>
        <p:spPr>
          <a:xfrm>
            <a:off x="786384" y="2697480"/>
            <a:ext cx="512064" cy="484632"/>
          </a:xfrm>
          <a:prstGeom prst="rect">
            <a:avLst/>
          </a:prstGeom>
          <a:noFill/>
          <a:ln/>
        </p:spPr>
        <p:txBody>
          <a:bodyPr wrap="square" lIns="0" tIns="0" rIns="0" bIns="0" rtlCol="0" anchor="ctr">
            <a:spAutoFit/>
          </a:bodyPr>
          <a:lstStyle/>
          <a:p>
            <a:pPr marL="0" indent="0">
              <a:buNone/>
            </a:pPr>
            <a:r>
              <a:rPr lang="en-US" sz="2600" b="1" dirty="0">
                <a:solidFill>
                  <a:srgbClr val="087F82"/>
                </a:solidFill>
                <a:latin typeface="Aptos" pitchFamily="34" charset="0"/>
                <a:ea typeface="Aptos" pitchFamily="34" charset="-122"/>
                <a:cs typeface="Aptos" pitchFamily="34" charset="-120"/>
              </a:rPr>
              <a:t>01</a:t>
            </a:r>
            <a:endParaRPr lang="en-US" sz="2600" dirty="0"/>
          </a:p>
        </p:txBody>
      </p:sp>
      <p:sp>
        <p:nvSpPr>
          <p:cNvPr id="13" name="Text 11"/>
          <p:cNvSpPr/>
          <p:nvPr/>
        </p:nvSpPr>
        <p:spPr>
          <a:xfrm>
            <a:off x="1490472" y="2660904"/>
            <a:ext cx="4206240" cy="219456"/>
          </a:xfrm>
          <a:prstGeom prst="rect">
            <a:avLst/>
          </a:prstGeom>
          <a:noFill/>
          <a:ln/>
        </p:spPr>
        <p:txBody>
          <a:bodyPr wrap="square" lIns="0" tIns="0" rIns="0" bIns="0" rtlCol="0" anchor="ctr">
            <a:spAutoFit/>
          </a:bodyPr>
          <a:lstStyle/>
          <a:p>
            <a:pPr marL="0" indent="0">
              <a:buNone/>
            </a:pPr>
            <a:r>
              <a:rPr lang="en-US" sz="1150" b="1" kern="0" spc="100" dirty="0">
                <a:solidFill>
                  <a:srgbClr val="5E6E80"/>
                </a:solidFill>
                <a:latin typeface="Aptos" pitchFamily="34" charset="0"/>
                <a:ea typeface="Aptos" pitchFamily="34" charset="-122"/>
                <a:cs typeface="Aptos" pitchFamily="34" charset="-120"/>
              </a:rPr>
              <a:t>ESTIMATE</a:t>
            </a:r>
            <a:endParaRPr lang="en-US" sz="1150" dirty="0"/>
          </a:p>
        </p:txBody>
      </p:sp>
      <p:sp>
        <p:nvSpPr>
          <p:cNvPr id="14" name="Text 12"/>
          <p:cNvSpPr/>
          <p:nvPr/>
        </p:nvSpPr>
        <p:spPr>
          <a:xfrm>
            <a:off x="1490472" y="2962656"/>
            <a:ext cx="4233672" cy="393192"/>
          </a:xfrm>
          <a:prstGeom prst="rect">
            <a:avLst/>
          </a:prstGeom>
          <a:noFill/>
          <a:ln/>
        </p:spPr>
        <p:txBody>
          <a:bodyPr wrap="square" lIns="0" tIns="0" rIns="0" bIns="0" rtlCol="0" anchor="ctr">
            <a:spAutoFit/>
          </a:bodyPr>
          <a:lstStyle/>
          <a:p>
            <a:pPr marL="0" indent="0">
              <a:buNone/>
            </a:pPr>
            <a:r>
              <a:rPr lang="en-US" sz="2100" b="1" dirty="0">
                <a:solidFill>
                  <a:srgbClr val="14263D"/>
                </a:solidFill>
                <a:latin typeface="Aptos" pitchFamily="34" charset="0"/>
                <a:ea typeface="Aptos" pitchFamily="34" charset="-122"/>
                <a:cs typeface="Aptos" pitchFamily="34" charset="-120"/>
              </a:rPr>
              <a:t>MLE, MAP, and pseudocounts</a:t>
            </a:r>
            <a:endParaRPr lang="en-US" sz="2100" dirty="0"/>
          </a:p>
        </p:txBody>
      </p:sp>
      <p:sp>
        <p:nvSpPr>
          <p:cNvPr id="15" name="Shape 13"/>
          <p:cNvSpPr/>
          <p:nvPr/>
        </p:nvSpPr>
        <p:spPr>
          <a:xfrm>
            <a:off x="6208776" y="2487168"/>
            <a:ext cx="5404104" cy="1115568"/>
          </a:xfrm>
          <a:prstGeom prst="rect">
            <a:avLst/>
          </a:prstGeom>
          <a:solidFill>
            <a:srgbClr val="FFFFFF"/>
          </a:solidFill>
          <a:ln w="6350">
            <a:solidFill>
              <a:srgbClr val="FFFFFF"/>
            </a:solidFill>
            <a:prstDash val="solid"/>
          </a:ln>
        </p:spPr>
      </p:sp>
      <p:sp>
        <p:nvSpPr>
          <p:cNvPr id="16" name="Text 14"/>
          <p:cNvSpPr/>
          <p:nvPr/>
        </p:nvSpPr>
        <p:spPr>
          <a:xfrm>
            <a:off x="6409944" y="2697480"/>
            <a:ext cx="512064" cy="484632"/>
          </a:xfrm>
          <a:prstGeom prst="rect">
            <a:avLst/>
          </a:prstGeom>
          <a:noFill/>
          <a:ln/>
        </p:spPr>
        <p:txBody>
          <a:bodyPr wrap="square" lIns="0" tIns="0" rIns="0" bIns="0" rtlCol="0" anchor="ctr">
            <a:spAutoFit/>
          </a:bodyPr>
          <a:lstStyle/>
          <a:p>
            <a:pPr marL="0" indent="0">
              <a:buNone/>
            </a:pPr>
            <a:r>
              <a:rPr lang="en-US" sz="2600" b="1" dirty="0">
                <a:solidFill>
                  <a:srgbClr val="087F82"/>
                </a:solidFill>
                <a:latin typeface="Aptos" pitchFamily="34" charset="0"/>
                <a:ea typeface="Aptos" pitchFamily="34" charset="-122"/>
                <a:cs typeface="Aptos" pitchFamily="34" charset="-120"/>
              </a:rPr>
              <a:t>02</a:t>
            </a:r>
            <a:endParaRPr lang="en-US" sz="2600" dirty="0"/>
          </a:p>
        </p:txBody>
      </p:sp>
      <p:sp>
        <p:nvSpPr>
          <p:cNvPr id="17" name="Text 15"/>
          <p:cNvSpPr/>
          <p:nvPr/>
        </p:nvSpPr>
        <p:spPr>
          <a:xfrm>
            <a:off x="7114032" y="2660904"/>
            <a:ext cx="4206240" cy="219456"/>
          </a:xfrm>
          <a:prstGeom prst="rect">
            <a:avLst/>
          </a:prstGeom>
          <a:noFill/>
          <a:ln/>
        </p:spPr>
        <p:txBody>
          <a:bodyPr wrap="square" lIns="0" tIns="0" rIns="0" bIns="0" rtlCol="0" anchor="ctr">
            <a:spAutoFit/>
          </a:bodyPr>
          <a:lstStyle/>
          <a:p>
            <a:pPr marL="0" indent="0">
              <a:buNone/>
            </a:pPr>
            <a:r>
              <a:rPr lang="en-US" sz="1150" b="1" kern="0" spc="100" dirty="0">
                <a:solidFill>
                  <a:srgbClr val="5E6E80"/>
                </a:solidFill>
                <a:latin typeface="Aptos" pitchFamily="34" charset="0"/>
                <a:ea typeface="Aptos" pitchFamily="34" charset="-122"/>
                <a:cs typeface="Aptos" pitchFamily="34" charset="-120"/>
              </a:rPr>
              <a:t>GENERALIZE</a:t>
            </a:r>
            <a:endParaRPr lang="en-US" sz="1150" dirty="0"/>
          </a:p>
        </p:txBody>
      </p:sp>
      <p:sp>
        <p:nvSpPr>
          <p:cNvPr id="18" name="Text 16"/>
          <p:cNvSpPr/>
          <p:nvPr/>
        </p:nvSpPr>
        <p:spPr>
          <a:xfrm>
            <a:off x="7114032" y="2962656"/>
            <a:ext cx="4233672" cy="393192"/>
          </a:xfrm>
          <a:prstGeom prst="rect">
            <a:avLst/>
          </a:prstGeom>
          <a:noFill/>
          <a:ln/>
        </p:spPr>
        <p:txBody>
          <a:bodyPr wrap="square" lIns="0" tIns="0" rIns="0" bIns="0" rtlCol="0" anchor="ctr">
            <a:spAutoFit/>
          </a:bodyPr>
          <a:lstStyle/>
          <a:p>
            <a:pPr marL="0" indent="0">
              <a:buNone/>
            </a:pPr>
            <a:r>
              <a:rPr lang="en-US" sz="2100" b="1" dirty="0">
                <a:solidFill>
                  <a:srgbClr val="14263D"/>
                </a:solidFill>
                <a:latin typeface="Aptos" pitchFamily="34" charset="0"/>
                <a:ea typeface="Aptos" pitchFamily="34" charset="-122"/>
                <a:cs typeface="Aptos" pitchFamily="34" charset="-120"/>
              </a:rPr>
              <a:t>Bias, variance, and noise</a:t>
            </a:r>
            <a:endParaRPr lang="en-US" sz="2100" dirty="0"/>
          </a:p>
        </p:txBody>
      </p:sp>
      <p:sp>
        <p:nvSpPr>
          <p:cNvPr id="19" name="Shape 17"/>
          <p:cNvSpPr/>
          <p:nvPr/>
        </p:nvSpPr>
        <p:spPr>
          <a:xfrm>
            <a:off x="585216" y="3813048"/>
            <a:ext cx="5404104" cy="1115568"/>
          </a:xfrm>
          <a:prstGeom prst="rect">
            <a:avLst/>
          </a:prstGeom>
          <a:solidFill>
            <a:srgbClr val="FFFFFF"/>
          </a:solidFill>
          <a:ln w="6350">
            <a:solidFill>
              <a:srgbClr val="FFFFFF"/>
            </a:solidFill>
            <a:prstDash val="solid"/>
          </a:ln>
        </p:spPr>
      </p:sp>
      <p:sp>
        <p:nvSpPr>
          <p:cNvPr id="20" name="Text 18"/>
          <p:cNvSpPr/>
          <p:nvPr/>
        </p:nvSpPr>
        <p:spPr>
          <a:xfrm>
            <a:off x="786384" y="4023360"/>
            <a:ext cx="512064" cy="484632"/>
          </a:xfrm>
          <a:prstGeom prst="rect">
            <a:avLst/>
          </a:prstGeom>
          <a:noFill/>
          <a:ln/>
        </p:spPr>
        <p:txBody>
          <a:bodyPr wrap="square" lIns="0" tIns="0" rIns="0" bIns="0" rtlCol="0" anchor="ctr">
            <a:spAutoFit/>
          </a:bodyPr>
          <a:lstStyle/>
          <a:p>
            <a:pPr marL="0" indent="0">
              <a:buNone/>
            </a:pPr>
            <a:r>
              <a:rPr lang="en-US" sz="2600" b="1" dirty="0">
                <a:solidFill>
                  <a:srgbClr val="087F82"/>
                </a:solidFill>
                <a:latin typeface="Aptos" pitchFamily="34" charset="0"/>
                <a:ea typeface="Aptos" pitchFamily="34" charset="-122"/>
                <a:cs typeface="Aptos" pitchFamily="34" charset="-120"/>
              </a:rPr>
              <a:t>03</a:t>
            </a:r>
            <a:endParaRPr lang="en-US" sz="2600" dirty="0"/>
          </a:p>
        </p:txBody>
      </p:sp>
      <p:sp>
        <p:nvSpPr>
          <p:cNvPr id="21" name="Text 19"/>
          <p:cNvSpPr/>
          <p:nvPr/>
        </p:nvSpPr>
        <p:spPr>
          <a:xfrm>
            <a:off x="1490472" y="3986784"/>
            <a:ext cx="4206240" cy="219456"/>
          </a:xfrm>
          <a:prstGeom prst="rect">
            <a:avLst/>
          </a:prstGeom>
          <a:noFill/>
          <a:ln/>
        </p:spPr>
        <p:txBody>
          <a:bodyPr wrap="square" lIns="0" tIns="0" rIns="0" bIns="0" rtlCol="0" anchor="ctr">
            <a:spAutoFit/>
          </a:bodyPr>
          <a:lstStyle/>
          <a:p>
            <a:pPr marL="0" indent="0">
              <a:buNone/>
            </a:pPr>
            <a:r>
              <a:rPr lang="en-US" sz="1150" b="1" kern="0" spc="100" dirty="0">
                <a:solidFill>
                  <a:srgbClr val="5E6E80"/>
                </a:solidFill>
                <a:latin typeface="Aptos" pitchFamily="34" charset="0"/>
                <a:ea typeface="Aptos" pitchFamily="34" charset="-122"/>
                <a:cs typeface="Aptos" pitchFamily="34" charset="-120"/>
              </a:rPr>
              <a:t>MODEL</a:t>
            </a:r>
            <a:endParaRPr lang="en-US" sz="1150" dirty="0"/>
          </a:p>
        </p:txBody>
      </p:sp>
      <p:sp>
        <p:nvSpPr>
          <p:cNvPr id="22" name="Text 20"/>
          <p:cNvSpPr/>
          <p:nvPr/>
        </p:nvSpPr>
        <p:spPr>
          <a:xfrm>
            <a:off x="1490472" y="4288536"/>
            <a:ext cx="4233672" cy="393192"/>
          </a:xfrm>
          <a:prstGeom prst="rect">
            <a:avLst/>
          </a:prstGeom>
          <a:noFill/>
          <a:ln/>
        </p:spPr>
        <p:txBody>
          <a:bodyPr wrap="square" lIns="0" tIns="0" rIns="0" bIns="0" rtlCol="0" anchor="ctr">
            <a:spAutoFit/>
          </a:bodyPr>
          <a:lstStyle/>
          <a:p>
            <a:pPr marL="0" indent="0">
              <a:buNone/>
            </a:pPr>
            <a:r>
              <a:rPr lang="en-US" sz="2100" b="1" dirty="0">
                <a:solidFill>
                  <a:srgbClr val="14263D"/>
                </a:solidFill>
                <a:latin typeface="Aptos" pitchFamily="34" charset="0"/>
                <a:ea typeface="Aptos" pitchFamily="34" charset="-122"/>
                <a:cs typeface="Aptos" pitchFamily="34" charset="-120"/>
              </a:rPr>
              <a:t>Generative vs. discriminative</a:t>
            </a:r>
            <a:endParaRPr lang="en-US" sz="2100" dirty="0"/>
          </a:p>
        </p:txBody>
      </p:sp>
      <p:sp>
        <p:nvSpPr>
          <p:cNvPr id="23" name="Shape 21"/>
          <p:cNvSpPr/>
          <p:nvPr/>
        </p:nvSpPr>
        <p:spPr>
          <a:xfrm>
            <a:off x="6208776" y="3813048"/>
            <a:ext cx="5404104" cy="1115568"/>
          </a:xfrm>
          <a:prstGeom prst="rect">
            <a:avLst/>
          </a:prstGeom>
          <a:solidFill>
            <a:srgbClr val="FFFFFF"/>
          </a:solidFill>
          <a:ln w="6350">
            <a:solidFill>
              <a:srgbClr val="FFFFFF"/>
            </a:solidFill>
            <a:prstDash val="solid"/>
          </a:ln>
        </p:spPr>
      </p:sp>
      <p:sp>
        <p:nvSpPr>
          <p:cNvPr id="24" name="Text 22"/>
          <p:cNvSpPr/>
          <p:nvPr/>
        </p:nvSpPr>
        <p:spPr>
          <a:xfrm>
            <a:off x="6409944" y="4023360"/>
            <a:ext cx="512064" cy="484632"/>
          </a:xfrm>
          <a:prstGeom prst="rect">
            <a:avLst/>
          </a:prstGeom>
          <a:noFill/>
          <a:ln/>
        </p:spPr>
        <p:txBody>
          <a:bodyPr wrap="square" lIns="0" tIns="0" rIns="0" bIns="0" rtlCol="0" anchor="ctr">
            <a:spAutoFit/>
          </a:bodyPr>
          <a:lstStyle/>
          <a:p>
            <a:pPr marL="0" indent="0">
              <a:buNone/>
            </a:pPr>
            <a:r>
              <a:rPr lang="en-US" sz="2600" b="1" dirty="0">
                <a:solidFill>
                  <a:srgbClr val="087F82"/>
                </a:solidFill>
                <a:latin typeface="Aptos" pitchFamily="34" charset="0"/>
                <a:ea typeface="Aptos" pitchFamily="34" charset="-122"/>
                <a:cs typeface="Aptos" pitchFamily="34" charset="-120"/>
              </a:rPr>
              <a:t>04</a:t>
            </a:r>
            <a:endParaRPr lang="en-US" sz="2600" dirty="0"/>
          </a:p>
        </p:txBody>
      </p:sp>
      <p:sp>
        <p:nvSpPr>
          <p:cNvPr id="25" name="Text 23"/>
          <p:cNvSpPr/>
          <p:nvPr/>
        </p:nvSpPr>
        <p:spPr>
          <a:xfrm>
            <a:off x="7114032" y="3986784"/>
            <a:ext cx="4206240" cy="219456"/>
          </a:xfrm>
          <a:prstGeom prst="rect">
            <a:avLst/>
          </a:prstGeom>
          <a:noFill/>
          <a:ln/>
        </p:spPr>
        <p:txBody>
          <a:bodyPr wrap="square" lIns="0" tIns="0" rIns="0" bIns="0" rtlCol="0" anchor="ctr">
            <a:spAutoFit/>
          </a:bodyPr>
          <a:lstStyle/>
          <a:p>
            <a:pPr marL="0" indent="0">
              <a:buNone/>
            </a:pPr>
            <a:r>
              <a:rPr lang="en-US" sz="1150" b="1" kern="0" spc="100" dirty="0">
                <a:solidFill>
                  <a:srgbClr val="5E6E80"/>
                </a:solidFill>
                <a:latin typeface="Aptos" pitchFamily="34" charset="0"/>
                <a:ea typeface="Aptos" pitchFamily="34" charset="-122"/>
                <a:cs typeface="Aptos" pitchFamily="34" charset="-120"/>
              </a:rPr>
              <a:t>CLASSIFY</a:t>
            </a:r>
            <a:endParaRPr lang="en-US" sz="1150" dirty="0"/>
          </a:p>
        </p:txBody>
      </p:sp>
      <p:sp>
        <p:nvSpPr>
          <p:cNvPr id="26" name="Text 24"/>
          <p:cNvSpPr/>
          <p:nvPr/>
        </p:nvSpPr>
        <p:spPr>
          <a:xfrm>
            <a:off x="7114032" y="4288536"/>
            <a:ext cx="4233672" cy="393192"/>
          </a:xfrm>
          <a:prstGeom prst="rect">
            <a:avLst/>
          </a:prstGeom>
          <a:noFill/>
          <a:ln/>
        </p:spPr>
        <p:txBody>
          <a:bodyPr wrap="square" lIns="0" tIns="0" rIns="0" bIns="0" rtlCol="0" anchor="ctr">
            <a:spAutoFit/>
          </a:bodyPr>
          <a:lstStyle/>
          <a:p>
            <a:pPr marL="0" indent="0">
              <a:buNone/>
            </a:pPr>
            <a:r>
              <a:rPr lang="en-US" sz="2100" b="1" dirty="0">
                <a:solidFill>
                  <a:srgbClr val="14263D"/>
                </a:solidFill>
                <a:latin typeface="Aptos" pitchFamily="34" charset="0"/>
                <a:ea typeface="Aptos" pitchFamily="34" charset="-122"/>
                <a:cs typeface="Aptos" pitchFamily="34" charset="-120"/>
              </a:rPr>
              <a:t>Regularization and XOR features</a:t>
            </a:r>
            <a:endParaRPr lang="en-US" sz="2100" dirty="0"/>
          </a:p>
        </p:txBody>
      </p:sp>
      <p:sp>
        <p:nvSpPr>
          <p:cNvPr id="27" name="Shape 25"/>
          <p:cNvSpPr/>
          <p:nvPr/>
        </p:nvSpPr>
        <p:spPr>
          <a:xfrm>
            <a:off x="566928" y="5623560"/>
            <a:ext cx="11045952" cy="457200"/>
          </a:xfrm>
          <a:prstGeom prst="rect">
            <a:avLst/>
          </a:prstGeom>
          <a:solidFill>
            <a:srgbClr val="EBF1F9"/>
          </a:solidFill>
          <a:ln w="6350">
            <a:solidFill>
              <a:srgbClr val="EBF1F9"/>
            </a:solidFill>
            <a:prstDash val="solid"/>
          </a:ln>
        </p:spPr>
      </p:sp>
      <p:sp>
        <p:nvSpPr>
          <p:cNvPr id="28" name="Text 26"/>
          <p:cNvSpPr/>
          <p:nvPr/>
        </p:nvSpPr>
        <p:spPr>
          <a:xfrm>
            <a:off x="758952" y="5660136"/>
            <a:ext cx="10671048" cy="365760"/>
          </a:xfrm>
          <a:prstGeom prst="rect">
            <a:avLst/>
          </a:prstGeom>
          <a:noFill/>
          <a:ln/>
        </p:spPr>
        <p:txBody>
          <a:bodyPr wrap="square" lIns="0" tIns="0" rIns="0" bIns="0" rtlCol="0" anchor="ctr">
            <a:spAutoFit/>
          </a:bodyPr>
          <a:lstStyle/>
          <a:p>
            <a:pPr marL="0" indent="0">
              <a:buNone/>
            </a:pPr>
            <a:r>
              <a:rPr lang="en-US" sz="1800" b="1" dirty="0">
                <a:solidFill>
                  <a:srgbClr val="245B87"/>
                </a:solidFill>
                <a:latin typeface="Aptos" pitchFamily="34" charset="0"/>
                <a:ea typeface="Aptos" pitchFamily="34" charset="-122"/>
                <a:cs typeface="Aptos" pitchFamily="34" charset="-120"/>
              </a:rPr>
              <a:t>Today: short explanations + two worked examples + a one-minute check.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00:30–02:15</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ESTIMATE</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MLE and MAP optimize different objectives</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L1 · Firner L2 | Likelihood and priors</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2 / 15</a:t>
            </a:r>
            <a:endParaRPr lang="en-US" sz="1050" dirty="0"/>
          </a:p>
        </p:txBody>
      </p:sp>
      <p:sp>
        <p:nvSpPr>
          <p:cNvPr id="10" name="Shape 8"/>
          <p:cNvSpPr/>
          <p:nvPr/>
        </p:nvSpPr>
        <p:spPr>
          <a:xfrm>
            <a:off x="585216" y="1865376"/>
            <a:ext cx="5394960" cy="2276856"/>
          </a:xfrm>
          <a:prstGeom prst="rect">
            <a:avLst/>
          </a:prstGeom>
          <a:solidFill>
            <a:srgbClr val="EBF1F9"/>
          </a:solidFill>
          <a:ln w="6350">
            <a:solidFill>
              <a:srgbClr val="EBF1F9"/>
            </a:solidFill>
            <a:prstDash val="solid"/>
          </a:ln>
        </p:spPr>
      </p:sp>
      <p:sp>
        <p:nvSpPr>
          <p:cNvPr id="11" name="Shape 9"/>
          <p:cNvSpPr/>
          <p:nvPr/>
        </p:nvSpPr>
        <p:spPr>
          <a:xfrm>
            <a:off x="6208776" y="1865376"/>
            <a:ext cx="5394960" cy="2276856"/>
          </a:xfrm>
          <a:prstGeom prst="rect">
            <a:avLst/>
          </a:prstGeom>
          <a:solidFill>
            <a:srgbClr val="E7F4F2"/>
          </a:solidFill>
          <a:ln w="6350">
            <a:solidFill>
              <a:srgbClr val="E7F4F2"/>
            </a:solidFill>
            <a:prstDash val="solid"/>
          </a:ln>
        </p:spPr>
      </p:sp>
      <p:sp>
        <p:nvSpPr>
          <p:cNvPr id="12" name="Shape 10"/>
          <p:cNvSpPr/>
          <p:nvPr/>
        </p:nvSpPr>
        <p:spPr>
          <a:xfrm>
            <a:off x="813816" y="2103120"/>
            <a:ext cx="1234440" cy="292608"/>
          </a:xfrm>
          <a:prstGeom prst="rect">
            <a:avLst/>
          </a:prstGeom>
          <a:solidFill>
            <a:srgbClr val="FFFFFF"/>
          </a:solidFill>
          <a:ln w="6350">
            <a:solidFill>
              <a:srgbClr val="FFFFFF"/>
            </a:solidFill>
            <a:prstDash val="solid"/>
          </a:ln>
        </p:spPr>
      </p:sp>
      <p:sp>
        <p:nvSpPr>
          <p:cNvPr id="13" name="Text 11"/>
          <p:cNvSpPr/>
          <p:nvPr/>
        </p:nvSpPr>
        <p:spPr>
          <a:xfrm>
            <a:off x="886968" y="2116836"/>
            <a:ext cx="1088136" cy="256032"/>
          </a:xfrm>
          <a:prstGeom prst="rect">
            <a:avLst/>
          </a:prstGeom>
          <a:noFill/>
          <a:ln/>
        </p:spPr>
        <p:txBody>
          <a:bodyPr wrap="square" lIns="0" tIns="0" rIns="0" bIns="0" rtlCol="0" anchor="ctr">
            <a:spAutoFit/>
          </a:bodyPr>
          <a:lstStyle/>
          <a:p>
            <a:pPr marL="0" indent="0">
              <a:buNone/>
            </a:pPr>
            <a:r>
              <a:rPr lang="en-US" sz="1150" b="1" dirty="0">
                <a:solidFill>
                  <a:srgbClr val="245B87"/>
                </a:solidFill>
                <a:latin typeface="Aptos" pitchFamily="34" charset="0"/>
                <a:ea typeface="Aptos" pitchFamily="34" charset="-122"/>
                <a:cs typeface="Aptos" pitchFamily="34" charset="-120"/>
              </a:rPr>
              <a:t>DATA ONLY</a:t>
            </a:r>
            <a:endParaRPr lang="en-US" sz="1150" dirty="0"/>
          </a:p>
        </p:txBody>
      </p:sp>
      <p:sp>
        <p:nvSpPr>
          <p:cNvPr id="14" name="Text 12"/>
          <p:cNvSpPr/>
          <p:nvPr/>
        </p:nvSpPr>
        <p:spPr>
          <a:xfrm>
            <a:off x="813816" y="2615184"/>
            <a:ext cx="4754880" cy="393192"/>
          </a:xfrm>
          <a:prstGeom prst="rect">
            <a:avLst/>
          </a:prstGeom>
          <a:noFill/>
          <a:ln/>
        </p:spPr>
        <p:txBody>
          <a:bodyPr wrap="square" lIns="0" tIns="0" rIns="0" bIns="0" rtlCol="0" anchor="ctr">
            <a:spAutoFit/>
          </a:bodyPr>
          <a:lstStyle/>
          <a:p>
            <a:pPr marL="0" indent="0">
              <a:buNone/>
            </a:pPr>
            <a:r>
              <a:rPr lang="en-US" sz="2500" b="1" dirty="0">
                <a:solidFill>
                  <a:srgbClr val="14263D"/>
                </a:solidFill>
                <a:latin typeface="Aptos" pitchFamily="34" charset="0"/>
                <a:ea typeface="Aptos" pitchFamily="34" charset="-122"/>
                <a:cs typeface="Aptos" pitchFamily="34" charset="-120"/>
              </a:rPr>
              <a:t>Maximum likelihood</a:t>
            </a:r>
            <a:endParaRPr lang="en-US" sz="2500" dirty="0"/>
          </a:p>
        </p:txBody>
      </p:sp>
      <p:pic>
        <p:nvPicPr>
          <p:cNvPr id="1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816" y="3172968"/>
            <a:ext cx="3606292" cy="566928"/>
          </a:xfrm>
          <a:prstGeom prst="rect">
            <a:avLst/>
          </a:prstGeom>
        </p:spPr>
      </p:pic>
      <p:sp>
        <p:nvSpPr>
          <p:cNvPr id="16" name="Shape 13"/>
          <p:cNvSpPr/>
          <p:nvPr/>
        </p:nvSpPr>
        <p:spPr>
          <a:xfrm>
            <a:off x="6437376" y="2103120"/>
            <a:ext cx="1499616" cy="292608"/>
          </a:xfrm>
          <a:prstGeom prst="rect">
            <a:avLst/>
          </a:prstGeom>
          <a:solidFill>
            <a:srgbClr val="FFFFFF"/>
          </a:solidFill>
          <a:ln w="6350">
            <a:solidFill>
              <a:srgbClr val="FFFFFF"/>
            </a:solidFill>
            <a:prstDash val="solid"/>
          </a:ln>
        </p:spPr>
      </p:sp>
      <p:sp>
        <p:nvSpPr>
          <p:cNvPr id="17" name="Text 14"/>
          <p:cNvSpPr/>
          <p:nvPr/>
        </p:nvSpPr>
        <p:spPr>
          <a:xfrm>
            <a:off x="6510528" y="2116836"/>
            <a:ext cx="1353312" cy="256032"/>
          </a:xfrm>
          <a:prstGeom prst="rect">
            <a:avLst/>
          </a:prstGeom>
          <a:noFill/>
          <a:ln/>
        </p:spPr>
        <p:txBody>
          <a:bodyPr wrap="square" lIns="0" tIns="0" rIns="0" bIns="0" rtlCol="0" anchor="ctr">
            <a:spAutoFit/>
          </a:bodyPr>
          <a:lstStyle/>
          <a:p>
            <a:pPr marL="0" indent="0">
              <a:buNone/>
            </a:pPr>
            <a:r>
              <a:rPr lang="en-US" sz="1150" b="1" dirty="0">
                <a:solidFill>
                  <a:srgbClr val="087F82"/>
                </a:solidFill>
                <a:latin typeface="Aptos" pitchFamily="34" charset="0"/>
                <a:ea typeface="Aptos" pitchFamily="34" charset="-122"/>
                <a:cs typeface="Aptos" pitchFamily="34" charset="-120"/>
              </a:rPr>
              <a:t>DATA + PRIOR</a:t>
            </a:r>
            <a:endParaRPr lang="en-US" sz="1150" dirty="0"/>
          </a:p>
        </p:txBody>
      </p:sp>
      <p:sp>
        <p:nvSpPr>
          <p:cNvPr id="18" name="Text 15"/>
          <p:cNvSpPr/>
          <p:nvPr/>
        </p:nvSpPr>
        <p:spPr>
          <a:xfrm>
            <a:off x="6437376" y="2615184"/>
            <a:ext cx="4754880" cy="393192"/>
          </a:xfrm>
          <a:prstGeom prst="rect">
            <a:avLst/>
          </a:prstGeom>
          <a:noFill/>
          <a:ln/>
        </p:spPr>
        <p:txBody>
          <a:bodyPr wrap="square" lIns="0" tIns="0" rIns="0" bIns="0" rtlCol="0" anchor="ctr">
            <a:spAutoFit/>
          </a:bodyPr>
          <a:lstStyle/>
          <a:p>
            <a:pPr marL="0" indent="0">
              <a:buNone/>
            </a:pPr>
            <a:r>
              <a:rPr lang="en-US" sz="2500" b="1" dirty="0">
                <a:solidFill>
                  <a:srgbClr val="14263D"/>
                </a:solidFill>
                <a:latin typeface="Aptos" pitchFamily="34" charset="0"/>
                <a:ea typeface="Aptos" pitchFamily="34" charset="-122"/>
                <a:cs typeface="Aptos" pitchFamily="34" charset="-120"/>
              </a:rPr>
              <a:t>Maximum a posteriori</a:t>
            </a:r>
            <a:endParaRPr lang="en-US" sz="2500"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37376" y="3199813"/>
            <a:ext cx="4690872" cy="504094"/>
          </a:xfrm>
          <a:prstGeom prst="rect">
            <a:avLst/>
          </a:prstGeom>
        </p:spPr>
      </p:pic>
      <p:sp>
        <p:nvSpPr>
          <p:cNvPr id="20" name="Text 16"/>
          <p:cNvSpPr/>
          <p:nvPr/>
        </p:nvSpPr>
        <p:spPr>
          <a:xfrm>
            <a:off x="758952" y="4471416"/>
            <a:ext cx="6400800" cy="356616"/>
          </a:xfrm>
          <a:prstGeom prst="rect">
            <a:avLst/>
          </a:prstGeom>
          <a:noFill/>
          <a:ln/>
        </p:spPr>
        <p:txBody>
          <a:bodyPr wrap="square" lIns="0" tIns="0" rIns="0" bIns="0" rtlCol="0" anchor="ctr">
            <a:spAutoFit/>
          </a:bodyPr>
          <a:lstStyle/>
          <a:p>
            <a:pPr marL="0" indent="0">
              <a:buNone/>
            </a:pPr>
            <a:r>
              <a:rPr lang="en-US" sz="2300" b="1" dirty="0">
                <a:solidFill>
                  <a:srgbClr val="14263D"/>
                </a:solidFill>
                <a:latin typeface="Aptos" pitchFamily="34" charset="0"/>
                <a:ea typeface="Aptos" pitchFamily="34" charset="-122"/>
                <a:cs typeface="Aptos" pitchFamily="34" charset="-120"/>
              </a:rPr>
              <a:t>Coin example: 8 heads, 2 tails</a:t>
            </a:r>
            <a:endParaRPr lang="en-US" sz="2300"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8952" y="4983480"/>
            <a:ext cx="2383067" cy="603504"/>
          </a:xfrm>
          <a:prstGeom prst="rect">
            <a:avLst/>
          </a:prstGeom>
        </p:spPr>
      </p:pic>
      <p:sp>
        <p:nvSpPr>
          <p:cNvPr id="22" name="Text 17"/>
          <p:cNvSpPr/>
          <p:nvPr/>
        </p:nvSpPr>
        <p:spPr>
          <a:xfrm>
            <a:off x="6446520" y="4617720"/>
            <a:ext cx="4663440" cy="804672"/>
          </a:xfrm>
          <a:prstGeom prst="rect">
            <a:avLst/>
          </a:prstGeom>
          <a:noFill/>
          <a:ln/>
        </p:spPr>
        <p:txBody>
          <a:bodyPr wrap="square" lIns="0" tIns="0" rIns="0" bIns="0" rtlCol="0" anchor="ctr">
            <a:spAutoFit/>
          </a:bodyPr>
          <a:lstStyle/>
          <a:p>
            <a:pPr marL="0" indent="0">
              <a:buNone/>
            </a:pPr>
            <a:r>
              <a:rPr lang="en-US" sz="2200" dirty="0">
                <a:solidFill>
                  <a:srgbClr val="5E6E80"/>
                </a:solidFill>
                <a:latin typeface="Aptos" pitchFamily="34" charset="0"/>
                <a:ea typeface="Aptos" pitchFamily="34" charset="-122"/>
                <a:cs typeface="Aptos" pitchFamily="34" charset="-120"/>
              </a:rPr>
              <a:t>A small sample can produce</a:t>
            </a:r>
            <a:endParaRPr lang="en-US" sz="2200" dirty="0"/>
          </a:p>
          <a:p>
            <a:pPr marL="0" indent="0">
              <a:buNone/>
            </a:pPr>
            <a:r>
              <a:rPr lang="en-US" sz="2200" dirty="0">
                <a:solidFill>
                  <a:srgbClr val="5E6E80"/>
                </a:solidFill>
                <a:latin typeface="Aptos" pitchFamily="34" charset="0"/>
                <a:ea typeface="Aptos" pitchFamily="34" charset="-122"/>
                <a:cs typeface="Aptos" pitchFamily="34" charset="-120"/>
              </a:rPr>
              <a:t>an extreme estimate.</a:t>
            </a:r>
            <a:endParaRPr lang="en-US" sz="2200" dirty="0"/>
          </a:p>
        </p:txBody>
      </p:sp>
      <p:sp>
        <p:nvSpPr>
          <p:cNvPr id="23" name="Shape 18"/>
          <p:cNvSpPr/>
          <p:nvPr/>
        </p:nvSpPr>
        <p:spPr>
          <a:xfrm>
            <a:off x="566928" y="5724144"/>
            <a:ext cx="11045952" cy="457200"/>
          </a:xfrm>
          <a:prstGeom prst="rect">
            <a:avLst/>
          </a:prstGeom>
          <a:solidFill>
            <a:srgbClr val="FFFFFF"/>
          </a:solidFill>
          <a:ln w="6350">
            <a:solidFill>
              <a:srgbClr val="FFFFFF"/>
            </a:solidFill>
            <a:prstDash val="solid"/>
          </a:ln>
        </p:spPr>
      </p:sp>
      <p:sp>
        <p:nvSpPr>
          <p:cNvPr id="24" name="Text 19"/>
          <p:cNvSpPr/>
          <p:nvPr/>
        </p:nvSpPr>
        <p:spPr>
          <a:xfrm>
            <a:off x="758952" y="5760720"/>
            <a:ext cx="10671048" cy="365760"/>
          </a:xfrm>
          <a:prstGeom prst="rect">
            <a:avLst/>
          </a:prstGeom>
          <a:noFill/>
          <a:ln/>
        </p:spPr>
        <p:txBody>
          <a:bodyPr wrap="square" lIns="0" tIns="0" rIns="0" bIns="0" rtlCol="0" anchor="ctr">
            <a:spAutoFit/>
          </a:bodyPr>
          <a:lstStyle/>
          <a:p>
            <a:pPr marL="0" indent="0">
              <a:buNone/>
            </a:pPr>
            <a:r>
              <a:rPr lang="en-US" sz="1700" b="1" dirty="0">
                <a:solidFill>
                  <a:srgbClr val="14263D"/>
                </a:solidFill>
                <a:latin typeface="Aptos" pitchFamily="34" charset="0"/>
                <a:ea typeface="Aptos" pitchFamily="34" charset="-122"/>
                <a:cs typeface="Aptos" pitchFamily="34" charset="-120"/>
              </a:rPr>
              <a:t>MLE asks how well θ explains the data—not how probable θ is after seeing 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02:15–03:30</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ESTIMATE</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Pseudocounts encode preference and strength</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L2 | Additive-count convention</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3 / 15</a:t>
            </a:r>
            <a:endParaRPr lang="en-US" sz="105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7240" y="1847088"/>
            <a:ext cx="4730931" cy="749808"/>
          </a:xfrm>
          <a:prstGeom prst="rect">
            <a:avLst/>
          </a:prstGeom>
        </p:spPr>
      </p:pic>
      <p:sp>
        <p:nvSpPr>
          <p:cNvPr id="11" name="Text 8"/>
          <p:cNvSpPr/>
          <p:nvPr/>
        </p:nvSpPr>
        <p:spPr>
          <a:xfrm>
            <a:off x="8385048" y="1938528"/>
            <a:ext cx="2889504" cy="630936"/>
          </a:xfrm>
          <a:prstGeom prst="rect">
            <a:avLst/>
          </a:prstGeom>
          <a:noFill/>
          <a:ln/>
        </p:spPr>
        <p:txBody>
          <a:bodyPr wrap="square" lIns="0" tIns="0" rIns="0" bIns="0" rtlCol="0" anchor="ctr">
            <a:spAutoFit/>
          </a:bodyPr>
          <a:lstStyle/>
          <a:p>
            <a:pPr marL="0" indent="0">
              <a:buNone/>
            </a:pPr>
            <a:r>
              <a:rPr lang="en-US" sz="1900" dirty="0">
                <a:solidFill>
                  <a:srgbClr val="5E6E80"/>
                </a:solidFill>
                <a:latin typeface="Aptos" pitchFamily="34" charset="0"/>
                <a:ea typeface="Aptos" pitchFamily="34" charset="-122"/>
                <a:cs typeface="Aptos" pitchFamily="34" charset="-120"/>
              </a:rPr>
              <a:t>N = observed counts</a:t>
            </a:r>
            <a:endParaRPr lang="en-US" sz="1900" dirty="0"/>
          </a:p>
          <a:p>
            <a:pPr marL="0" indent="0">
              <a:buNone/>
            </a:pPr>
            <a:r>
              <a:rPr lang="en-US" sz="1900" dirty="0">
                <a:solidFill>
                  <a:srgbClr val="5E6E80"/>
                </a:solidFill>
                <a:latin typeface="Aptos" pitchFamily="34" charset="0"/>
                <a:ea typeface="Aptos" pitchFamily="34" charset="-122"/>
                <a:cs typeface="Aptos" pitchFamily="34" charset="-120"/>
              </a:rPr>
              <a:t>M = added pseudocounts</a:t>
            </a:r>
            <a:endParaRPr lang="en-US" sz="1900" dirty="0"/>
          </a:p>
        </p:txBody>
      </p:sp>
      <p:sp>
        <p:nvSpPr>
          <p:cNvPr id="12" name="Shape 9"/>
          <p:cNvSpPr/>
          <p:nvPr/>
        </p:nvSpPr>
        <p:spPr>
          <a:xfrm>
            <a:off x="594360" y="2898648"/>
            <a:ext cx="5394960" cy="2221992"/>
          </a:xfrm>
          <a:prstGeom prst="rect">
            <a:avLst/>
          </a:prstGeom>
          <a:solidFill>
            <a:srgbClr val="FFFFFF"/>
          </a:solidFill>
          <a:ln w="6350">
            <a:solidFill>
              <a:srgbClr val="FFFFFF"/>
            </a:solidFill>
            <a:prstDash val="solid"/>
          </a:ln>
        </p:spPr>
      </p:sp>
      <p:sp>
        <p:nvSpPr>
          <p:cNvPr id="13" name="Shape 10"/>
          <p:cNvSpPr/>
          <p:nvPr/>
        </p:nvSpPr>
        <p:spPr>
          <a:xfrm>
            <a:off x="6208776" y="2898648"/>
            <a:ext cx="5394960" cy="2221992"/>
          </a:xfrm>
          <a:prstGeom prst="rect">
            <a:avLst/>
          </a:prstGeom>
          <a:solidFill>
            <a:srgbClr val="FFFFFF"/>
          </a:solidFill>
          <a:ln w="6350">
            <a:solidFill>
              <a:srgbClr val="FFFFFF"/>
            </a:solidFill>
            <a:prstDash val="solid"/>
          </a:ln>
        </p:spPr>
      </p:sp>
      <p:sp>
        <p:nvSpPr>
          <p:cNvPr id="14" name="Text 11"/>
          <p:cNvSpPr/>
          <p:nvPr/>
        </p:nvSpPr>
        <p:spPr>
          <a:xfrm>
            <a:off x="804672" y="3136392"/>
            <a:ext cx="4709160" cy="228600"/>
          </a:xfrm>
          <a:prstGeom prst="rect">
            <a:avLst/>
          </a:prstGeom>
          <a:noFill/>
          <a:ln/>
        </p:spPr>
        <p:txBody>
          <a:bodyPr wrap="square" lIns="0" tIns="0" rIns="0" bIns="0" rtlCol="0" anchor="ctr">
            <a:spAutoFit/>
          </a:bodyPr>
          <a:lstStyle/>
          <a:p>
            <a:pPr marL="0" indent="0">
              <a:buNone/>
            </a:pPr>
            <a:r>
              <a:rPr lang="en-US" sz="1200" b="1" dirty="0">
                <a:solidFill>
                  <a:srgbClr val="087F82"/>
                </a:solidFill>
                <a:latin typeface="Aptos" pitchFamily="34" charset="0"/>
                <a:ea typeface="Aptos" pitchFamily="34" charset="-122"/>
                <a:cs typeface="Aptos" pitchFamily="34" charset="-120"/>
              </a:rPr>
              <a:t>PROPORTION = PREFERENCE</a:t>
            </a:r>
            <a:endParaRPr lang="en-US" sz="1200"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104" y="3584448"/>
            <a:ext cx="2040418" cy="603504"/>
          </a:xfrm>
          <a:prstGeom prst="rect">
            <a:avLst/>
          </a:prstGeom>
        </p:spPr>
      </p:pic>
      <p:sp>
        <p:nvSpPr>
          <p:cNvPr id="16" name="Text 12"/>
          <p:cNvSpPr/>
          <p:nvPr/>
        </p:nvSpPr>
        <p:spPr>
          <a:xfrm>
            <a:off x="832104" y="4526280"/>
            <a:ext cx="4663440" cy="329184"/>
          </a:xfrm>
          <a:prstGeom prst="rect">
            <a:avLst/>
          </a:prstGeom>
          <a:noFill/>
          <a:ln/>
        </p:spPr>
        <p:txBody>
          <a:bodyPr wrap="square" lIns="0" tIns="0" rIns="0" bIns="0" rtlCol="0" anchor="ctr">
            <a:spAutoFit/>
          </a:bodyPr>
          <a:lstStyle/>
          <a:p>
            <a:pPr marL="0" indent="0">
              <a:buNone/>
            </a:pPr>
            <a:r>
              <a:rPr lang="en-US" sz="2100" dirty="0">
                <a:solidFill>
                  <a:srgbClr val="14263D"/>
                </a:solidFill>
                <a:latin typeface="Aptos" pitchFamily="34" charset="0"/>
                <a:ea typeface="Aptos" pitchFamily="34" charset="-122"/>
                <a:cs typeface="Aptos" pitchFamily="34" charset="-120"/>
              </a:rPr>
              <a:t>Equal counts favor a 50–50 coin.</a:t>
            </a:r>
            <a:endParaRPr lang="en-US" sz="2100" dirty="0"/>
          </a:p>
        </p:txBody>
      </p:sp>
      <p:sp>
        <p:nvSpPr>
          <p:cNvPr id="17" name="Text 13"/>
          <p:cNvSpPr/>
          <p:nvPr/>
        </p:nvSpPr>
        <p:spPr>
          <a:xfrm>
            <a:off x="6428232" y="3136392"/>
            <a:ext cx="4709160" cy="228600"/>
          </a:xfrm>
          <a:prstGeom prst="rect">
            <a:avLst/>
          </a:prstGeom>
          <a:noFill/>
          <a:ln/>
        </p:spPr>
        <p:txBody>
          <a:bodyPr wrap="square" lIns="0" tIns="0" rIns="0" bIns="0" rtlCol="0" anchor="ctr">
            <a:spAutoFit/>
          </a:bodyPr>
          <a:lstStyle/>
          <a:p>
            <a:pPr marL="0" indent="0">
              <a:buNone/>
            </a:pPr>
            <a:r>
              <a:rPr lang="en-US" sz="1200" b="1" dirty="0">
                <a:solidFill>
                  <a:srgbClr val="087F82"/>
                </a:solidFill>
                <a:latin typeface="Aptos" pitchFamily="34" charset="0"/>
                <a:ea typeface="Aptos" pitchFamily="34" charset="-122"/>
                <a:cs typeface="Aptos" pitchFamily="34" charset="-120"/>
              </a:rPr>
              <a:t>TOTAL = STRENGTH</a:t>
            </a:r>
            <a:endParaRPr lang="en-US" sz="120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55664" y="3593592"/>
            <a:ext cx="4677156" cy="566928"/>
          </a:xfrm>
          <a:prstGeom prst="rect">
            <a:avLst/>
          </a:prstGeom>
        </p:spPr>
      </p:pic>
      <p:sp>
        <p:nvSpPr>
          <p:cNvPr id="19" name="Text 14"/>
          <p:cNvSpPr/>
          <p:nvPr/>
        </p:nvSpPr>
        <p:spPr>
          <a:xfrm>
            <a:off x="6455664" y="4526280"/>
            <a:ext cx="4690872" cy="329184"/>
          </a:xfrm>
          <a:prstGeom prst="rect">
            <a:avLst/>
          </a:prstGeom>
          <a:noFill/>
          <a:ln/>
        </p:spPr>
        <p:txBody>
          <a:bodyPr wrap="square" lIns="0" tIns="0" rIns="0" bIns="0" rtlCol="0" anchor="ctr">
            <a:spAutoFit/>
          </a:bodyPr>
          <a:lstStyle/>
          <a:p>
            <a:pPr marL="0" indent="0">
              <a:buNone/>
            </a:pPr>
            <a:r>
              <a:rPr lang="en-US" sz="2100" dirty="0">
                <a:solidFill>
                  <a:srgbClr val="14263D"/>
                </a:solidFill>
                <a:latin typeface="Aptos" pitchFamily="34" charset="0"/>
                <a:ea typeface="Aptos" pitchFamily="34" charset="-122"/>
                <a:cs typeface="Aptos" pitchFamily="34" charset="-120"/>
              </a:rPr>
              <a:t>Larger M gives the prior more pull.</a:t>
            </a:r>
            <a:endParaRPr lang="en-US" sz="2100" dirty="0"/>
          </a:p>
        </p:txBody>
      </p:sp>
      <p:sp>
        <p:nvSpPr>
          <p:cNvPr id="20" name="Shape 15"/>
          <p:cNvSpPr/>
          <p:nvPr/>
        </p:nvSpPr>
        <p:spPr>
          <a:xfrm>
            <a:off x="566928" y="5385816"/>
            <a:ext cx="11045952" cy="457200"/>
          </a:xfrm>
          <a:prstGeom prst="rect">
            <a:avLst/>
          </a:prstGeom>
          <a:solidFill>
            <a:srgbClr val="E7F4F2"/>
          </a:solidFill>
          <a:ln w="6350">
            <a:solidFill>
              <a:srgbClr val="E7F4F2"/>
            </a:solidFill>
            <a:prstDash val="solid"/>
          </a:ln>
        </p:spPr>
      </p:sp>
      <p:sp>
        <p:nvSpPr>
          <p:cNvPr id="21" name="Text 16"/>
          <p:cNvSpPr/>
          <p:nvPr/>
        </p:nvSpPr>
        <p:spPr>
          <a:xfrm>
            <a:off x="758952" y="5422392"/>
            <a:ext cx="10671048" cy="365760"/>
          </a:xfrm>
          <a:prstGeom prst="rect">
            <a:avLst/>
          </a:prstGeom>
          <a:noFill/>
          <a:ln/>
        </p:spPr>
        <p:txBody>
          <a:bodyPr wrap="square" lIns="0" tIns="0" rIns="0" bIns="0" rtlCol="0" anchor="ctr">
            <a:spAutoFit/>
          </a:bodyPr>
          <a:lstStyle/>
          <a:p>
            <a:pPr marL="0" indent="0">
              <a:buNone/>
            </a:pPr>
            <a:r>
              <a:rPr lang="en-US" sz="2100" b="1" dirty="0">
                <a:solidFill>
                  <a:srgbClr val="087F82"/>
                </a:solidFill>
                <a:latin typeface="Aptos" pitchFamily="34" charset="0"/>
                <a:ea typeface="Aptos" pitchFamily="34" charset="-122"/>
                <a:cs typeface="Aptos" pitchFamily="34" charset="-120"/>
              </a:rPr>
              <a:t>8 H + 2 T, with 5 H + 5 T added:  θ̂MAP = 13 / 20 = 0.65</a:t>
            </a:r>
            <a:endParaRPr lang="en-US" sz="2100" dirty="0"/>
          </a:p>
        </p:txBody>
      </p:sp>
      <p:sp>
        <p:nvSpPr>
          <p:cNvPr id="22" name="Text 17"/>
          <p:cNvSpPr/>
          <p:nvPr/>
        </p:nvSpPr>
        <p:spPr>
          <a:xfrm>
            <a:off x="768096" y="5971032"/>
            <a:ext cx="10744200" cy="265176"/>
          </a:xfrm>
          <a:prstGeom prst="rect">
            <a:avLst/>
          </a:prstGeom>
          <a:noFill/>
          <a:ln/>
        </p:spPr>
        <p:txBody>
          <a:bodyPr wrap="square" lIns="0" tIns="0" rIns="0" bIns="0" rtlCol="0" anchor="ctr">
            <a:spAutoFit/>
          </a:bodyPr>
          <a:lstStyle/>
          <a:p>
            <a:pPr marL="0" indent="0">
              <a:buNone/>
            </a:pPr>
            <a:r>
              <a:rPr lang="en-US" sz="1650" dirty="0">
                <a:solidFill>
                  <a:srgbClr val="5E6E80"/>
                </a:solidFill>
                <a:latin typeface="Aptos" pitchFamily="34" charset="0"/>
                <a:ea typeface="Aptos" pitchFamily="34" charset="-122"/>
                <a:cs typeface="Aptos" pitchFamily="34" charset="-120"/>
              </a:rPr>
              <a:t>With fixed pseudocounts, more observations reduce the prior’s relative influence.</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03:30–04:15</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WORKED EXAMPLE 1 · TRY FIRST</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Your turn: express a belief about a die</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L5 | Pseudocount practice</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4 / 15</a:t>
            </a:r>
            <a:endParaRPr lang="en-US" sz="1050" dirty="0"/>
          </a:p>
        </p:txBody>
      </p:sp>
      <p:sp>
        <p:nvSpPr>
          <p:cNvPr id="10" name="Text 8"/>
          <p:cNvSpPr/>
          <p:nvPr/>
        </p:nvSpPr>
        <p:spPr>
          <a:xfrm>
            <a:off x="758952" y="1883664"/>
            <a:ext cx="10515600" cy="347472"/>
          </a:xfrm>
          <a:prstGeom prst="rect">
            <a:avLst/>
          </a:prstGeom>
          <a:noFill/>
          <a:ln/>
        </p:spPr>
        <p:txBody>
          <a:bodyPr wrap="square" lIns="0" tIns="0" rIns="0" bIns="0" rtlCol="0" anchor="ctr">
            <a:spAutoFit/>
          </a:bodyPr>
          <a:lstStyle/>
          <a:p>
            <a:pPr marL="0" indent="0">
              <a:buNone/>
            </a:pPr>
            <a:r>
              <a:rPr lang="en-US" sz="2200" dirty="0">
                <a:solidFill>
                  <a:srgbClr val="5E6E80"/>
                </a:solidFill>
                <a:latin typeface="Aptos" pitchFamily="34" charset="0"/>
                <a:ea typeface="Aptos" pitchFamily="34" charset="-122"/>
                <a:cs typeface="Aptos" pitchFamily="34" charset="-120"/>
              </a:rPr>
              <a:t>Before rolling:</a:t>
            </a:r>
            <a:endParaRPr lang="en-US" sz="2200" dirty="0"/>
          </a:p>
        </p:txBody>
      </p:sp>
      <p:sp>
        <p:nvSpPr>
          <p:cNvPr id="11" name="Text 9"/>
          <p:cNvSpPr/>
          <p:nvPr/>
        </p:nvSpPr>
        <p:spPr>
          <a:xfrm>
            <a:off x="758952" y="2386584"/>
            <a:ext cx="10515600" cy="932688"/>
          </a:xfrm>
          <a:prstGeom prst="rect">
            <a:avLst/>
          </a:prstGeom>
          <a:noFill/>
          <a:ln/>
        </p:spPr>
        <p:txBody>
          <a:bodyPr wrap="square" lIns="0" tIns="0" rIns="0" bIns="0" rtlCol="0" anchor="ctr">
            <a:spAutoFit/>
          </a:bodyPr>
          <a:lstStyle/>
          <a:p>
            <a:pPr marL="0" indent="0">
              <a:buNone/>
            </a:pPr>
            <a:r>
              <a:rPr lang="en-US" sz="2800" b="1" dirty="0">
                <a:solidFill>
                  <a:srgbClr val="14263D"/>
                </a:solidFill>
                <a:latin typeface="Aptos" pitchFamily="34" charset="0"/>
                <a:ea typeface="Aptos" pitchFamily="34" charset="-122"/>
                <a:cs typeface="Aptos" pitchFamily="34" charset="-120"/>
              </a:rPr>
              <a:t>Face 6 should have probability 0.50.</a:t>
            </a:r>
            <a:endParaRPr lang="en-US" sz="2800" dirty="0"/>
          </a:p>
          <a:p>
            <a:pPr marL="0" indent="0">
              <a:buNone/>
            </a:pPr>
            <a:r>
              <a:rPr lang="en-US" sz="2800" b="1" dirty="0">
                <a:solidFill>
                  <a:srgbClr val="14263D"/>
                </a:solidFill>
                <a:latin typeface="Aptos" pitchFamily="34" charset="0"/>
                <a:ea typeface="Aptos" pitchFamily="34" charset="-122"/>
                <a:cs typeface="Aptos" pitchFamily="34" charset="-120"/>
              </a:rPr>
              <a:t>The other five faces should be equally likely.</a:t>
            </a:r>
            <a:endParaRPr lang="en-US" sz="2800" dirty="0"/>
          </a:p>
        </p:txBody>
      </p:sp>
      <p:sp>
        <p:nvSpPr>
          <p:cNvPr id="12" name="Text 10"/>
          <p:cNvSpPr/>
          <p:nvPr/>
        </p:nvSpPr>
        <p:spPr>
          <a:xfrm>
            <a:off x="768096" y="3639312"/>
            <a:ext cx="10607040" cy="402336"/>
          </a:xfrm>
          <a:prstGeom prst="rect">
            <a:avLst/>
          </a:prstGeom>
          <a:noFill/>
          <a:ln/>
        </p:spPr>
        <p:txBody>
          <a:bodyPr wrap="square" lIns="0" tIns="0" rIns="0" bIns="0" rtlCol="0" anchor="ctr">
            <a:spAutoFit/>
          </a:bodyPr>
          <a:lstStyle/>
          <a:p>
            <a:pPr marL="0" indent="0">
              <a:buNone/>
            </a:pPr>
            <a:r>
              <a:rPr lang="en-US" sz="2400" dirty="0">
                <a:solidFill>
                  <a:srgbClr val="14263D"/>
                </a:solidFill>
                <a:latin typeface="Aptos" pitchFamily="34" charset="0"/>
                <a:ea typeface="Aptos" pitchFamily="34" charset="-122"/>
                <a:cs typeface="Aptos" pitchFamily="34" charset="-120"/>
              </a:rPr>
              <a:t>Choose one set of positive integer pseudocounts.</a:t>
            </a:r>
            <a:endParaRPr lang="en-US" sz="2400" dirty="0"/>
          </a:p>
        </p:txBody>
      </p:sp>
      <p:sp>
        <p:nvSpPr>
          <p:cNvPr id="13" name="Shape 11"/>
          <p:cNvSpPr/>
          <p:nvPr/>
        </p:nvSpPr>
        <p:spPr>
          <a:xfrm>
            <a:off x="768096" y="4416552"/>
            <a:ext cx="1664208" cy="941832"/>
          </a:xfrm>
          <a:prstGeom prst="rect">
            <a:avLst/>
          </a:prstGeom>
          <a:solidFill>
            <a:srgbClr val="FFFFFF"/>
          </a:solidFill>
          <a:ln w="6350">
            <a:solidFill>
              <a:srgbClr val="FFFFFF"/>
            </a:solidFill>
            <a:prstDash val="solid"/>
          </a:ln>
        </p:spPr>
      </p:sp>
      <p:sp>
        <p:nvSpPr>
          <p:cNvPr id="14" name="Text 12"/>
          <p:cNvSpPr/>
          <p:nvPr/>
        </p:nvSpPr>
        <p:spPr>
          <a:xfrm>
            <a:off x="932688" y="4553712"/>
            <a:ext cx="1335024" cy="265176"/>
          </a:xfrm>
          <a:prstGeom prst="rect">
            <a:avLst/>
          </a:prstGeom>
          <a:noFill/>
          <a:ln/>
        </p:spPr>
        <p:txBody>
          <a:bodyPr wrap="square" lIns="0" tIns="0" rIns="0" bIns="0" rtlCol="0" anchor="ctr">
            <a:spAutoFit/>
          </a:bodyPr>
          <a:lstStyle/>
          <a:p>
            <a:pPr marL="0" indent="0" algn="ctr">
              <a:buNone/>
            </a:pPr>
            <a:r>
              <a:rPr lang="en-US" sz="1700" b="1" dirty="0">
                <a:solidFill>
                  <a:srgbClr val="5E6E80"/>
                </a:solidFill>
                <a:latin typeface="Aptos" pitchFamily="34" charset="0"/>
                <a:ea typeface="Aptos" pitchFamily="34" charset="-122"/>
                <a:cs typeface="Aptos" pitchFamily="34" charset="-120"/>
              </a:rPr>
              <a:t>M₁</a:t>
            </a:r>
            <a:endParaRPr lang="en-US" sz="1700" dirty="0"/>
          </a:p>
        </p:txBody>
      </p:sp>
      <p:sp>
        <p:nvSpPr>
          <p:cNvPr id="15" name="Shape 13"/>
          <p:cNvSpPr/>
          <p:nvPr/>
        </p:nvSpPr>
        <p:spPr>
          <a:xfrm>
            <a:off x="1188720" y="5102352"/>
            <a:ext cx="822960" cy="0"/>
          </a:xfrm>
          <a:prstGeom prst="line">
            <a:avLst/>
          </a:prstGeom>
          <a:noFill/>
          <a:ln w="15240">
            <a:solidFill>
              <a:srgbClr val="14263D"/>
            </a:solidFill>
            <a:prstDash val="solid"/>
          </a:ln>
        </p:spPr>
      </p:sp>
      <p:sp>
        <p:nvSpPr>
          <p:cNvPr id="16" name="Shape 14"/>
          <p:cNvSpPr/>
          <p:nvPr/>
        </p:nvSpPr>
        <p:spPr>
          <a:xfrm>
            <a:off x="2624328" y="4416552"/>
            <a:ext cx="1664208" cy="941832"/>
          </a:xfrm>
          <a:prstGeom prst="rect">
            <a:avLst/>
          </a:prstGeom>
          <a:solidFill>
            <a:srgbClr val="FFFFFF"/>
          </a:solidFill>
          <a:ln w="6350">
            <a:solidFill>
              <a:srgbClr val="FFFFFF"/>
            </a:solidFill>
            <a:prstDash val="solid"/>
          </a:ln>
        </p:spPr>
      </p:sp>
      <p:sp>
        <p:nvSpPr>
          <p:cNvPr id="17" name="Text 15"/>
          <p:cNvSpPr/>
          <p:nvPr/>
        </p:nvSpPr>
        <p:spPr>
          <a:xfrm>
            <a:off x="2788920" y="4553712"/>
            <a:ext cx="1335024" cy="265176"/>
          </a:xfrm>
          <a:prstGeom prst="rect">
            <a:avLst/>
          </a:prstGeom>
          <a:noFill/>
          <a:ln/>
        </p:spPr>
        <p:txBody>
          <a:bodyPr wrap="square" lIns="0" tIns="0" rIns="0" bIns="0" rtlCol="0" anchor="ctr">
            <a:spAutoFit/>
          </a:bodyPr>
          <a:lstStyle/>
          <a:p>
            <a:pPr marL="0" indent="0" algn="ctr">
              <a:buNone/>
            </a:pPr>
            <a:r>
              <a:rPr lang="en-US" sz="1700" b="1" dirty="0">
                <a:solidFill>
                  <a:srgbClr val="5E6E80"/>
                </a:solidFill>
                <a:latin typeface="Aptos" pitchFamily="34" charset="0"/>
                <a:ea typeface="Aptos" pitchFamily="34" charset="-122"/>
                <a:cs typeface="Aptos" pitchFamily="34" charset="-120"/>
              </a:rPr>
              <a:t>M₂</a:t>
            </a:r>
            <a:endParaRPr lang="en-US" sz="1700" dirty="0"/>
          </a:p>
        </p:txBody>
      </p:sp>
      <p:sp>
        <p:nvSpPr>
          <p:cNvPr id="18" name="Shape 16"/>
          <p:cNvSpPr/>
          <p:nvPr/>
        </p:nvSpPr>
        <p:spPr>
          <a:xfrm>
            <a:off x="3044952" y="5102352"/>
            <a:ext cx="822960" cy="0"/>
          </a:xfrm>
          <a:prstGeom prst="line">
            <a:avLst/>
          </a:prstGeom>
          <a:noFill/>
          <a:ln w="15240">
            <a:solidFill>
              <a:srgbClr val="14263D"/>
            </a:solidFill>
            <a:prstDash val="solid"/>
          </a:ln>
        </p:spPr>
      </p:sp>
      <p:sp>
        <p:nvSpPr>
          <p:cNvPr id="19" name="Shape 17"/>
          <p:cNvSpPr/>
          <p:nvPr/>
        </p:nvSpPr>
        <p:spPr>
          <a:xfrm>
            <a:off x="4480560" y="4416552"/>
            <a:ext cx="1664208" cy="941832"/>
          </a:xfrm>
          <a:prstGeom prst="rect">
            <a:avLst/>
          </a:prstGeom>
          <a:solidFill>
            <a:srgbClr val="FFFFFF"/>
          </a:solidFill>
          <a:ln w="6350">
            <a:solidFill>
              <a:srgbClr val="FFFFFF"/>
            </a:solidFill>
            <a:prstDash val="solid"/>
          </a:ln>
        </p:spPr>
      </p:sp>
      <p:sp>
        <p:nvSpPr>
          <p:cNvPr id="20" name="Text 18"/>
          <p:cNvSpPr/>
          <p:nvPr/>
        </p:nvSpPr>
        <p:spPr>
          <a:xfrm>
            <a:off x="4645152" y="4553712"/>
            <a:ext cx="1335024" cy="265176"/>
          </a:xfrm>
          <a:prstGeom prst="rect">
            <a:avLst/>
          </a:prstGeom>
          <a:noFill/>
          <a:ln/>
        </p:spPr>
        <p:txBody>
          <a:bodyPr wrap="square" lIns="0" tIns="0" rIns="0" bIns="0" rtlCol="0" anchor="ctr">
            <a:spAutoFit/>
          </a:bodyPr>
          <a:lstStyle/>
          <a:p>
            <a:pPr marL="0" indent="0" algn="ctr">
              <a:buNone/>
            </a:pPr>
            <a:r>
              <a:rPr lang="en-US" sz="1700" b="1" dirty="0">
                <a:solidFill>
                  <a:srgbClr val="5E6E80"/>
                </a:solidFill>
                <a:latin typeface="Aptos" pitchFamily="34" charset="0"/>
                <a:ea typeface="Aptos" pitchFamily="34" charset="-122"/>
                <a:cs typeface="Aptos" pitchFamily="34" charset="-120"/>
              </a:rPr>
              <a:t>M₃</a:t>
            </a:r>
            <a:endParaRPr lang="en-US" sz="1700" dirty="0"/>
          </a:p>
        </p:txBody>
      </p:sp>
      <p:sp>
        <p:nvSpPr>
          <p:cNvPr id="21" name="Shape 19"/>
          <p:cNvSpPr/>
          <p:nvPr/>
        </p:nvSpPr>
        <p:spPr>
          <a:xfrm>
            <a:off x="4901184" y="5102352"/>
            <a:ext cx="822960" cy="0"/>
          </a:xfrm>
          <a:prstGeom prst="line">
            <a:avLst/>
          </a:prstGeom>
          <a:noFill/>
          <a:ln w="15240">
            <a:solidFill>
              <a:srgbClr val="14263D"/>
            </a:solidFill>
            <a:prstDash val="solid"/>
          </a:ln>
        </p:spPr>
      </p:sp>
      <p:sp>
        <p:nvSpPr>
          <p:cNvPr id="22" name="Shape 20"/>
          <p:cNvSpPr/>
          <p:nvPr/>
        </p:nvSpPr>
        <p:spPr>
          <a:xfrm>
            <a:off x="6336792" y="4416552"/>
            <a:ext cx="1664208" cy="941832"/>
          </a:xfrm>
          <a:prstGeom prst="rect">
            <a:avLst/>
          </a:prstGeom>
          <a:solidFill>
            <a:srgbClr val="FFFFFF"/>
          </a:solidFill>
          <a:ln w="6350">
            <a:solidFill>
              <a:srgbClr val="FFFFFF"/>
            </a:solidFill>
            <a:prstDash val="solid"/>
          </a:ln>
        </p:spPr>
      </p:sp>
      <p:sp>
        <p:nvSpPr>
          <p:cNvPr id="23" name="Text 21"/>
          <p:cNvSpPr/>
          <p:nvPr/>
        </p:nvSpPr>
        <p:spPr>
          <a:xfrm>
            <a:off x="6501384" y="4553712"/>
            <a:ext cx="1335024" cy="265176"/>
          </a:xfrm>
          <a:prstGeom prst="rect">
            <a:avLst/>
          </a:prstGeom>
          <a:noFill/>
          <a:ln/>
        </p:spPr>
        <p:txBody>
          <a:bodyPr wrap="square" lIns="0" tIns="0" rIns="0" bIns="0" rtlCol="0" anchor="ctr">
            <a:spAutoFit/>
          </a:bodyPr>
          <a:lstStyle/>
          <a:p>
            <a:pPr marL="0" indent="0" algn="ctr">
              <a:buNone/>
            </a:pPr>
            <a:r>
              <a:rPr lang="en-US" sz="1700" b="1" dirty="0">
                <a:solidFill>
                  <a:srgbClr val="5E6E80"/>
                </a:solidFill>
                <a:latin typeface="Aptos" pitchFamily="34" charset="0"/>
                <a:ea typeface="Aptos" pitchFamily="34" charset="-122"/>
                <a:cs typeface="Aptos" pitchFamily="34" charset="-120"/>
              </a:rPr>
              <a:t>M₄</a:t>
            </a:r>
            <a:endParaRPr lang="en-US" sz="1700" dirty="0"/>
          </a:p>
        </p:txBody>
      </p:sp>
      <p:sp>
        <p:nvSpPr>
          <p:cNvPr id="24" name="Shape 22"/>
          <p:cNvSpPr/>
          <p:nvPr/>
        </p:nvSpPr>
        <p:spPr>
          <a:xfrm>
            <a:off x="6757416" y="5102352"/>
            <a:ext cx="822960" cy="0"/>
          </a:xfrm>
          <a:prstGeom prst="line">
            <a:avLst/>
          </a:prstGeom>
          <a:noFill/>
          <a:ln w="15240">
            <a:solidFill>
              <a:srgbClr val="14263D"/>
            </a:solidFill>
            <a:prstDash val="solid"/>
          </a:ln>
        </p:spPr>
      </p:sp>
      <p:sp>
        <p:nvSpPr>
          <p:cNvPr id="25" name="Shape 23"/>
          <p:cNvSpPr/>
          <p:nvPr/>
        </p:nvSpPr>
        <p:spPr>
          <a:xfrm>
            <a:off x="8193024" y="4416552"/>
            <a:ext cx="1664208" cy="941832"/>
          </a:xfrm>
          <a:prstGeom prst="rect">
            <a:avLst/>
          </a:prstGeom>
          <a:solidFill>
            <a:srgbClr val="FFFFFF"/>
          </a:solidFill>
          <a:ln w="6350">
            <a:solidFill>
              <a:srgbClr val="FFFFFF"/>
            </a:solidFill>
            <a:prstDash val="solid"/>
          </a:ln>
        </p:spPr>
      </p:sp>
      <p:sp>
        <p:nvSpPr>
          <p:cNvPr id="26" name="Text 24"/>
          <p:cNvSpPr/>
          <p:nvPr/>
        </p:nvSpPr>
        <p:spPr>
          <a:xfrm>
            <a:off x="8357616" y="4553712"/>
            <a:ext cx="1335024" cy="265176"/>
          </a:xfrm>
          <a:prstGeom prst="rect">
            <a:avLst/>
          </a:prstGeom>
          <a:noFill/>
          <a:ln/>
        </p:spPr>
        <p:txBody>
          <a:bodyPr wrap="square" lIns="0" tIns="0" rIns="0" bIns="0" rtlCol="0" anchor="ctr">
            <a:spAutoFit/>
          </a:bodyPr>
          <a:lstStyle/>
          <a:p>
            <a:pPr marL="0" indent="0" algn="ctr">
              <a:buNone/>
            </a:pPr>
            <a:r>
              <a:rPr lang="en-US" sz="1700" b="1" dirty="0">
                <a:solidFill>
                  <a:srgbClr val="5E6E80"/>
                </a:solidFill>
                <a:latin typeface="Aptos" pitchFamily="34" charset="0"/>
                <a:ea typeface="Aptos" pitchFamily="34" charset="-122"/>
                <a:cs typeface="Aptos" pitchFamily="34" charset="-120"/>
              </a:rPr>
              <a:t>M₅</a:t>
            </a:r>
            <a:endParaRPr lang="en-US" sz="1700" dirty="0"/>
          </a:p>
        </p:txBody>
      </p:sp>
      <p:sp>
        <p:nvSpPr>
          <p:cNvPr id="27" name="Shape 25"/>
          <p:cNvSpPr/>
          <p:nvPr/>
        </p:nvSpPr>
        <p:spPr>
          <a:xfrm>
            <a:off x="8613648" y="5102352"/>
            <a:ext cx="822960" cy="0"/>
          </a:xfrm>
          <a:prstGeom prst="line">
            <a:avLst/>
          </a:prstGeom>
          <a:noFill/>
          <a:ln w="15240">
            <a:solidFill>
              <a:srgbClr val="14263D"/>
            </a:solidFill>
            <a:prstDash val="solid"/>
          </a:ln>
        </p:spPr>
      </p:sp>
      <p:sp>
        <p:nvSpPr>
          <p:cNvPr id="28" name="Shape 26"/>
          <p:cNvSpPr/>
          <p:nvPr/>
        </p:nvSpPr>
        <p:spPr>
          <a:xfrm>
            <a:off x="10049256" y="4416552"/>
            <a:ext cx="1664208" cy="941832"/>
          </a:xfrm>
          <a:prstGeom prst="rect">
            <a:avLst/>
          </a:prstGeom>
          <a:solidFill>
            <a:srgbClr val="FFFFFF"/>
          </a:solidFill>
          <a:ln w="6350">
            <a:solidFill>
              <a:srgbClr val="FFFFFF"/>
            </a:solidFill>
            <a:prstDash val="solid"/>
          </a:ln>
        </p:spPr>
      </p:sp>
      <p:sp>
        <p:nvSpPr>
          <p:cNvPr id="29" name="Text 27"/>
          <p:cNvSpPr/>
          <p:nvPr/>
        </p:nvSpPr>
        <p:spPr>
          <a:xfrm>
            <a:off x="10213848" y="4553712"/>
            <a:ext cx="1335024" cy="265176"/>
          </a:xfrm>
          <a:prstGeom prst="rect">
            <a:avLst/>
          </a:prstGeom>
          <a:noFill/>
          <a:ln/>
        </p:spPr>
        <p:txBody>
          <a:bodyPr wrap="square" lIns="0" tIns="0" rIns="0" bIns="0" rtlCol="0" anchor="ctr">
            <a:spAutoFit/>
          </a:bodyPr>
          <a:lstStyle/>
          <a:p>
            <a:pPr marL="0" indent="0" algn="ctr">
              <a:buNone/>
            </a:pPr>
            <a:r>
              <a:rPr lang="en-US" sz="1700" b="1" dirty="0">
                <a:solidFill>
                  <a:srgbClr val="5E6E80"/>
                </a:solidFill>
                <a:latin typeface="Aptos" pitchFamily="34" charset="0"/>
                <a:ea typeface="Aptos" pitchFamily="34" charset="-122"/>
                <a:cs typeface="Aptos" pitchFamily="34" charset="-120"/>
              </a:rPr>
              <a:t>M₆</a:t>
            </a:r>
            <a:endParaRPr lang="en-US" sz="1700" dirty="0"/>
          </a:p>
        </p:txBody>
      </p:sp>
      <p:sp>
        <p:nvSpPr>
          <p:cNvPr id="30" name="Shape 28"/>
          <p:cNvSpPr/>
          <p:nvPr/>
        </p:nvSpPr>
        <p:spPr>
          <a:xfrm>
            <a:off x="10469880" y="5102352"/>
            <a:ext cx="822960" cy="0"/>
          </a:xfrm>
          <a:prstGeom prst="line">
            <a:avLst/>
          </a:prstGeom>
          <a:noFill/>
          <a:ln w="15240">
            <a:solidFill>
              <a:srgbClr val="14263D"/>
            </a:solidFill>
            <a:prstDash val="solid"/>
          </a:ln>
        </p:spPr>
      </p:sp>
      <p:sp>
        <p:nvSpPr>
          <p:cNvPr id="31" name="Shape 29"/>
          <p:cNvSpPr/>
          <p:nvPr/>
        </p:nvSpPr>
        <p:spPr>
          <a:xfrm>
            <a:off x="566928" y="5705856"/>
            <a:ext cx="11045952" cy="457200"/>
          </a:xfrm>
          <a:prstGeom prst="rect">
            <a:avLst/>
          </a:prstGeom>
          <a:solidFill>
            <a:srgbClr val="FFF2DF"/>
          </a:solidFill>
          <a:ln w="6350">
            <a:solidFill>
              <a:srgbClr val="FFF2DF"/>
            </a:solidFill>
            <a:prstDash val="solid"/>
          </a:ln>
        </p:spPr>
      </p:sp>
      <p:sp>
        <p:nvSpPr>
          <p:cNvPr id="32" name="Text 30"/>
          <p:cNvSpPr/>
          <p:nvPr/>
        </p:nvSpPr>
        <p:spPr>
          <a:xfrm>
            <a:off x="758952" y="5742432"/>
            <a:ext cx="10671048" cy="365760"/>
          </a:xfrm>
          <a:prstGeom prst="rect">
            <a:avLst/>
          </a:prstGeom>
          <a:noFill/>
          <a:ln/>
        </p:spPr>
        <p:txBody>
          <a:bodyPr wrap="square" lIns="0" tIns="0" rIns="0" bIns="0" rtlCol="0" anchor="ctr">
            <a:spAutoFit/>
          </a:bodyPr>
          <a:lstStyle/>
          <a:p>
            <a:pPr marL="0" indent="0">
              <a:buNone/>
            </a:pPr>
            <a:r>
              <a:rPr lang="en-US" sz="2000" b="1" dirty="0">
                <a:solidFill>
                  <a:srgbClr val="AF651D"/>
                </a:solidFill>
                <a:latin typeface="Aptos" pitchFamily="34" charset="0"/>
                <a:ea typeface="Aptos" pitchFamily="34" charset="-122"/>
                <a:cs typeface="Aptos" pitchFamily="34" charset="-120"/>
              </a:rPr>
              <a:t>Think in proportions first. There is more than one valid answer.</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04:15–05:45</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WORKED EXAMPLE 1 · EXPLAIN</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One valid prior: (1, 1, 1, 1, 1, 5)</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L2 · Firner L5 | Original arithmetic example</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5 / 15</a:t>
            </a:r>
            <a:endParaRPr lang="en-US" sz="1050" dirty="0"/>
          </a:p>
        </p:txBody>
      </p:sp>
      <p:sp>
        <p:nvSpPr>
          <p:cNvPr id="10" name="Shape 8"/>
          <p:cNvSpPr/>
          <p:nvPr/>
        </p:nvSpPr>
        <p:spPr>
          <a:xfrm>
            <a:off x="768096" y="1901952"/>
            <a:ext cx="1664208" cy="1042416"/>
          </a:xfrm>
          <a:prstGeom prst="rect">
            <a:avLst/>
          </a:prstGeom>
          <a:solidFill>
            <a:srgbClr val="FFFFFF"/>
          </a:solidFill>
          <a:ln w="6350">
            <a:solidFill>
              <a:srgbClr val="FFFFFF"/>
            </a:solidFill>
            <a:prstDash val="solid"/>
          </a:ln>
        </p:spPr>
      </p:sp>
      <p:sp>
        <p:nvSpPr>
          <p:cNvPr id="11" name="Text 9"/>
          <p:cNvSpPr/>
          <p:nvPr/>
        </p:nvSpPr>
        <p:spPr>
          <a:xfrm>
            <a:off x="877824" y="2048256"/>
            <a:ext cx="1444752" cy="246888"/>
          </a:xfrm>
          <a:prstGeom prst="rect">
            <a:avLst/>
          </a:prstGeom>
          <a:noFill/>
          <a:ln/>
        </p:spPr>
        <p:txBody>
          <a:bodyPr wrap="square" lIns="0" tIns="0" rIns="0" bIns="0" rtlCol="0" anchor="ctr">
            <a:spAutoFit/>
          </a:bodyPr>
          <a:lstStyle/>
          <a:p>
            <a:pPr marL="0" indent="0" algn="ctr">
              <a:buNone/>
            </a:pPr>
            <a:r>
              <a:rPr lang="en-US" sz="1600" dirty="0">
                <a:solidFill>
                  <a:srgbClr val="5E6E80"/>
                </a:solidFill>
                <a:latin typeface="Aptos" pitchFamily="34" charset="0"/>
                <a:ea typeface="Aptos" pitchFamily="34" charset="-122"/>
                <a:cs typeface="Aptos" pitchFamily="34" charset="-120"/>
              </a:rPr>
              <a:t>Face 1</a:t>
            </a:r>
            <a:endParaRPr lang="en-US" sz="1600" dirty="0"/>
          </a:p>
        </p:txBody>
      </p:sp>
      <p:sp>
        <p:nvSpPr>
          <p:cNvPr id="12" name="Text 10"/>
          <p:cNvSpPr/>
          <p:nvPr/>
        </p:nvSpPr>
        <p:spPr>
          <a:xfrm>
            <a:off x="877824" y="2368296"/>
            <a:ext cx="1444752" cy="393192"/>
          </a:xfrm>
          <a:prstGeom prst="rect">
            <a:avLst/>
          </a:prstGeom>
          <a:noFill/>
          <a:ln/>
        </p:spPr>
        <p:txBody>
          <a:bodyPr wrap="square" lIns="0" tIns="0" rIns="0" bIns="0" rtlCol="0" anchor="ctr">
            <a:spAutoFit/>
          </a:bodyPr>
          <a:lstStyle/>
          <a:p>
            <a:pPr marL="0" indent="0" algn="ctr">
              <a:buNone/>
            </a:pPr>
            <a:r>
              <a:rPr lang="en-US" sz="2900" b="1" dirty="0">
                <a:solidFill>
                  <a:srgbClr val="14263D"/>
                </a:solidFill>
                <a:latin typeface="Aptos" pitchFamily="34" charset="0"/>
                <a:ea typeface="Aptos" pitchFamily="34" charset="-122"/>
                <a:cs typeface="Aptos" pitchFamily="34" charset="-120"/>
              </a:rPr>
              <a:t>1</a:t>
            </a:r>
            <a:endParaRPr lang="en-US" sz="2900" dirty="0"/>
          </a:p>
        </p:txBody>
      </p:sp>
      <p:sp>
        <p:nvSpPr>
          <p:cNvPr id="13" name="Shape 11"/>
          <p:cNvSpPr/>
          <p:nvPr/>
        </p:nvSpPr>
        <p:spPr>
          <a:xfrm>
            <a:off x="2624328" y="1901952"/>
            <a:ext cx="1664208" cy="1042416"/>
          </a:xfrm>
          <a:prstGeom prst="rect">
            <a:avLst/>
          </a:prstGeom>
          <a:solidFill>
            <a:srgbClr val="FFFFFF"/>
          </a:solidFill>
          <a:ln w="6350">
            <a:solidFill>
              <a:srgbClr val="FFFFFF"/>
            </a:solidFill>
            <a:prstDash val="solid"/>
          </a:ln>
        </p:spPr>
      </p:sp>
      <p:sp>
        <p:nvSpPr>
          <p:cNvPr id="14" name="Text 12"/>
          <p:cNvSpPr/>
          <p:nvPr/>
        </p:nvSpPr>
        <p:spPr>
          <a:xfrm>
            <a:off x="2734056" y="2048256"/>
            <a:ext cx="1444752" cy="246888"/>
          </a:xfrm>
          <a:prstGeom prst="rect">
            <a:avLst/>
          </a:prstGeom>
          <a:noFill/>
          <a:ln/>
        </p:spPr>
        <p:txBody>
          <a:bodyPr wrap="square" lIns="0" tIns="0" rIns="0" bIns="0" rtlCol="0" anchor="ctr">
            <a:spAutoFit/>
          </a:bodyPr>
          <a:lstStyle/>
          <a:p>
            <a:pPr marL="0" indent="0" algn="ctr">
              <a:buNone/>
            </a:pPr>
            <a:r>
              <a:rPr lang="en-US" sz="1600" dirty="0">
                <a:solidFill>
                  <a:srgbClr val="5E6E80"/>
                </a:solidFill>
                <a:latin typeface="Aptos" pitchFamily="34" charset="0"/>
                <a:ea typeface="Aptos" pitchFamily="34" charset="-122"/>
                <a:cs typeface="Aptos" pitchFamily="34" charset="-120"/>
              </a:rPr>
              <a:t>Face 2</a:t>
            </a:r>
            <a:endParaRPr lang="en-US" sz="1600" dirty="0"/>
          </a:p>
        </p:txBody>
      </p:sp>
      <p:sp>
        <p:nvSpPr>
          <p:cNvPr id="15" name="Text 13"/>
          <p:cNvSpPr/>
          <p:nvPr/>
        </p:nvSpPr>
        <p:spPr>
          <a:xfrm>
            <a:off x="2734056" y="2368296"/>
            <a:ext cx="1444752" cy="393192"/>
          </a:xfrm>
          <a:prstGeom prst="rect">
            <a:avLst/>
          </a:prstGeom>
          <a:noFill/>
          <a:ln/>
        </p:spPr>
        <p:txBody>
          <a:bodyPr wrap="square" lIns="0" tIns="0" rIns="0" bIns="0" rtlCol="0" anchor="ctr">
            <a:spAutoFit/>
          </a:bodyPr>
          <a:lstStyle/>
          <a:p>
            <a:pPr marL="0" indent="0" algn="ctr">
              <a:buNone/>
            </a:pPr>
            <a:r>
              <a:rPr lang="en-US" sz="2900" b="1" dirty="0">
                <a:solidFill>
                  <a:srgbClr val="14263D"/>
                </a:solidFill>
                <a:latin typeface="Aptos" pitchFamily="34" charset="0"/>
                <a:ea typeface="Aptos" pitchFamily="34" charset="-122"/>
                <a:cs typeface="Aptos" pitchFamily="34" charset="-120"/>
              </a:rPr>
              <a:t>1</a:t>
            </a:r>
            <a:endParaRPr lang="en-US" sz="2900" dirty="0"/>
          </a:p>
        </p:txBody>
      </p:sp>
      <p:sp>
        <p:nvSpPr>
          <p:cNvPr id="16" name="Shape 14"/>
          <p:cNvSpPr/>
          <p:nvPr/>
        </p:nvSpPr>
        <p:spPr>
          <a:xfrm>
            <a:off x="4480560" y="1901952"/>
            <a:ext cx="1664208" cy="1042416"/>
          </a:xfrm>
          <a:prstGeom prst="rect">
            <a:avLst/>
          </a:prstGeom>
          <a:solidFill>
            <a:srgbClr val="FFFFFF"/>
          </a:solidFill>
          <a:ln w="6350">
            <a:solidFill>
              <a:srgbClr val="FFFFFF"/>
            </a:solidFill>
            <a:prstDash val="solid"/>
          </a:ln>
        </p:spPr>
      </p:sp>
      <p:sp>
        <p:nvSpPr>
          <p:cNvPr id="17" name="Text 15"/>
          <p:cNvSpPr/>
          <p:nvPr/>
        </p:nvSpPr>
        <p:spPr>
          <a:xfrm>
            <a:off x="4590288" y="2048256"/>
            <a:ext cx="1444752" cy="246888"/>
          </a:xfrm>
          <a:prstGeom prst="rect">
            <a:avLst/>
          </a:prstGeom>
          <a:noFill/>
          <a:ln/>
        </p:spPr>
        <p:txBody>
          <a:bodyPr wrap="square" lIns="0" tIns="0" rIns="0" bIns="0" rtlCol="0" anchor="ctr">
            <a:spAutoFit/>
          </a:bodyPr>
          <a:lstStyle/>
          <a:p>
            <a:pPr marL="0" indent="0" algn="ctr">
              <a:buNone/>
            </a:pPr>
            <a:r>
              <a:rPr lang="en-US" sz="1600" dirty="0">
                <a:solidFill>
                  <a:srgbClr val="5E6E80"/>
                </a:solidFill>
                <a:latin typeface="Aptos" pitchFamily="34" charset="0"/>
                <a:ea typeface="Aptos" pitchFamily="34" charset="-122"/>
                <a:cs typeface="Aptos" pitchFamily="34" charset="-120"/>
              </a:rPr>
              <a:t>Face 3</a:t>
            </a:r>
            <a:endParaRPr lang="en-US" sz="1600" dirty="0"/>
          </a:p>
        </p:txBody>
      </p:sp>
      <p:sp>
        <p:nvSpPr>
          <p:cNvPr id="18" name="Text 16"/>
          <p:cNvSpPr/>
          <p:nvPr/>
        </p:nvSpPr>
        <p:spPr>
          <a:xfrm>
            <a:off x="4590288" y="2368296"/>
            <a:ext cx="1444752" cy="393192"/>
          </a:xfrm>
          <a:prstGeom prst="rect">
            <a:avLst/>
          </a:prstGeom>
          <a:noFill/>
          <a:ln/>
        </p:spPr>
        <p:txBody>
          <a:bodyPr wrap="square" lIns="0" tIns="0" rIns="0" bIns="0" rtlCol="0" anchor="ctr">
            <a:spAutoFit/>
          </a:bodyPr>
          <a:lstStyle/>
          <a:p>
            <a:pPr marL="0" indent="0" algn="ctr">
              <a:buNone/>
            </a:pPr>
            <a:r>
              <a:rPr lang="en-US" sz="2900" b="1" dirty="0">
                <a:solidFill>
                  <a:srgbClr val="14263D"/>
                </a:solidFill>
                <a:latin typeface="Aptos" pitchFamily="34" charset="0"/>
                <a:ea typeface="Aptos" pitchFamily="34" charset="-122"/>
                <a:cs typeface="Aptos" pitchFamily="34" charset="-120"/>
              </a:rPr>
              <a:t>1</a:t>
            </a:r>
            <a:endParaRPr lang="en-US" sz="2900" dirty="0"/>
          </a:p>
        </p:txBody>
      </p:sp>
      <p:sp>
        <p:nvSpPr>
          <p:cNvPr id="19" name="Shape 17"/>
          <p:cNvSpPr/>
          <p:nvPr/>
        </p:nvSpPr>
        <p:spPr>
          <a:xfrm>
            <a:off x="6336792" y="1901952"/>
            <a:ext cx="1664208" cy="1042416"/>
          </a:xfrm>
          <a:prstGeom prst="rect">
            <a:avLst/>
          </a:prstGeom>
          <a:solidFill>
            <a:srgbClr val="FFFFFF"/>
          </a:solidFill>
          <a:ln w="6350">
            <a:solidFill>
              <a:srgbClr val="FFFFFF"/>
            </a:solidFill>
            <a:prstDash val="solid"/>
          </a:ln>
        </p:spPr>
      </p:sp>
      <p:sp>
        <p:nvSpPr>
          <p:cNvPr id="20" name="Text 18"/>
          <p:cNvSpPr/>
          <p:nvPr/>
        </p:nvSpPr>
        <p:spPr>
          <a:xfrm>
            <a:off x="6446520" y="2048256"/>
            <a:ext cx="1444752" cy="246888"/>
          </a:xfrm>
          <a:prstGeom prst="rect">
            <a:avLst/>
          </a:prstGeom>
          <a:noFill/>
          <a:ln/>
        </p:spPr>
        <p:txBody>
          <a:bodyPr wrap="square" lIns="0" tIns="0" rIns="0" bIns="0" rtlCol="0" anchor="ctr">
            <a:spAutoFit/>
          </a:bodyPr>
          <a:lstStyle/>
          <a:p>
            <a:pPr marL="0" indent="0" algn="ctr">
              <a:buNone/>
            </a:pPr>
            <a:r>
              <a:rPr lang="en-US" sz="1600" dirty="0">
                <a:solidFill>
                  <a:srgbClr val="5E6E80"/>
                </a:solidFill>
                <a:latin typeface="Aptos" pitchFamily="34" charset="0"/>
                <a:ea typeface="Aptos" pitchFamily="34" charset="-122"/>
                <a:cs typeface="Aptos" pitchFamily="34" charset="-120"/>
              </a:rPr>
              <a:t>Face 4</a:t>
            </a:r>
            <a:endParaRPr lang="en-US" sz="1600" dirty="0"/>
          </a:p>
        </p:txBody>
      </p:sp>
      <p:sp>
        <p:nvSpPr>
          <p:cNvPr id="21" name="Text 19"/>
          <p:cNvSpPr/>
          <p:nvPr/>
        </p:nvSpPr>
        <p:spPr>
          <a:xfrm>
            <a:off x="6446520" y="2368296"/>
            <a:ext cx="1444752" cy="393192"/>
          </a:xfrm>
          <a:prstGeom prst="rect">
            <a:avLst/>
          </a:prstGeom>
          <a:noFill/>
          <a:ln/>
        </p:spPr>
        <p:txBody>
          <a:bodyPr wrap="square" lIns="0" tIns="0" rIns="0" bIns="0" rtlCol="0" anchor="ctr">
            <a:spAutoFit/>
          </a:bodyPr>
          <a:lstStyle/>
          <a:p>
            <a:pPr marL="0" indent="0" algn="ctr">
              <a:buNone/>
            </a:pPr>
            <a:r>
              <a:rPr lang="en-US" sz="2900" b="1" dirty="0">
                <a:solidFill>
                  <a:srgbClr val="14263D"/>
                </a:solidFill>
                <a:latin typeface="Aptos" pitchFamily="34" charset="0"/>
                <a:ea typeface="Aptos" pitchFamily="34" charset="-122"/>
                <a:cs typeface="Aptos" pitchFamily="34" charset="-120"/>
              </a:rPr>
              <a:t>1</a:t>
            </a:r>
            <a:endParaRPr lang="en-US" sz="2900" dirty="0"/>
          </a:p>
        </p:txBody>
      </p:sp>
      <p:sp>
        <p:nvSpPr>
          <p:cNvPr id="22" name="Shape 20"/>
          <p:cNvSpPr/>
          <p:nvPr/>
        </p:nvSpPr>
        <p:spPr>
          <a:xfrm>
            <a:off x="8193024" y="1901952"/>
            <a:ext cx="1664208" cy="1042416"/>
          </a:xfrm>
          <a:prstGeom prst="rect">
            <a:avLst/>
          </a:prstGeom>
          <a:solidFill>
            <a:srgbClr val="FFFFFF"/>
          </a:solidFill>
          <a:ln w="6350">
            <a:solidFill>
              <a:srgbClr val="FFFFFF"/>
            </a:solidFill>
            <a:prstDash val="solid"/>
          </a:ln>
        </p:spPr>
      </p:sp>
      <p:sp>
        <p:nvSpPr>
          <p:cNvPr id="23" name="Text 21"/>
          <p:cNvSpPr/>
          <p:nvPr/>
        </p:nvSpPr>
        <p:spPr>
          <a:xfrm>
            <a:off x="8302752" y="2048256"/>
            <a:ext cx="1444752" cy="246888"/>
          </a:xfrm>
          <a:prstGeom prst="rect">
            <a:avLst/>
          </a:prstGeom>
          <a:noFill/>
          <a:ln/>
        </p:spPr>
        <p:txBody>
          <a:bodyPr wrap="square" lIns="0" tIns="0" rIns="0" bIns="0" rtlCol="0" anchor="ctr">
            <a:spAutoFit/>
          </a:bodyPr>
          <a:lstStyle/>
          <a:p>
            <a:pPr marL="0" indent="0" algn="ctr">
              <a:buNone/>
            </a:pPr>
            <a:r>
              <a:rPr lang="en-US" sz="1600" dirty="0">
                <a:solidFill>
                  <a:srgbClr val="5E6E80"/>
                </a:solidFill>
                <a:latin typeface="Aptos" pitchFamily="34" charset="0"/>
                <a:ea typeface="Aptos" pitchFamily="34" charset="-122"/>
                <a:cs typeface="Aptos" pitchFamily="34" charset="-120"/>
              </a:rPr>
              <a:t>Face 5</a:t>
            </a:r>
            <a:endParaRPr lang="en-US" sz="1600" dirty="0"/>
          </a:p>
        </p:txBody>
      </p:sp>
      <p:sp>
        <p:nvSpPr>
          <p:cNvPr id="24" name="Text 22"/>
          <p:cNvSpPr/>
          <p:nvPr/>
        </p:nvSpPr>
        <p:spPr>
          <a:xfrm>
            <a:off x="8302752" y="2368296"/>
            <a:ext cx="1444752" cy="393192"/>
          </a:xfrm>
          <a:prstGeom prst="rect">
            <a:avLst/>
          </a:prstGeom>
          <a:noFill/>
          <a:ln/>
        </p:spPr>
        <p:txBody>
          <a:bodyPr wrap="square" lIns="0" tIns="0" rIns="0" bIns="0" rtlCol="0" anchor="ctr">
            <a:spAutoFit/>
          </a:bodyPr>
          <a:lstStyle/>
          <a:p>
            <a:pPr marL="0" indent="0" algn="ctr">
              <a:buNone/>
            </a:pPr>
            <a:r>
              <a:rPr lang="en-US" sz="2900" b="1" dirty="0">
                <a:solidFill>
                  <a:srgbClr val="14263D"/>
                </a:solidFill>
                <a:latin typeface="Aptos" pitchFamily="34" charset="0"/>
                <a:ea typeface="Aptos" pitchFamily="34" charset="-122"/>
                <a:cs typeface="Aptos" pitchFamily="34" charset="-120"/>
              </a:rPr>
              <a:t>1</a:t>
            </a:r>
            <a:endParaRPr lang="en-US" sz="2900" dirty="0"/>
          </a:p>
        </p:txBody>
      </p:sp>
      <p:sp>
        <p:nvSpPr>
          <p:cNvPr id="25" name="Shape 23"/>
          <p:cNvSpPr/>
          <p:nvPr/>
        </p:nvSpPr>
        <p:spPr>
          <a:xfrm>
            <a:off x="10049256" y="1901952"/>
            <a:ext cx="1664208" cy="1042416"/>
          </a:xfrm>
          <a:prstGeom prst="rect">
            <a:avLst/>
          </a:prstGeom>
          <a:solidFill>
            <a:srgbClr val="E7F4F2"/>
          </a:solidFill>
          <a:ln w="6350">
            <a:solidFill>
              <a:srgbClr val="E7F4F2"/>
            </a:solidFill>
            <a:prstDash val="solid"/>
          </a:ln>
        </p:spPr>
      </p:sp>
      <p:sp>
        <p:nvSpPr>
          <p:cNvPr id="26" name="Text 24"/>
          <p:cNvSpPr/>
          <p:nvPr/>
        </p:nvSpPr>
        <p:spPr>
          <a:xfrm>
            <a:off x="10158984" y="2048256"/>
            <a:ext cx="1444752" cy="246888"/>
          </a:xfrm>
          <a:prstGeom prst="rect">
            <a:avLst/>
          </a:prstGeom>
          <a:noFill/>
          <a:ln/>
        </p:spPr>
        <p:txBody>
          <a:bodyPr wrap="square" lIns="0" tIns="0" rIns="0" bIns="0" rtlCol="0" anchor="ctr">
            <a:spAutoFit/>
          </a:bodyPr>
          <a:lstStyle/>
          <a:p>
            <a:pPr marL="0" indent="0" algn="ctr">
              <a:buNone/>
            </a:pPr>
            <a:r>
              <a:rPr lang="en-US" sz="1600" dirty="0">
                <a:solidFill>
                  <a:srgbClr val="5E6E80"/>
                </a:solidFill>
                <a:latin typeface="Aptos" pitchFamily="34" charset="0"/>
                <a:ea typeface="Aptos" pitchFamily="34" charset="-122"/>
                <a:cs typeface="Aptos" pitchFamily="34" charset="-120"/>
              </a:rPr>
              <a:t>Face 6</a:t>
            </a:r>
            <a:endParaRPr lang="en-US" sz="1600" dirty="0"/>
          </a:p>
        </p:txBody>
      </p:sp>
      <p:sp>
        <p:nvSpPr>
          <p:cNvPr id="27" name="Text 25"/>
          <p:cNvSpPr/>
          <p:nvPr/>
        </p:nvSpPr>
        <p:spPr>
          <a:xfrm>
            <a:off x="10158984" y="2368296"/>
            <a:ext cx="1444752" cy="393192"/>
          </a:xfrm>
          <a:prstGeom prst="rect">
            <a:avLst/>
          </a:prstGeom>
          <a:noFill/>
          <a:ln/>
        </p:spPr>
        <p:txBody>
          <a:bodyPr wrap="square" lIns="0" tIns="0" rIns="0" bIns="0" rtlCol="0" anchor="ctr">
            <a:spAutoFit/>
          </a:bodyPr>
          <a:lstStyle/>
          <a:p>
            <a:pPr marL="0" indent="0" algn="ctr">
              <a:buNone/>
            </a:pPr>
            <a:r>
              <a:rPr lang="en-US" sz="2900" b="1" dirty="0">
                <a:solidFill>
                  <a:srgbClr val="087F82"/>
                </a:solidFill>
                <a:latin typeface="Aptos" pitchFamily="34" charset="0"/>
                <a:ea typeface="Aptos" pitchFamily="34" charset="-122"/>
                <a:cs typeface="Aptos" pitchFamily="34" charset="-120"/>
              </a:rPr>
              <a:t>5</a:t>
            </a:r>
            <a:endParaRPr lang="en-US" sz="2900" dirty="0"/>
          </a:p>
        </p:txBody>
      </p:sp>
      <p:pic>
        <p:nvPicPr>
          <p:cNvPr id="2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6384" y="3255264"/>
            <a:ext cx="5670395" cy="685800"/>
          </a:xfrm>
          <a:prstGeom prst="rect">
            <a:avLst/>
          </a:prstGeom>
        </p:spPr>
      </p:pic>
      <p:sp>
        <p:nvSpPr>
          <p:cNvPr id="29" name="Text 26"/>
          <p:cNvSpPr/>
          <p:nvPr/>
        </p:nvSpPr>
        <p:spPr>
          <a:xfrm>
            <a:off x="786384" y="4233672"/>
            <a:ext cx="10698480" cy="338328"/>
          </a:xfrm>
          <a:prstGeom prst="rect">
            <a:avLst/>
          </a:prstGeom>
          <a:noFill/>
          <a:ln/>
        </p:spPr>
        <p:txBody>
          <a:bodyPr wrap="square" lIns="0" tIns="0" rIns="0" bIns="0" rtlCol="0" anchor="ctr">
            <a:spAutoFit/>
          </a:bodyPr>
          <a:lstStyle/>
          <a:p>
            <a:pPr marL="0" indent="0">
              <a:buNone/>
            </a:pPr>
            <a:r>
              <a:rPr lang="en-US" sz="2200" dirty="0">
                <a:solidFill>
                  <a:srgbClr val="5E6E80"/>
                </a:solidFill>
                <a:latin typeface="Aptos" pitchFamily="34" charset="0"/>
                <a:ea typeface="Aptos" pitchFamily="34" charset="-122"/>
                <a:cs typeface="Aptos" pitchFamily="34" charset="-120"/>
              </a:rPr>
              <a:t>Same proportions, stronger prior: (2, 2, 2, 2, 2, 10)</a:t>
            </a:r>
            <a:endParaRPr lang="en-US" sz="2200" dirty="0"/>
          </a:p>
        </p:txBody>
      </p:sp>
      <p:sp>
        <p:nvSpPr>
          <p:cNvPr id="30" name="Shape 27"/>
          <p:cNvSpPr/>
          <p:nvPr/>
        </p:nvSpPr>
        <p:spPr>
          <a:xfrm>
            <a:off x="603504" y="4828032"/>
            <a:ext cx="11000232" cy="1115568"/>
          </a:xfrm>
          <a:prstGeom prst="rect">
            <a:avLst/>
          </a:prstGeom>
          <a:solidFill>
            <a:srgbClr val="FFFFFF"/>
          </a:solidFill>
          <a:ln w="6350">
            <a:solidFill>
              <a:srgbClr val="FFFFFF"/>
            </a:solidFill>
            <a:prstDash val="solid"/>
          </a:ln>
        </p:spPr>
      </p:sp>
      <p:sp>
        <p:nvSpPr>
          <p:cNvPr id="31" name="Text 28"/>
          <p:cNvSpPr/>
          <p:nvPr/>
        </p:nvSpPr>
        <p:spPr>
          <a:xfrm>
            <a:off x="813816" y="4992624"/>
            <a:ext cx="10515600" cy="274320"/>
          </a:xfrm>
          <a:prstGeom prst="rect">
            <a:avLst/>
          </a:prstGeom>
          <a:noFill/>
          <a:ln/>
        </p:spPr>
        <p:txBody>
          <a:bodyPr wrap="square" lIns="0" tIns="0" rIns="0" bIns="0" rtlCol="0" anchor="ctr">
            <a:spAutoFit/>
          </a:bodyPr>
          <a:lstStyle/>
          <a:p>
            <a:pPr marL="0" indent="0">
              <a:buNone/>
            </a:pPr>
            <a:r>
              <a:rPr lang="en-US" sz="1900" b="1" dirty="0">
                <a:solidFill>
                  <a:srgbClr val="14263D"/>
                </a:solidFill>
                <a:latin typeface="Aptos" pitchFamily="34" charset="0"/>
                <a:ea typeface="Aptos" pitchFamily="34" charset="-122"/>
                <a:cs typeface="Aptos" pitchFamily="34" charset="-120"/>
              </a:rPr>
              <a:t>After 10 actual rolls, suppose face 6 appears twice:</a:t>
            </a:r>
            <a:endParaRPr lang="en-US" sz="1900" dirty="0"/>
          </a:p>
        </p:txBody>
      </p:sp>
      <p:pic>
        <p:nvPicPr>
          <p:cNvPr id="3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960" y="5422392"/>
            <a:ext cx="3868581" cy="3840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05:45–07:30</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GENERALIZE</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Unbiased does not mean lowest error</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L2 · Firner L3 | Bias–variance tradeoff</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6 / 15</a:t>
            </a:r>
            <a:endParaRPr lang="en-US" sz="105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096" y="1883664"/>
            <a:ext cx="3271357" cy="475488"/>
          </a:xfrm>
          <a:prstGeom prst="rect">
            <a:avLst/>
          </a:prstGeom>
        </p:spPr>
      </p:pic>
      <p:sp>
        <p:nvSpPr>
          <p:cNvPr id="11" name="Text 8"/>
          <p:cNvSpPr/>
          <p:nvPr/>
        </p:nvSpPr>
        <p:spPr>
          <a:xfrm>
            <a:off x="795528" y="2624328"/>
            <a:ext cx="10561320" cy="694944"/>
          </a:xfrm>
          <a:prstGeom prst="rect">
            <a:avLst/>
          </a:prstGeom>
          <a:noFill/>
          <a:ln/>
        </p:spPr>
        <p:txBody>
          <a:bodyPr wrap="square" lIns="0" tIns="0" rIns="0" bIns="0" rtlCol="0" anchor="ctr">
            <a:spAutoFit/>
          </a:bodyPr>
          <a:lstStyle/>
          <a:p>
            <a:pPr marL="0" indent="0">
              <a:buNone/>
            </a:pPr>
            <a:r>
              <a:rPr lang="en-US" sz="2200" dirty="0">
                <a:solidFill>
                  <a:srgbClr val="5E6E80"/>
                </a:solidFill>
                <a:latin typeface="Aptos" pitchFamily="34" charset="0"/>
                <a:ea typeface="Aptos" pitchFamily="34" charset="-122"/>
                <a:cs typeface="Aptos" pitchFamily="34" charset="-120"/>
              </a:rPr>
              <a:t>Bias: systematic offset</a:t>
            </a:r>
            <a:endParaRPr lang="en-US" sz="2200" dirty="0"/>
          </a:p>
          <a:p>
            <a:pPr marL="0" indent="0">
              <a:buNone/>
            </a:pPr>
            <a:r>
              <a:rPr lang="en-US" sz="2200" dirty="0">
                <a:solidFill>
                  <a:srgbClr val="5E6E80"/>
                </a:solidFill>
                <a:latin typeface="Aptos" pitchFamily="34" charset="0"/>
                <a:ea typeface="Aptos" pitchFamily="34" charset="-122"/>
                <a:cs typeface="Aptos" pitchFamily="34" charset="-120"/>
              </a:rPr>
              <a:t>Variance: sensitivity to a new dataset</a:t>
            </a:r>
            <a:endParaRPr lang="en-US" sz="22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384" y="3621024"/>
            <a:ext cx="5682082" cy="594360"/>
          </a:xfrm>
          <a:prstGeom prst="rect">
            <a:avLst/>
          </a:prstGeom>
        </p:spPr>
      </p:pic>
      <p:sp>
        <p:nvSpPr>
          <p:cNvPr id="13" name="Shape 9"/>
          <p:cNvSpPr/>
          <p:nvPr/>
        </p:nvSpPr>
        <p:spPr>
          <a:xfrm>
            <a:off x="777240" y="4562856"/>
            <a:ext cx="3529584" cy="393192"/>
          </a:xfrm>
          <a:prstGeom prst="rect">
            <a:avLst/>
          </a:prstGeom>
          <a:solidFill>
            <a:srgbClr val="EBF1F9"/>
          </a:solidFill>
          <a:ln w="6350">
            <a:solidFill>
              <a:srgbClr val="EBF1F9"/>
            </a:solidFill>
            <a:prstDash val="solid"/>
          </a:ln>
        </p:spPr>
      </p:sp>
      <p:sp>
        <p:nvSpPr>
          <p:cNvPr id="14" name="Text 10"/>
          <p:cNvSpPr/>
          <p:nvPr/>
        </p:nvSpPr>
        <p:spPr>
          <a:xfrm>
            <a:off x="905256" y="4617720"/>
            <a:ext cx="3273552" cy="283464"/>
          </a:xfrm>
          <a:prstGeom prst="rect">
            <a:avLst/>
          </a:prstGeom>
          <a:noFill/>
          <a:ln/>
        </p:spPr>
        <p:txBody>
          <a:bodyPr wrap="square" lIns="0" tIns="0" rIns="0" bIns="0" rtlCol="0" anchor="ctr">
            <a:spAutoFit/>
          </a:bodyPr>
          <a:lstStyle/>
          <a:p>
            <a:pPr marL="0" indent="0" algn="ctr">
              <a:buNone/>
            </a:pPr>
            <a:r>
              <a:rPr lang="en-US" sz="1600" b="1" dirty="0">
                <a:solidFill>
                  <a:srgbClr val="14263D"/>
                </a:solidFill>
                <a:latin typeface="Aptos" pitchFamily="34" charset="0"/>
                <a:ea typeface="Aptos" pitchFamily="34" charset="-122"/>
                <a:cs typeface="Aptos" pitchFamily="34" charset="-120"/>
              </a:rPr>
              <a:t>Estimator</a:t>
            </a:r>
            <a:endParaRPr lang="en-US" sz="1600" dirty="0"/>
          </a:p>
        </p:txBody>
      </p:sp>
      <p:sp>
        <p:nvSpPr>
          <p:cNvPr id="15" name="Shape 11"/>
          <p:cNvSpPr/>
          <p:nvPr/>
        </p:nvSpPr>
        <p:spPr>
          <a:xfrm>
            <a:off x="4334256" y="4562856"/>
            <a:ext cx="2331720" cy="393192"/>
          </a:xfrm>
          <a:prstGeom prst="rect">
            <a:avLst/>
          </a:prstGeom>
          <a:solidFill>
            <a:srgbClr val="EBF1F9"/>
          </a:solidFill>
          <a:ln w="6350">
            <a:solidFill>
              <a:srgbClr val="EBF1F9"/>
            </a:solidFill>
            <a:prstDash val="solid"/>
          </a:ln>
        </p:spPr>
      </p:sp>
      <p:sp>
        <p:nvSpPr>
          <p:cNvPr id="16" name="Text 12"/>
          <p:cNvSpPr/>
          <p:nvPr/>
        </p:nvSpPr>
        <p:spPr>
          <a:xfrm>
            <a:off x="4462272" y="4617720"/>
            <a:ext cx="2075688" cy="283464"/>
          </a:xfrm>
          <a:prstGeom prst="rect">
            <a:avLst/>
          </a:prstGeom>
          <a:noFill/>
          <a:ln/>
        </p:spPr>
        <p:txBody>
          <a:bodyPr wrap="square" lIns="0" tIns="0" rIns="0" bIns="0" rtlCol="0" anchor="ctr">
            <a:spAutoFit/>
          </a:bodyPr>
          <a:lstStyle/>
          <a:p>
            <a:pPr marL="0" indent="0" algn="ctr">
              <a:buNone/>
            </a:pPr>
            <a:r>
              <a:rPr lang="en-US" sz="1600" b="1" dirty="0">
                <a:solidFill>
                  <a:srgbClr val="14263D"/>
                </a:solidFill>
                <a:latin typeface="Aptos" pitchFamily="34" charset="0"/>
                <a:ea typeface="Aptos" pitchFamily="34" charset="-122"/>
                <a:cs typeface="Aptos" pitchFamily="34" charset="-120"/>
              </a:rPr>
              <a:t>Bias</a:t>
            </a:r>
            <a:endParaRPr lang="en-US" sz="1600" dirty="0"/>
          </a:p>
        </p:txBody>
      </p:sp>
      <p:sp>
        <p:nvSpPr>
          <p:cNvPr id="17" name="Shape 13"/>
          <p:cNvSpPr/>
          <p:nvPr/>
        </p:nvSpPr>
        <p:spPr>
          <a:xfrm>
            <a:off x="6693408" y="4562856"/>
            <a:ext cx="2331720" cy="393192"/>
          </a:xfrm>
          <a:prstGeom prst="rect">
            <a:avLst/>
          </a:prstGeom>
          <a:solidFill>
            <a:srgbClr val="EBF1F9"/>
          </a:solidFill>
          <a:ln w="6350">
            <a:solidFill>
              <a:srgbClr val="EBF1F9"/>
            </a:solidFill>
            <a:prstDash val="solid"/>
          </a:ln>
        </p:spPr>
      </p:sp>
      <p:sp>
        <p:nvSpPr>
          <p:cNvPr id="18" name="Text 14"/>
          <p:cNvSpPr/>
          <p:nvPr/>
        </p:nvSpPr>
        <p:spPr>
          <a:xfrm>
            <a:off x="6821424" y="4617720"/>
            <a:ext cx="2075688" cy="283464"/>
          </a:xfrm>
          <a:prstGeom prst="rect">
            <a:avLst/>
          </a:prstGeom>
          <a:noFill/>
          <a:ln/>
        </p:spPr>
        <p:txBody>
          <a:bodyPr wrap="square" lIns="0" tIns="0" rIns="0" bIns="0" rtlCol="0" anchor="ctr">
            <a:spAutoFit/>
          </a:bodyPr>
          <a:lstStyle/>
          <a:p>
            <a:pPr marL="0" indent="0" algn="ctr">
              <a:buNone/>
            </a:pPr>
            <a:r>
              <a:rPr lang="en-US" sz="1600" b="1" dirty="0">
                <a:solidFill>
                  <a:srgbClr val="14263D"/>
                </a:solidFill>
                <a:latin typeface="Aptos" pitchFamily="34" charset="0"/>
                <a:ea typeface="Aptos" pitchFamily="34" charset="-122"/>
                <a:cs typeface="Aptos" pitchFamily="34" charset="-120"/>
              </a:rPr>
              <a:t>Variance</a:t>
            </a:r>
            <a:endParaRPr lang="en-US" sz="1600" dirty="0"/>
          </a:p>
        </p:txBody>
      </p:sp>
      <p:sp>
        <p:nvSpPr>
          <p:cNvPr id="19" name="Shape 15"/>
          <p:cNvSpPr/>
          <p:nvPr/>
        </p:nvSpPr>
        <p:spPr>
          <a:xfrm>
            <a:off x="9052560" y="4562856"/>
            <a:ext cx="2331720" cy="393192"/>
          </a:xfrm>
          <a:prstGeom prst="rect">
            <a:avLst/>
          </a:prstGeom>
          <a:solidFill>
            <a:srgbClr val="EBF1F9"/>
          </a:solidFill>
          <a:ln w="6350">
            <a:solidFill>
              <a:srgbClr val="EBF1F9"/>
            </a:solidFill>
            <a:prstDash val="solid"/>
          </a:ln>
        </p:spPr>
      </p:sp>
      <p:sp>
        <p:nvSpPr>
          <p:cNvPr id="20" name="Text 16"/>
          <p:cNvSpPr/>
          <p:nvPr/>
        </p:nvSpPr>
        <p:spPr>
          <a:xfrm>
            <a:off x="9180576" y="4617720"/>
            <a:ext cx="2075688" cy="283464"/>
          </a:xfrm>
          <a:prstGeom prst="rect">
            <a:avLst/>
          </a:prstGeom>
          <a:noFill/>
          <a:ln/>
        </p:spPr>
        <p:txBody>
          <a:bodyPr wrap="square" lIns="0" tIns="0" rIns="0" bIns="0" rtlCol="0" anchor="ctr">
            <a:spAutoFit/>
          </a:bodyPr>
          <a:lstStyle/>
          <a:p>
            <a:pPr marL="0" indent="0" algn="ctr">
              <a:buNone/>
            </a:pPr>
            <a:r>
              <a:rPr lang="en-US" sz="1600" b="1" dirty="0">
                <a:solidFill>
                  <a:srgbClr val="14263D"/>
                </a:solidFill>
                <a:latin typeface="Aptos" pitchFamily="34" charset="0"/>
                <a:ea typeface="Aptos" pitchFamily="34" charset="-122"/>
                <a:cs typeface="Aptos" pitchFamily="34" charset="-120"/>
              </a:rPr>
              <a:t>MSE</a:t>
            </a:r>
            <a:endParaRPr lang="en-US" sz="1600" dirty="0"/>
          </a:p>
        </p:txBody>
      </p:sp>
      <p:sp>
        <p:nvSpPr>
          <p:cNvPr id="21" name="Shape 17"/>
          <p:cNvSpPr/>
          <p:nvPr/>
        </p:nvSpPr>
        <p:spPr>
          <a:xfrm>
            <a:off x="777240" y="4974336"/>
            <a:ext cx="3529584" cy="393192"/>
          </a:xfrm>
          <a:prstGeom prst="rect">
            <a:avLst/>
          </a:prstGeom>
          <a:solidFill>
            <a:srgbClr val="FFFFFF"/>
          </a:solidFill>
          <a:ln w="6350">
            <a:solidFill>
              <a:srgbClr val="FFFFFF"/>
            </a:solidFill>
            <a:prstDash val="solid"/>
          </a:ln>
        </p:spPr>
      </p:sp>
      <p:sp>
        <p:nvSpPr>
          <p:cNvPr id="22" name="Text 18"/>
          <p:cNvSpPr/>
          <p:nvPr/>
        </p:nvSpPr>
        <p:spPr>
          <a:xfrm>
            <a:off x="905256" y="5029200"/>
            <a:ext cx="3273552" cy="283464"/>
          </a:xfrm>
          <a:prstGeom prst="rect">
            <a:avLst/>
          </a:prstGeom>
          <a:noFill/>
          <a:ln/>
        </p:spPr>
        <p:txBody>
          <a:bodyPr wrap="square" lIns="0" tIns="0" rIns="0" bIns="0" rtlCol="0" anchor="ctr">
            <a:spAutoFit/>
          </a:bodyPr>
          <a:lstStyle/>
          <a:p>
            <a:pPr marL="0" indent="0" algn="ctr">
              <a:buNone/>
            </a:pPr>
            <a:r>
              <a:rPr lang="en-US" sz="2000" dirty="0">
                <a:solidFill>
                  <a:srgbClr val="14263D"/>
                </a:solidFill>
                <a:latin typeface="Aptos" pitchFamily="34" charset="0"/>
                <a:ea typeface="Aptos" pitchFamily="34" charset="-122"/>
                <a:cs typeface="Aptos" pitchFamily="34" charset="-120"/>
              </a:rPr>
              <a:t>A</a:t>
            </a:r>
            <a:endParaRPr lang="en-US" sz="2000" dirty="0"/>
          </a:p>
        </p:txBody>
      </p:sp>
      <p:sp>
        <p:nvSpPr>
          <p:cNvPr id="23" name="Shape 19"/>
          <p:cNvSpPr/>
          <p:nvPr/>
        </p:nvSpPr>
        <p:spPr>
          <a:xfrm>
            <a:off x="4334256" y="4974336"/>
            <a:ext cx="2331720" cy="393192"/>
          </a:xfrm>
          <a:prstGeom prst="rect">
            <a:avLst/>
          </a:prstGeom>
          <a:solidFill>
            <a:srgbClr val="FFFFFF"/>
          </a:solidFill>
          <a:ln w="6350">
            <a:solidFill>
              <a:srgbClr val="FFFFFF"/>
            </a:solidFill>
            <a:prstDash val="solid"/>
          </a:ln>
        </p:spPr>
      </p:sp>
      <p:sp>
        <p:nvSpPr>
          <p:cNvPr id="24" name="Text 20"/>
          <p:cNvSpPr/>
          <p:nvPr/>
        </p:nvSpPr>
        <p:spPr>
          <a:xfrm>
            <a:off x="4462272" y="5029200"/>
            <a:ext cx="2075688" cy="283464"/>
          </a:xfrm>
          <a:prstGeom prst="rect">
            <a:avLst/>
          </a:prstGeom>
          <a:noFill/>
          <a:ln/>
        </p:spPr>
        <p:txBody>
          <a:bodyPr wrap="square" lIns="0" tIns="0" rIns="0" bIns="0" rtlCol="0" anchor="ctr">
            <a:spAutoFit/>
          </a:bodyPr>
          <a:lstStyle/>
          <a:p>
            <a:pPr marL="0" indent="0" algn="ctr">
              <a:buNone/>
            </a:pPr>
            <a:r>
              <a:rPr lang="en-US" sz="2000" dirty="0">
                <a:solidFill>
                  <a:srgbClr val="14263D"/>
                </a:solidFill>
                <a:latin typeface="Aptos" pitchFamily="34" charset="0"/>
                <a:ea typeface="Aptos" pitchFamily="34" charset="-122"/>
                <a:cs typeface="Aptos" pitchFamily="34" charset="-120"/>
              </a:rPr>
              <a:t>0</a:t>
            </a:r>
            <a:endParaRPr lang="en-US" sz="2000" dirty="0"/>
          </a:p>
        </p:txBody>
      </p:sp>
      <p:sp>
        <p:nvSpPr>
          <p:cNvPr id="25" name="Shape 21"/>
          <p:cNvSpPr/>
          <p:nvPr/>
        </p:nvSpPr>
        <p:spPr>
          <a:xfrm>
            <a:off x="6693408" y="4974336"/>
            <a:ext cx="2331720" cy="393192"/>
          </a:xfrm>
          <a:prstGeom prst="rect">
            <a:avLst/>
          </a:prstGeom>
          <a:solidFill>
            <a:srgbClr val="FFFFFF"/>
          </a:solidFill>
          <a:ln w="6350">
            <a:solidFill>
              <a:srgbClr val="FFFFFF"/>
            </a:solidFill>
            <a:prstDash val="solid"/>
          </a:ln>
        </p:spPr>
      </p:sp>
      <p:sp>
        <p:nvSpPr>
          <p:cNvPr id="26" name="Text 22"/>
          <p:cNvSpPr/>
          <p:nvPr/>
        </p:nvSpPr>
        <p:spPr>
          <a:xfrm>
            <a:off x="6821424" y="5029200"/>
            <a:ext cx="2075688" cy="283464"/>
          </a:xfrm>
          <a:prstGeom prst="rect">
            <a:avLst/>
          </a:prstGeom>
          <a:noFill/>
          <a:ln/>
        </p:spPr>
        <p:txBody>
          <a:bodyPr wrap="square" lIns="0" tIns="0" rIns="0" bIns="0" rtlCol="0" anchor="ctr">
            <a:spAutoFit/>
          </a:bodyPr>
          <a:lstStyle/>
          <a:p>
            <a:pPr marL="0" indent="0" algn="ctr">
              <a:buNone/>
            </a:pPr>
            <a:r>
              <a:rPr lang="en-US" sz="2000" dirty="0">
                <a:solidFill>
                  <a:srgbClr val="14263D"/>
                </a:solidFill>
                <a:latin typeface="Aptos" pitchFamily="34" charset="0"/>
                <a:ea typeface="Aptos" pitchFamily="34" charset="-122"/>
                <a:cs typeface="Aptos" pitchFamily="34" charset="-120"/>
              </a:rPr>
              <a:t>9</a:t>
            </a:r>
            <a:endParaRPr lang="en-US" sz="2000" dirty="0"/>
          </a:p>
        </p:txBody>
      </p:sp>
      <p:sp>
        <p:nvSpPr>
          <p:cNvPr id="27" name="Shape 23"/>
          <p:cNvSpPr/>
          <p:nvPr/>
        </p:nvSpPr>
        <p:spPr>
          <a:xfrm>
            <a:off x="9052560" y="4974336"/>
            <a:ext cx="2331720" cy="393192"/>
          </a:xfrm>
          <a:prstGeom prst="rect">
            <a:avLst/>
          </a:prstGeom>
          <a:solidFill>
            <a:srgbClr val="FFFFFF"/>
          </a:solidFill>
          <a:ln w="6350">
            <a:solidFill>
              <a:srgbClr val="FFFFFF"/>
            </a:solidFill>
            <a:prstDash val="solid"/>
          </a:ln>
        </p:spPr>
      </p:sp>
      <p:sp>
        <p:nvSpPr>
          <p:cNvPr id="28" name="Text 24"/>
          <p:cNvSpPr/>
          <p:nvPr/>
        </p:nvSpPr>
        <p:spPr>
          <a:xfrm>
            <a:off x="9180576" y="5029200"/>
            <a:ext cx="2075688" cy="283464"/>
          </a:xfrm>
          <a:prstGeom prst="rect">
            <a:avLst/>
          </a:prstGeom>
          <a:noFill/>
          <a:ln/>
        </p:spPr>
        <p:txBody>
          <a:bodyPr wrap="square" lIns="0" tIns="0" rIns="0" bIns="0" rtlCol="0" anchor="ctr">
            <a:spAutoFit/>
          </a:bodyPr>
          <a:lstStyle/>
          <a:p>
            <a:pPr marL="0" indent="0" algn="ctr">
              <a:buNone/>
            </a:pPr>
            <a:r>
              <a:rPr lang="en-US" sz="2000" b="1" dirty="0">
                <a:solidFill>
                  <a:srgbClr val="14263D"/>
                </a:solidFill>
                <a:latin typeface="Aptos" pitchFamily="34" charset="0"/>
                <a:ea typeface="Aptos" pitchFamily="34" charset="-122"/>
                <a:cs typeface="Aptos" pitchFamily="34" charset="-120"/>
              </a:rPr>
              <a:t>9</a:t>
            </a:r>
            <a:endParaRPr lang="en-US" sz="2000" dirty="0"/>
          </a:p>
        </p:txBody>
      </p:sp>
      <p:sp>
        <p:nvSpPr>
          <p:cNvPr id="29" name="Shape 25"/>
          <p:cNvSpPr/>
          <p:nvPr/>
        </p:nvSpPr>
        <p:spPr>
          <a:xfrm>
            <a:off x="777240" y="5385816"/>
            <a:ext cx="3529584" cy="393192"/>
          </a:xfrm>
          <a:prstGeom prst="rect">
            <a:avLst/>
          </a:prstGeom>
          <a:solidFill>
            <a:srgbClr val="E7F4F2"/>
          </a:solidFill>
          <a:ln w="6350">
            <a:solidFill>
              <a:srgbClr val="E7F4F2"/>
            </a:solidFill>
            <a:prstDash val="solid"/>
          </a:ln>
        </p:spPr>
      </p:sp>
      <p:sp>
        <p:nvSpPr>
          <p:cNvPr id="30" name="Text 26"/>
          <p:cNvSpPr/>
          <p:nvPr/>
        </p:nvSpPr>
        <p:spPr>
          <a:xfrm>
            <a:off x="905256" y="5440680"/>
            <a:ext cx="3273552" cy="283464"/>
          </a:xfrm>
          <a:prstGeom prst="rect">
            <a:avLst/>
          </a:prstGeom>
          <a:noFill/>
          <a:ln/>
        </p:spPr>
        <p:txBody>
          <a:bodyPr wrap="square" lIns="0" tIns="0" rIns="0" bIns="0" rtlCol="0" anchor="ctr">
            <a:spAutoFit/>
          </a:bodyPr>
          <a:lstStyle/>
          <a:p>
            <a:pPr marL="0" indent="0" algn="ctr">
              <a:buNone/>
            </a:pPr>
            <a:r>
              <a:rPr lang="en-US" sz="2000" dirty="0">
                <a:solidFill>
                  <a:srgbClr val="14263D"/>
                </a:solidFill>
                <a:latin typeface="Aptos" pitchFamily="34" charset="0"/>
                <a:ea typeface="Aptos" pitchFamily="34" charset="-122"/>
                <a:cs typeface="Aptos" pitchFamily="34" charset="-120"/>
              </a:rPr>
              <a:t>B</a:t>
            </a:r>
            <a:endParaRPr lang="en-US" sz="2000" dirty="0"/>
          </a:p>
        </p:txBody>
      </p:sp>
      <p:sp>
        <p:nvSpPr>
          <p:cNvPr id="31" name="Shape 27"/>
          <p:cNvSpPr/>
          <p:nvPr/>
        </p:nvSpPr>
        <p:spPr>
          <a:xfrm>
            <a:off x="4334256" y="5385816"/>
            <a:ext cx="2331720" cy="393192"/>
          </a:xfrm>
          <a:prstGeom prst="rect">
            <a:avLst/>
          </a:prstGeom>
          <a:solidFill>
            <a:srgbClr val="E7F4F2"/>
          </a:solidFill>
          <a:ln w="6350">
            <a:solidFill>
              <a:srgbClr val="E7F4F2"/>
            </a:solidFill>
            <a:prstDash val="solid"/>
          </a:ln>
        </p:spPr>
      </p:sp>
      <p:sp>
        <p:nvSpPr>
          <p:cNvPr id="32" name="Text 28"/>
          <p:cNvSpPr/>
          <p:nvPr/>
        </p:nvSpPr>
        <p:spPr>
          <a:xfrm>
            <a:off x="4462272" y="5440680"/>
            <a:ext cx="2075688" cy="283464"/>
          </a:xfrm>
          <a:prstGeom prst="rect">
            <a:avLst/>
          </a:prstGeom>
          <a:noFill/>
          <a:ln/>
        </p:spPr>
        <p:txBody>
          <a:bodyPr wrap="square" lIns="0" tIns="0" rIns="0" bIns="0" rtlCol="0" anchor="ctr">
            <a:spAutoFit/>
          </a:bodyPr>
          <a:lstStyle/>
          <a:p>
            <a:pPr marL="0" indent="0" algn="ctr">
              <a:buNone/>
            </a:pPr>
            <a:r>
              <a:rPr lang="en-US" sz="2000" dirty="0">
                <a:solidFill>
                  <a:srgbClr val="14263D"/>
                </a:solidFill>
                <a:latin typeface="Aptos" pitchFamily="34" charset="0"/>
                <a:ea typeface="Aptos" pitchFamily="34" charset="-122"/>
                <a:cs typeface="Aptos" pitchFamily="34" charset="-120"/>
              </a:rPr>
              <a:t>1</a:t>
            </a:r>
            <a:endParaRPr lang="en-US" sz="2000" dirty="0"/>
          </a:p>
        </p:txBody>
      </p:sp>
      <p:sp>
        <p:nvSpPr>
          <p:cNvPr id="33" name="Shape 29"/>
          <p:cNvSpPr/>
          <p:nvPr/>
        </p:nvSpPr>
        <p:spPr>
          <a:xfrm>
            <a:off x="6693408" y="5385816"/>
            <a:ext cx="2331720" cy="393192"/>
          </a:xfrm>
          <a:prstGeom prst="rect">
            <a:avLst/>
          </a:prstGeom>
          <a:solidFill>
            <a:srgbClr val="E7F4F2"/>
          </a:solidFill>
          <a:ln w="6350">
            <a:solidFill>
              <a:srgbClr val="E7F4F2"/>
            </a:solidFill>
            <a:prstDash val="solid"/>
          </a:ln>
        </p:spPr>
      </p:sp>
      <p:sp>
        <p:nvSpPr>
          <p:cNvPr id="34" name="Text 30"/>
          <p:cNvSpPr/>
          <p:nvPr/>
        </p:nvSpPr>
        <p:spPr>
          <a:xfrm>
            <a:off x="6821424" y="5440680"/>
            <a:ext cx="2075688" cy="283464"/>
          </a:xfrm>
          <a:prstGeom prst="rect">
            <a:avLst/>
          </a:prstGeom>
          <a:noFill/>
          <a:ln/>
        </p:spPr>
        <p:txBody>
          <a:bodyPr wrap="square" lIns="0" tIns="0" rIns="0" bIns="0" rtlCol="0" anchor="ctr">
            <a:spAutoFit/>
          </a:bodyPr>
          <a:lstStyle/>
          <a:p>
            <a:pPr marL="0" indent="0" algn="ctr">
              <a:buNone/>
            </a:pPr>
            <a:r>
              <a:rPr lang="en-US" sz="2000" dirty="0">
                <a:solidFill>
                  <a:srgbClr val="14263D"/>
                </a:solidFill>
                <a:latin typeface="Aptos" pitchFamily="34" charset="0"/>
                <a:ea typeface="Aptos" pitchFamily="34" charset="-122"/>
                <a:cs typeface="Aptos" pitchFamily="34" charset="-120"/>
              </a:rPr>
              <a:t>3</a:t>
            </a:r>
            <a:endParaRPr lang="en-US" sz="2000" dirty="0"/>
          </a:p>
        </p:txBody>
      </p:sp>
      <p:sp>
        <p:nvSpPr>
          <p:cNvPr id="35" name="Shape 31"/>
          <p:cNvSpPr/>
          <p:nvPr/>
        </p:nvSpPr>
        <p:spPr>
          <a:xfrm>
            <a:off x="9052560" y="5385816"/>
            <a:ext cx="2331720" cy="393192"/>
          </a:xfrm>
          <a:prstGeom prst="rect">
            <a:avLst/>
          </a:prstGeom>
          <a:solidFill>
            <a:srgbClr val="E7F4F2"/>
          </a:solidFill>
          <a:ln w="6350">
            <a:solidFill>
              <a:srgbClr val="E7F4F2"/>
            </a:solidFill>
            <a:prstDash val="solid"/>
          </a:ln>
        </p:spPr>
      </p:sp>
      <p:sp>
        <p:nvSpPr>
          <p:cNvPr id="36" name="Text 32"/>
          <p:cNvSpPr/>
          <p:nvPr/>
        </p:nvSpPr>
        <p:spPr>
          <a:xfrm>
            <a:off x="9180576" y="5440680"/>
            <a:ext cx="2075688" cy="283464"/>
          </a:xfrm>
          <a:prstGeom prst="rect">
            <a:avLst/>
          </a:prstGeom>
          <a:noFill/>
          <a:ln/>
        </p:spPr>
        <p:txBody>
          <a:bodyPr wrap="square" lIns="0" tIns="0" rIns="0" bIns="0" rtlCol="0" anchor="ctr">
            <a:spAutoFit/>
          </a:bodyPr>
          <a:lstStyle/>
          <a:p>
            <a:pPr marL="0" indent="0" algn="ctr">
              <a:buNone/>
            </a:pPr>
            <a:r>
              <a:rPr lang="en-US" sz="2000" b="1" dirty="0">
                <a:solidFill>
                  <a:srgbClr val="14263D"/>
                </a:solidFill>
                <a:latin typeface="Aptos" pitchFamily="34" charset="0"/>
                <a:ea typeface="Aptos" pitchFamily="34" charset="-122"/>
                <a:cs typeface="Aptos" pitchFamily="34" charset="-120"/>
              </a:rPr>
              <a:t>4</a:t>
            </a:r>
            <a:endParaRPr lang="en-US" sz="2000" dirty="0"/>
          </a:p>
        </p:txBody>
      </p:sp>
      <p:sp>
        <p:nvSpPr>
          <p:cNvPr id="37" name="Text 33"/>
          <p:cNvSpPr/>
          <p:nvPr/>
        </p:nvSpPr>
        <p:spPr>
          <a:xfrm>
            <a:off x="786384" y="5998464"/>
            <a:ext cx="10579608" cy="228600"/>
          </a:xfrm>
          <a:prstGeom prst="rect">
            <a:avLst/>
          </a:prstGeom>
          <a:noFill/>
          <a:ln/>
        </p:spPr>
        <p:txBody>
          <a:bodyPr wrap="square" lIns="0" tIns="0" rIns="0" bIns="0" rtlCol="0" anchor="ctr">
            <a:spAutoFit/>
          </a:bodyPr>
          <a:lstStyle/>
          <a:p>
            <a:pPr marL="0" indent="0">
              <a:buNone/>
            </a:pPr>
            <a:r>
              <a:rPr lang="en-US" sz="1750" b="1" dirty="0">
                <a:solidFill>
                  <a:srgbClr val="087F82"/>
                </a:solidFill>
                <a:latin typeface="Aptos" pitchFamily="34" charset="0"/>
                <a:ea typeface="Aptos" pitchFamily="34" charset="-122"/>
                <a:cs typeface="Aptos" pitchFamily="34" charset="-120"/>
              </a:rPr>
              <a:t>A little bias can be worthwhile if the variance drops enough.</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07:30–09:00</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GENERALIZE</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More noise does not call for more complexity</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L3 · Firner L4 · Firner L5 | Schematic—not experimental results</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7 / 15</a:t>
            </a:r>
            <a:endParaRPr lang="en-US" sz="1050" dirty="0"/>
          </a:p>
        </p:txBody>
      </p:sp>
      <p:sp>
        <p:nvSpPr>
          <p:cNvPr id="10" name="Shape 8"/>
          <p:cNvSpPr/>
          <p:nvPr/>
        </p:nvSpPr>
        <p:spPr>
          <a:xfrm>
            <a:off x="594360" y="1837944"/>
            <a:ext cx="5724144" cy="4151376"/>
          </a:xfrm>
          <a:prstGeom prst="rect">
            <a:avLst/>
          </a:prstGeom>
          <a:solidFill>
            <a:srgbClr val="FFFFFF"/>
          </a:solidFill>
          <a:ln w="6350">
            <a:solidFill>
              <a:srgbClr val="FFFFFF"/>
            </a:solidFill>
            <a:prstDash val="solid"/>
          </a:ln>
        </p:spPr>
      </p:sp>
      <p:sp>
        <p:nvSpPr>
          <p:cNvPr id="11" name="Shape 9"/>
          <p:cNvSpPr/>
          <p:nvPr/>
        </p:nvSpPr>
        <p:spPr>
          <a:xfrm>
            <a:off x="1216152" y="5394960"/>
            <a:ext cx="4407408" cy="0"/>
          </a:xfrm>
          <a:prstGeom prst="line">
            <a:avLst/>
          </a:prstGeom>
          <a:noFill/>
          <a:ln w="15240">
            <a:solidFill>
              <a:srgbClr val="5E6E80"/>
            </a:solidFill>
            <a:prstDash val="solid"/>
          </a:ln>
        </p:spPr>
      </p:sp>
      <p:sp>
        <p:nvSpPr>
          <p:cNvPr id="12" name="Shape 10"/>
          <p:cNvSpPr/>
          <p:nvPr/>
        </p:nvSpPr>
        <p:spPr>
          <a:xfrm>
            <a:off x="1216152" y="5394960"/>
            <a:ext cx="0" cy="0"/>
          </a:xfrm>
          <a:prstGeom prst="line">
            <a:avLst/>
          </a:prstGeom>
          <a:noFill/>
          <a:ln w="15240">
            <a:solidFill>
              <a:srgbClr val="5E6E80"/>
            </a:solidFill>
            <a:prstDash val="solid"/>
          </a:ln>
        </p:spPr>
      </p:sp>
      <p:sp>
        <p:nvSpPr>
          <p:cNvPr id="13" name="Text 11"/>
          <p:cNvSpPr/>
          <p:nvPr/>
        </p:nvSpPr>
        <p:spPr>
          <a:xfrm>
            <a:off x="795528" y="2167128"/>
            <a:ext cx="1371600" cy="237744"/>
          </a:xfrm>
          <a:prstGeom prst="rect">
            <a:avLst/>
          </a:prstGeom>
          <a:noFill/>
          <a:ln/>
        </p:spPr>
        <p:txBody>
          <a:bodyPr wrap="square" lIns="0" tIns="0" rIns="0" bIns="0" rtlCol="0" anchor="ctr">
            <a:spAutoFit/>
          </a:bodyPr>
          <a:lstStyle/>
          <a:p>
            <a:pPr marL="0" indent="0">
              <a:buNone/>
            </a:pPr>
            <a:r>
              <a:rPr lang="en-US" sz="1400" dirty="0">
                <a:solidFill>
                  <a:srgbClr val="5E6E80"/>
                </a:solidFill>
                <a:latin typeface="Aptos" pitchFamily="34" charset="0"/>
                <a:ea typeface="Aptos" pitchFamily="34" charset="-122"/>
                <a:cs typeface="Aptos" pitchFamily="34" charset="-120"/>
              </a:rPr>
              <a:t>Error</a:t>
            </a:r>
            <a:endParaRPr lang="en-US" sz="1400" dirty="0"/>
          </a:p>
        </p:txBody>
      </p:sp>
      <p:sp>
        <p:nvSpPr>
          <p:cNvPr id="14" name="Text 12"/>
          <p:cNvSpPr/>
          <p:nvPr/>
        </p:nvSpPr>
        <p:spPr>
          <a:xfrm>
            <a:off x="2286000" y="5586984"/>
            <a:ext cx="2926080" cy="246888"/>
          </a:xfrm>
          <a:prstGeom prst="rect">
            <a:avLst/>
          </a:prstGeom>
          <a:noFill/>
          <a:ln/>
        </p:spPr>
        <p:txBody>
          <a:bodyPr wrap="square" lIns="0" tIns="0" rIns="0" bIns="0" rtlCol="0" anchor="ctr">
            <a:spAutoFit/>
          </a:bodyPr>
          <a:lstStyle/>
          <a:p>
            <a:pPr marL="0" indent="0">
              <a:buNone/>
            </a:pPr>
            <a:r>
              <a:rPr lang="en-US" sz="1500" dirty="0">
                <a:solidFill>
                  <a:srgbClr val="5E6E80"/>
                </a:solidFill>
                <a:latin typeface="Aptos" pitchFamily="34" charset="0"/>
                <a:ea typeface="Aptos" pitchFamily="34" charset="-122"/>
                <a:cs typeface="Aptos" pitchFamily="34" charset="-120"/>
              </a:rPr>
              <a:t>Model complexity</a:t>
            </a:r>
            <a:endParaRPr lang="en-US" sz="1500" dirty="0"/>
          </a:p>
        </p:txBody>
      </p:sp>
      <p:sp>
        <p:nvSpPr>
          <p:cNvPr id="15" name="Shape 13"/>
          <p:cNvSpPr/>
          <p:nvPr/>
        </p:nvSpPr>
        <p:spPr>
          <a:xfrm>
            <a:off x="1216152" y="3440796"/>
            <a:ext cx="68866" cy="106520"/>
          </a:xfrm>
          <a:prstGeom prst="line">
            <a:avLst/>
          </a:prstGeom>
          <a:noFill/>
          <a:ln w="34290">
            <a:solidFill>
              <a:srgbClr val="245B87"/>
            </a:solidFill>
            <a:prstDash val="solid"/>
          </a:ln>
        </p:spPr>
      </p:sp>
      <p:sp>
        <p:nvSpPr>
          <p:cNvPr id="16" name="Shape 14"/>
          <p:cNvSpPr/>
          <p:nvPr/>
        </p:nvSpPr>
        <p:spPr>
          <a:xfrm>
            <a:off x="1285018" y="3547316"/>
            <a:ext cx="68866" cy="99288"/>
          </a:xfrm>
          <a:prstGeom prst="line">
            <a:avLst/>
          </a:prstGeom>
          <a:noFill/>
          <a:ln w="34290">
            <a:solidFill>
              <a:srgbClr val="245B87"/>
            </a:solidFill>
            <a:prstDash val="solid"/>
          </a:ln>
        </p:spPr>
      </p:sp>
      <p:sp>
        <p:nvSpPr>
          <p:cNvPr id="17" name="Shape 15"/>
          <p:cNvSpPr/>
          <p:nvPr/>
        </p:nvSpPr>
        <p:spPr>
          <a:xfrm>
            <a:off x="1353884" y="3646603"/>
            <a:ext cx="68866" cy="92546"/>
          </a:xfrm>
          <a:prstGeom prst="line">
            <a:avLst/>
          </a:prstGeom>
          <a:noFill/>
          <a:ln w="34290">
            <a:solidFill>
              <a:srgbClr val="245B87"/>
            </a:solidFill>
            <a:prstDash val="solid"/>
          </a:ln>
        </p:spPr>
      </p:sp>
      <p:sp>
        <p:nvSpPr>
          <p:cNvPr id="18" name="Shape 16"/>
          <p:cNvSpPr/>
          <p:nvPr/>
        </p:nvSpPr>
        <p:spPr>
          <a:xfrm>
            <a:off x="1422749" y="3739150"/>
            <a:ext cx="68866" cy="86263"/>
          </a:xfrm>
          <a:prstGeom prst="line">
            <a:avLst/>
          </a:prstGeom>
          <a:noFill/>
          <a:ln w="34290">
            <a:solidFill>
              <a:srgbClr val="245B87"/>
            </a:solidFill>
            <a:prstDash val="solid"/>
          </a:ln>
        </p:spPr>
      </p:sp>
      <p:sp>
        <p:nvSpPr>
          <p:cNvPr id="19" name="Shape 17"/>
          <p:cNvSpPr/>
          <p:nvPr/>
        </p:nvSpPr>
        <p:spPr>
          <a:xfrm>
            <a:off x="1491615" y="3825412"/>
            <a:ext cx="68866" cy="80406"/>
          </a:xfrm>
          <a:prstGeom prst="line">
            <a:avLst/>
          </a:prstGeom>
          <a:noFill/>
          <a:ln w="34290">
            <a:solidFill>
              <a:srgbClr val="245B87"/>
            </a:solidFill>
            <a:prstDash val="solid"/>
          </a:ln>
        </p:spPr>
      </p:sp>
      <p:sp>
        <p:nvSpPr>
          <p:cNvPr id="20" name="Shape 18"/>
          <p:cNvSpPr/>
          <p:nvPr/>
        </p:nvSpPr>
        <p:spPr>
          <a:xfrm>
            <a:off x="1560481" y="3905818"/>
            <a:ext cx="68866" cy="74946"/>
          </a:xfrm>
          <a:prstGeom prst="line">
            <a:avLst/>
          </a:prstGeom>
          <a:noFill/>
          <a:ln w="34290">
            <a:solidFill>
              <a:srgbClr val="245B87"/>
            </a:solidFill>
            <a:prstDash val="solid"/>
          </a:ln>
        </p:spPr>
      </p:sp>
      <p:sp>
        <p:nvSpPr>
          <p:cNvPr id="21" name="Shape 19"/>
          <p:cNvSpPr/>
          <p:nvPr/>
        </p:nvSpPr>
        <p:spPr>
          <a:xfrm>
            <a:off x="1629347" y="3980764"/>
            <a:ext cx="68866" cy="69858"/>
          </a:xfrm>
          <a:prstGeom prst="line">
            <a:avLst/>
          </a:prstGeom>
          <a:noFill/>
          <a:ln w="34290">
            <a:solidFill>
              <a:srgbClr val="245B87"/>
            </a:solidFill>
            <a:prstDash val="solid"/>
          </a:ln>
        </p:spPr>
      </p:sp>
      <p:sp>
        <p:nvSpPr>
          <p:cNvPr id="22" name="Shape 20"/>
          <p:cNvSpPr/>
          <p:nvPr/>
        </p:nvSpPr>
        <p:spPr>
          <a:xfrm>
            <a:off x="1698212" y="4050622"/>
            <a:ext cx="68866" cy="65114"/>
          </a:xfrm>
          <a:prstGeom prst="line">
            <a:avLst/>
          </a:prstGeom>
          <a:noFill/>
          <a:ln w="34290">
            <a:solidFill>
              <a:srgbClr val="245B87"/>
            </a:solidFill>
            <a:prstDash val="solid"/>
          </a:ln>
        </p:spPr>
      </p:sp>
      <p:sp>
        <p:nvSpPr>
          <p:cNvPr id="23" name="Shape 21"/>
          <p:cNvSpPr/>
          <p:nvPr/>
        </p:nvSpPr>
        <p:spPr>
          <a:xfrm>
            <a:off x="1767078" y="4115736"/>
            <a:ext cx="68866" cy="60693"/>
          </a:xfrm>
          <a:prstGeom prst="line">
            <a:avLst/>
          </a:prstGeom>
          <a:noFill/>
          <a:ln w="34290">
            <a:solidFill>
              <a:srgbClr val="245B87"/>
            </a:solidFill>
            <a:prstDash val="solid"/>
          </a:ln>
        </p:spPr>
      </p:sp>
      <p:sp>
        <p:nvSpPr>
          <p:cNvPr id="24" name="Shape 22"/>
          <p:cNvSpPr/>
          <p:nvPr/>
        </p:nvSpPr>
        <p:spPr>
          <a:xfrm>
            <a:off x="1835944" y="4176429"/>
            <a:ext cx="68866" cy="56572"/>
          </a:xfrm>
          <a:prstGeom prst="line">
            <a:avLst/>
          </a:prstGeom>
          <a:noFill/>
          <a:ln w="34290">
            <a:solidFill>
              <a:srgbClr val="245B87"/>
            </a:solidFill>
            <a:prstDash val="solid"/>
          </a:ln>
        </p:spPr>
      </p:sp>
      <p:sp>
        <p:nvSpPr>
          <p:cNvPr id="25" name="Shape 23"/>
          <p:cNvSpPr/>
          <p:nvPr/>
        </p:nvSpPr>
        <p:spPr>
          <a:xfrm>
            <a:off x="1904810" y="4233002"/>
            <a:ext cx="68866" cy="52731"/>
          </a:xfrm>
          <a:prstGeom prst="line">
            <a:avLst/>
          </a:prstGeom>
          <a:noFill/>
          <a:ln w="34290">
            <a:solidFill>
              <a:srgbClr val="245B87"/>
            </a:solidFill>
            <a:prstDash val="solid"/>
          </a:ln>
        </p:spPr>
      </p:sp>
      <p:sp>
        <p:nvSpPr>
          <p:cNvPr id="26" name="Shape 24"/>
          <p:cNvSpPr/>
          <p:nvPr/>
        </p:nvSpPr>
        <p:spPr>
          <a:xfrm>
            <a:off x="1973675" y="4285733"/>
            <a:ext cx="68866" cy="49151"/>
          </a:xfrm>
          <a:prstGeom prst="line">
            <a:avLst/>
          </a:prstGeom>
          <a:noFill/>
          <a:ln w="34290">
            <a:solidFill>
              <a:srgbClr val="245B87"/>
            </a:solidFill>
            <a:prstDash val="solid"/>
          </a:ln>
        </p:spPr>
      </p:sp>
      <p:sp>
        <p:nvSpPr>
          <p:cNvPr id="27" name="Shape 25"/>
          <p:cNvSpPr/>
          <p:nvPr/>
        </p:nvSpPr>
        <p:spPr>
          <a:xfrm>
            <a:off x="2042541" y="4334884"/>
            <a:ext cx="68866" cy="45814"/>
          </a:xfrm>
          <a:prstGeom prst="line">
            <a:avLst/>
          </a:prstGeom>
          <a:noFill/>
          <a:ln w="34290">
            <a:solidFill>
              <a:srgbClr val="245B87"/>
            </a:solidFill>
            <a:prstDash val="solid"/>
          </a:ln>
        </p:spPr>
      </p:sp>
      <p:sp>
        <p:nvSpPr>
          <p:cNvPr id="28" name="Shape 26"/>
          <p:cNvSpPr/>
          <p:nvPr/>
        </p:nvSpPr>
        <p:spPr>
          <a:xfrm>
            <a:off x="2111407" y="4380698"/>
            <a:ext cx="68866" cy="42703"/>
          </a:xfrm>
          <a:prstGeom prst="line">
            <a:avLst/>
          </a:prstGeom>
          <a:noFill/>
          <a:ln w="34290">
            <a:solidFill>
              <a:srgbClr val="245B87"/>
            </a:solidFill>
            <a:prstDash val="solid"/>
          </a:ln>
        </p:spPr>
      </p:sp>
      <p:sp>
        <p:nvSpPr>
          <p:cNvPr id="29" name="Shape 27"/>
          <p:cNvSpPr/>
          <p:nvPr/>
        </p:nvSpPr>
        <p:spPr>
          <a:xfrm>
            <a:off x="2180273" y="4423401"/>
            <a:ext cx="68866" cy="39804"/>
          </a:xfrm>
          <a:prstGeom prst="line">
            <a:avLst/>
          </a:prstGeom>
          <a:noFill/>
          <a:ln w="34290">
            <a:solidFill>
              <a:srgbClr val="245B87"/>
            </a:solidFill>
            <a:prstDash val="solid"/>
          </a:ln>
        </p:spPr>
      </p:sp>
      <p:sp>
        <p:nvSpPr>
          <p:cNvPr id="30" name="Shape 28"/>
          <p:cNvSpPr/>
          <p:nvPr/>
        </p:nvSpPr>
        <p:spPr>
          <a:xfrm>
            <a:off x="2249138" y="4463204"/>
            <a:ext cx="68866" cy="37101"/>
          </a:xfrm>
          <a:prstGeom prst="line">
            <a:avLst/>
          </a:prstGeom>
          <a:noFill/>
          <a:ln w="34290">
            <a:solidFill>
              <a:srgbClr val="245B87"/>
            </a:solidFill>
            <a:prstDash val="solid"/>
          </a:ln>
        </p:spPr>
      </p:sp>
      <p:sp>
        <p:nvSpPr>
          <p:cNvPr id="31" name="Shape 29"/>
          <p:cNvSpPr/>
          <p:nvPr/>
        </p:nvSpPr>
        <p:spPr>
          <a:xfrm>
            <a:off x="2318004" y="4500305"/>
            <a:ext cx="68866" cy="34582"/>
          </a:xfrm>
          <a:prstGeom prst="line">
            <a:avLst/>
          </a:prstGeom>
          <a:noFill/>
          <a:ln w="34290">
            <a:solidFill>
              <a:srgbClr val="245B87"/>
            </a:solidFill>
            <a:prstDash val="solid"/>
          </a:ln>
        </p:spPr>
      </p:sp>
      <p:sp>
        <p:nvSpPr>
          <p:cNvPr id="32" name="Shape 30"/>
          <p:cNvSpPr/>
          <p:nvPr/>
        </p:nvSpPr>
        <p:spPr>
          <a:xfrm>
            <a:off x="2386870" y="4534887"/>
            <a:ext cx="68866" cy="32234"/>
          </a:xfrm>
          <a:prstGeom prst="line">
            <a:avLst/>
          </a:prstGeom>
          <a:noFill/>
          <a:ln w="34290">
            <a:solidFill>
              <a:srgbClr val="245B87"/>
            </a:solidFill>
            <a:prstDash val="solid"/>
          </a:ln>
        </p:spPr>
      </p:sp>
      <p:sp>
        <p:nvSpPr>
          <p:cNvPr id="33" name="Shape 31"/>
          <p:cNvSpPr/>
          <p:nvPr/>
        </p:nvSpPr>
        <p:spPr>
          <a:xfrm>
            <a:off x="2455736" y="4567121"/>
            <a:ext cx="68866" cy="30045"/>
          </a:xfrm>
          <a:prstGeom prst="line">
            <a:avLst/>
          </a:prstGeom>
          <a:noFill/>
          <a:ln w="34290">
            <a:solidFill>
              <a:srgbClr val="245B87"/>
            </a:solidFill>
            <a:prstDash val="solid"/>
          </a:ln>
        </p:spPr>
      </p:sp>
      <p:sp>
        <p:nvSpPr>
          <p:cNvPr id="34" name="Shape 32"/>
          <p:cNvSpPr/>
          <p:nvPr/>
        </p:nvSpPr>
        <p:spPr>
          <a:xfrm>
            <a:off x="2524601" y="4597167"/>
            <a:ext cx="68866" cy="28005"/>
          </a:xfrm>
          <a:prstGeom prst="line">
            <a:avLst/>
          </a:prstGeom>
          <a:noFill/>
          <a:ln w="34290">
            <a:solidFill>
              <a:srgbClr val="245B87"/>
            </a:solidFill>
            <a:prstDash val="solid"/>
          </a:ln>
        </p:spPr>
      </p:sp>
      <p:sp>
        <p:nvSpPr>
          <p:cNvPr id="35" name="Shape 33"/>
          <p:cNvSpPr/>
          <p:nvPr/>
        </p:nvSpPr>
        <p:spPr>
          <a:xfrm>
            <a:off x="2593467" y="4625172"/>
            <a:ext cx="68866" cy="26104"/>
          </a:xfrm>
          <a:prstGeom prst="line">
            <a:avLst/>
          </a:prstGeom>
          <a:noFill/>
          <a:ln w="34290">
            <a:solidFill>
              <a:srgbClr val="245B87"/>
            </a:solidFill>
            <a:prstDash val="solid"/>
          </a:ln>
        </p:spPr>
      </p:sp>
      <p:sp>
        <p:nvSpPr>
          <p:cNvPr id="36" name="Shape 34"/>
          <p:cNvSpPr/>
          <p:nvPr/>
        </p:nvSpPr>
        <p:spPr>
          <a:xfrm>
            <a:off x="2662333" y="4651276"/>
            <a:ext cx="68866" cy="24331"/>
          </a:xfrm>
          <a:prstGeom prst="line">
            <a:avLst/>
          </a:prstGeom>
          <a:noFill/>
          <a:ln w="34290">
            <a:solidFill>
              <a:srgbClr val="245B87"/>
            </a:solidFill>
            <a:prstDash val="solid"/>
          </a:ln>
        </p:spPr>
      </p:sp>
      <p:sp>
        <p:nvSpPr>
          <p:cNvPr id="37" name="Shape 35"/>
          <p:cNvSpPr/>
          <p:nvPr/>
        </p:nvSpPr>
        <p:spPr>
          <a:xfrm>
            <a:off x="2731199" y="4675607"/>
            <a:ext cx="68866" cy="22679"/>
          </a:xfrm>
          <a:prstGeom prst="line">
            <a:avLst/>
          </a:prstGeom>
          <a:noFill/>
          <a:ln w="34290">
            <a:solidFill>
              <a:srgbClr val="245B87"/>
            </a:solidFill>
            <a:prstDash val="solid"/>
          </a:ln>
        </p:spPr>
      </p:sp>
      <p:sp>
        <p:nvSpPr>
          <p:cNvPr id="38" name="Shape 36"/>
          <p:cNvSpPr/>
          <p:nvPr/>
        </p:nvSpPr>
        <p:spPr>
          <a:xfrm>
            <a:off x="2800064" y="4698287"/>
            <a:ext cx="68866" cy="21140"/>
          </a:xfrm>
          <a:prstGeom prst="line">
            <a:avLst/>
          </a:prstGeom>
          <a:noFill/>
          <a:ln w="34290">
            <a:solidFill>
              <a:srgbClr val="245B87"/>
            </a:solidFill>
            <a:prstDash val="solid"/>
          </a:ln>
        </p:spPr>
      </p:sp>
      <p:sp>
        <p:nvSpPr>
          <p:cNvPr id="39" name="Shape 37"/>
          <p:cNvSpPr/>
          <p:nvPr/>
        </p:nvSpPr>
        <p:spPr>
          <a:xfrm>
            <a:off x="2868930" y="4719426"/>
            <a:ext cx="68866" cy="19704"/>
          </a:xfrm>
          <a:prstGeom prst="line">
            <a:avLst/>
          </a:prstGeom>
          <a:noFill/>
          <a:ln w="34290">
            <a:solidFill>
              <a:srgbClr val="245B87"/>
            </a:solidFill>
            <a:prstDash val="solid"/>
          </a:ln>
        </p:spPr>
      </p:sp>
      <p:sp>
        <p:nvSpPr>
          <p:cNvPr id="40" name="Shape 38"/>
          <p:cNvSpPr/>
          <p:nvPr/>
        </p:nvSpPr>
        <p:spPr>
          <a:xfrm>
            <a:off x="2937796" y="4739131"/>
            <a:ext cx="68866" cy="18366"/>
          </a:xfrm>
          <a:prstGeom prst="line">
            <a:avLst/>
          </a:prstGeom>
          <a:noFill/>
          <a:ln w="34290">
            <a:solidFill>
              <a:srgbClr val="245B87"/>
            </a:solidFill>
            <a:prstDash val="solid"/>
          </a:ln>
        </p:spPr>
      </p:sp>
      <p:sp>
        <p:nvSpPr>
          <p:cNvPr id="41" name="Shape 39"/>
          <p:cNvSpPr/>
          <p:nvPr/>
        </p:nvSpPr>
        <p:spPr>
          <a:xfrm>
            <a:off x="3006662" y="4757497"/>
            <a:ext cx="68866" cy="17119"/>
          </a:xfrm>
          <a:prstGeom prst="line">
            <a:avLst/>
          </a:prstGeom>
          <a:noFill/>
          <a:ln w="34290">
            <a:solidFill>
              <a:srgbClr val="245B87"/>
            </a:solidFill>
            <a:prstDash val="solid"/>
          </a:ln>
        </p:spPr>
      </p:sp>
      <p:sp>
        <p:nvSpPr>
          <p:cNvPr id="42" name="Shape 40"/>
          <p:cNvSpPr/>
          <p:nvPr/>
        </p:nvSpPr>
        <p:spPr>
          <a:xfrm>
            <a:off x="3075527" y="4774616"/>
            <a:ext cx="68866" cy="15957"/>
          </a:xfrm>
          <a:prstGeom prst="line">
            <a:avLst/>
          </a:prstGeom>
          <a:noFill/>
          <a:ln w="34290">
            <a:solidFill>
              <a:srgbClr val="245B87"/>
            </a:solidFill>
            <a:prstDash val="solid"/>
          </a:ln>
        </p:spPr>
      </p:sp>
      <p:sp>
        <p:nvSpPr>
          <p:cNvPr id="43" name="Shape 41"/>
          <p:cNvSpPr/>
          <p:nvPr/>
        </p:nvSpPr>
        <p:spPr>
          <a:xfrm>
            <a:off x="3144393" y="4790573"/>
            <a:ext cx="68866" cy="14874"/>
          </a:xfrm>
          <a:prstGeom prst="line">
            <a:avLst/>
          </a:prstGeom>
          <a:noFill/>
          <a:ln w="34290">
            <a:solidFill>
              <a:srgbClr val="245B87"/>
            </a:solidFill>
            <a:prstDash val="solid"/>
          </a:ln>
        </p:spPr>
      </p:sp>
      <p:sp>
        <p:nvSpPr>
          <p:cNvPr id="44" name="Shape 42"/>
          <p:cNvSpPr/>
          <p:nvPr/>
        </p:nvSpPr>
        <p:spPr>
          <a:xfrm>
            <a:off x="3213259" y="4805447"/>
            <a:ext cx="68866" cy="13864"/>
          </a:xfrm>
          <a:prstGeom prst="line">
            <a:avLst/>
          </a:prstGeom>
          <a:noFill/>
          <a:ln w="34290">
            <a:solidFill>
              <a:srgbClr val="245B87"/>
            </a:solidFill>
            <a:prstDash val="solid"/>
          </a:ln>
        </p:spPr>
      </p:sp>
      <p:sp>
        <p:nvSpPr>
          <p:cNvPr id="45" name="Shape 43"/>
          <p:cNvSpPr/>
          <p:nvPr/>
        </p:nvSpPr>
        <p:spPr>
          <a:xfrm>
            <a:off x="3282125" y="4819310"/>
            <a:ext cx="68866" cy="12922"/>
          </a:xfrm>
          <a:prstGeom prst="line">
            <a:avLst/>
          </a:prstGeom>
          <a:noFill/>
          <a:ln w="34290">
            <a:solidFill>
              <a:srgbClr val="245B87"/>
            </a:solidFill>
            <a:prstDash val="solid"/>
          </a:ln>
        </p:spPr>
      </p:sp>
      <p:sp>
        <p:nvSpPr>
          <p:cNvPr id="46" name="Shape 44"/>
          <p:cNvSpPr/>
          <p:nvPr/>
        </p:nvSpPr>
        <p:spPr>
          <a:xfrm>
            <a:off x="3350990" y="4832233"/>
            <a:ext cx="68866" cy="12045"/>
          </a:xfrm>
          <a:prstGeom prst="line">
            <a:avLst/>
          </a:prstGeom>
          <a:noFill/>
          <a:ln w="34290">
            <a:solidFill>
              <a:srgbClr val="245B87"/>
            </a:solidFill>
            <a:prstDash val="solid"/>
          </a:ln>
        </p:spPr>
      </p:sp>
      <p:sp>
        <p:nvSpPr>
          <p:cNvPr id="47" name="Shape 45"/>
          <p:cNvSpPr/>
          <p:nvPr/>
        </p:nvSpPr>
        <p:spPr>
          <a:xfrm>
            <a:off x="3419856" y="4844278"/>
            <a:ext cx="68866" cy="11227"/>
          </a:xfrm>
          <a:prstGeom prst="line">
            <a:avLst/>
          </a:prstGeom>
          <a:noFill/>
          <a:ln w="34290">
            <a:solidFill>
              <a:srgbClr val="245B87"/>
            </a:solidFill>
            <a:prstDash val="solid"/>
          </a:ln>
        </p:spPr>
      </p:sp>
      <p:sp>
        <p:nvSpPr>
          <p:cNvPr id="48" name="Shape 46"/>
          <p:cNvSpPr/>
          <p:nvPr/>
        </p:nvSpPr>
        <p:spPr>
          <a:xfrm>
            <a:off x="3488722" y="4855505"/>
            <a:ext cx="68866" cy="10465"/>
          </a:xfrm>
          <a:prstGeom prst="line">
            <a:avLst/>
          </a:prstGeom>
          <a:noFill/>
          <a:ln w="34290">
            <a:solidFill>
              <a:srgbClr val="245B87"/>
            </a:solidFill>
            <a:prstDash val="solid"/>
          </a:ln>
        </p:spPr>
      </p:sp>
      <p:sp>
        <p:nvSpPr>
          <p:cNvPr id="49" name="Shape 47"/>
          <p:cNvSpPr/>
          <p:nvPr/>
        </p:nvSpPr>
        <p:spPr>
          <a:xfrm>
            <a:off x="3557588" y="4865970"/>
            <a:ext cx="68866" cy="9754"/>
          </a:xfrm>
          <a:prstGeom prst="line">
            <a:avLst/>
          </a:prstGeom>
          <a:noFill/>
          <a:ln w="34290">
            <a:solidFill>
              <a:srgbClr val="245B87"/>
            </a:solidFill>
            <a:prstDash val="solid"/>
          </a:ln>
        </p:spPr>
      </p:sp>
      <p:sp>
        <p:nvSpPr>
          <p:cNvPr id="50" name="Shape 48"/>
          <p:cNvSpPr/>
          <p:nvPr/>
        </p:nvSpPr>
        <p:spPr>
          <a:xfrm>
            <a:off x="3626453" y="4875724"/>
            <a:ext cx="68866" cy="9092"/>
          </a:xfrm>
          <a:prstGeom prst="line">
            <a:avLst/>
          </a:prstGeom>
          <a:noFill/>
          <a:ln w="34290">
            <a:solidFill>
              <a:srgbClr val="245B87"/>
            </a:solidFill>
            <a:prstDash val="solid"/>
          </a:ln>
        </p:spPr>
      </p:sp>
      <p:sp>
        <p:nvSpPr>
          <p:cNvPr id="51" name="Shape 49"/>
          <p:cNvSpPr/>
          <p:nvPr/>
        </p:nvSpPr>
        <p:spPr>
          <a:xfrm>
            <a:off x="3695319" y="4884816"/>
            <a:ext cx="68866" cy="8475"/>
          </a:xfrm>
          <a:prstGeom prst="line">
            <a:avLst/>
          </a:prstGeom>
          <a:noFill/>
          <a:ln w="34290">
            <a:solidFill>
              <a:srgbClr val="245B87"/>
            </a:solidFill>
            <a:prstDash val="solid"/>
          </a:ln>
        </p:spPr>
      </p:sp>
      <p:sp>
        <p:nvSpPr>
          <p:cNvPr id="52" name="Shape 50"/>
          <p:cNvSpPr/>
          <p:nvPr/>
        </p:nvSpPr>
        <p:spPr>
          <a:xfrm>
            <a:off x="3764185" y="4893291"/>
            <a:ext cx="68866" cy="7899"/>
          </a:xfrm>
          <a:prstGeom prst="line">
            <a:avLst/>
          </a:prstGeom>
          <a:noFill/>
          <a:ln w="34290">
            <a:solidFill>
              <a:srgbClr val="245B87"/>
            </a:solidFill>
            <a:prstDash val="solid"/>
          </a:ln>
        </p:spPr>
      </p:sp>
      <p:sp>
        <p:nvSpPr>
          <p:cNvPr id="53" name="Shape 51"/>
          <p:cNvSpPr/>
          <p:nvPr/>
        </p:nvSpPr>
        <p:spPr>
          <a:xfrm>
            <a:off x="3833051" y="4901190"/>
            <a:ext cx="68866" cy="7363"/>
          </a:xfrm>
          <a:prstGeom prst="line">
            <a:avLst/>
          </a:prstGeom>
          <a:noFill/>
          <a:ln w="34290">
            <a:solidFill>
              <a:srgbClr val="245B87"/>
            </a:solidFill>
            <a:prstDash val="solid"/>
          </a:ln>
        </p:spPr>
      </p:sp>
      <p:sp>
        <p:nvSpPr>
          <p:cNvPr id="54" name="Shape 52"/>
          <p:cNvSpPr/>
          <p:nvPr/>
        </p:nvSpPr>
        <p:spPr>
          <a:xfrm>
            <a:off x="3901916" y="4908553"/>
            <a:ext cx="68866" cy="6863"/>
          </a:xfrm>
          <a:prstGeom prst="line">
            <a:avLst/>
          </a:prstGeom>
          <a:noFill/>
          <a:ln w="34290">
            <a:solidFill>
              <a:srgbClr val="245B87"/>
            </a:solidFill>
            <a:prstDash val="solid"/>
          </a:ln>
        </p:spPr>
      </p:sp>
      <p:sp>
        <p:nvSpPr>
          <p:cNvPr id="55" name="Shape 53"/>
          <p:cNvSpPr/>
          <p:nvPr/>
        </p:nvSpPr>
        <p:spPr>
          <a:xfrm>
            <a:off x="3970782" y="4915416"/>
            <a:ext cx="68866" cy="6397"/>
          </a:xfrm>
          <a:prstGeom prst="line">
            <a:avLst/>
          </a:prstGeom>
          <a:noFill/>
          <a:ln w="34290">
            <a:solidFill>
              <a:srgbClr val="245B87"/>
            </a:solidFill>
            <a:prstDash val="solid"/>
          </a:ln>
        </p:spPr>
      </p:sp>
      <p:sp>
        <p:nvSpPr>
          <p:cNvPr id="56" name="Shape 54"/>
          <p:cNvSpPr/>
          <p:nvPr/>
        </p:nvSpPr>
        <p:spPr>
          <a:xfrm>
            <a:off x="4039648" y="4921813"/>
            <a:ext cx="68866" cy="5963"/>
          </a:xfrm>
          <a:prstGeom prst="line">
            <a:avLst/>
          </a:prstGeom>
          <a:noFill/>
          <a:ln w="34290">
            <a:solidFill>
              <a:srgbClr val="245B87"/>
            </a:solidFill>
            <a:prstDash val="solid"/>
          </a:ln>
        </p:spPr>
      </p:sp>
      <p:sp>
        <p:nvSpPr>
          <p:cNvPr id="57" name="Shape 55"/>
          <p:cNvSpPr/>
          <p:nvPr/>
        </p:nvSpPr>
        <p:spPr>
          <a:xfrm>
            <a:off x="4108514" y="4927776"/>
            <a:ext cx="68866" cy="5558"/>
          </a:xfrm>
          <a:prstGeom prst="line">
            <a:avLst/>
          </a:prstGeom>
          <a:noFill/>
          <a:ln w="34290">
            <a:solidFill>
              <a:srgbClr val="245B87"/>
            </a:solidFill>
            <a:prstDash val="solid"/>
          </a:ln>
        </p:spPr>
      </p:sp>
      <p:sp>
        <p:nvSpPr>
          <p:cNvPr id="58" name="Shape 56"/>
          <p:cNvSpPr/>
          <p:nvPr/>
        </p:nvSpPr>
        <p:spPr>
          <a:xfrm>
            <a:off x="4177379" y="4933333"/>
            <a:ext cx="68866" cy="5180"/>
          </a:xfrm>
          <a:prstGeom prst="line">
            <a:avLst/>
          </a:prstGeom>
          <a:noFill/>
          <a:ln w="34290">
            <a:solidFill>
              <a:srgbClr val="245B87"/>
            </a:solidFill>
            <a:prstDash val="solid"/>
          </a:ln>
        </p:spPr>
      </p:sp>
      <p:sp>
        <p:nvSpPr>
          <p:cNvPr id="59" name="Shape 57"/>
          <p:cNvSpPr/>
          <p:nvPr/>
        </p:nvSpPr>
        <p:spPr>
          <a:xfrm>
            <a:off x="4246245" y="4938514"/>
            <a:ext cx="68866" cy="4829"/>
          </a:xfrm>
          <a:prstGeom prst="line">
            <a:avLst/>
          </a:prstGeom>
          <a:noFill/>
          <a:ln w="34290">
            <a:solidFill>
              <a:srgbClr val="245B87"/>
            </a:solidFill>
            <a:prstDash val="solid"/>
          </a:ln>
        </p:spPr>
      </p:sp>
      <p:sp>
        <p:nvSpPr>
          <p:cNvPr id="60" name="Shape 58"/>
          <p:cNvSpPr/>
          <p:nvPr/>
        </p:nvSpPr>
        <p:spPr>
          <a:xfrm>
            <a:off x="4315111" y="4943343"/>
            <a:ext cx="68866" cy="4501"/>
          </a:xfrm>
          <a:prstGeom prst="line">
            <a:avLst/>
          </a:prstGeom>
          <a:noFill/>
          <a:ln w="34290">
            <a:solidFill>
              <a:srgbClr val="245B87"/>
            </a:solidFill>
            <a:prstDash val="solid"/>
          </a:ln>
        </p:spPr>
      </p:sp>
      <p:sp>
        <p:nvSpPr>
          <p:cNvPr id="61" name="Shape 59"/>
          <p:cNvSpPr/>
          <p:nvPr/>
        </p:nvSpPr>
        <p:spPr>
          <a:xfrm>
            <a:off x="4383977" y="4947844"/>
            <a:ext cx="68866" cy="4195"/>
          </a:xfrm>
          <a:prstGeom prst="line">
            <a:avLst/>
          </a:prstGeom>
          <a:noFill/>
          <a:ln w="34290">
            <a:solidFill>
              <a:srgbClr val="245B87"/>
            </a:solidFill>
            <a:prstDash val="solid"/>
          </a:ln>
        </p:spPr>
      </p:sp>
      <p:sp>
        <p:nvSpPr>
          <p:cNvPr id="62" name="Shape 60"/>
          <p:cNvSpPr/>
          <p:nvPr/>
        </p:nvSpPr>
        <p:spPr>
          <a:xfrm>
            <a:off x="4452842" y="4952039"/>
            <a:ext cx="68866" cy="3910"/>
          </a:xfrm>
          <a:prstGeom prst="line">
            <a:avLst/>
          </a:prstGeom>
          <a:noFill/>
          <a:ln w="34290">
            <a:solidFill>
              <a:srgbClr val="245B87"/>
            </a:solidFill>
            <a:prstDash val="solid"/>
          </a:ln>
        </p:spPr>
      </p:sp>
      <p:sp>
        <p:nvSpPr>
          <p:cNvPr id="63" name="Shape 61"/>
          <p:cNvSpPr/>
          <p:nvPr/>
        </p:nvSpPr>
        <p:spPr>
          <a:xfrm>
            <a:off x="4521708" y="4955949"/>
            <a:ext cx="68866" cy="3645"/>
          </a:xfrm>
          <a:prstGeom prst="line">
            <a:avLst/>
          </a:prstGeom>
          <a:noFill/>
          <a:ln w="34290">
            <a:solidFill>
              <a:srgbClr val="245B87"/>
            </a:solidFill>
            <a:prstDash val="solid"/>
          </a:ln>
        </p:spPr>
      </p:sp>
      <p:sp>
        <p:nvSpPr>
          <p:cNvPr id="64" name="Shape 62"/>
          <p:cNvSpPr/>
          <p:nvPr/>
        </p:nvSpPr>
        <p:spPr>
          <a:xfrm>
            <a:off x="4590574" y="4959594"/>
            <a:ext cx="68866" cy="3397"/>
          </a:xfrm>
          <a:prstGeom prst="line">
            <a:avLst/>
          </a:prstGeom>
          <a:noFill/>
          <a:ln w="34290">
            <a:solidFill>
              <a:srgbClr val="245B87"/>
            </a:solidFill>
            <a:prstDash val="solid"/>
          </a:ln>
        </p:spPr>
      </p:sp>
      <p:sp>
        <p:nvSpPr>
          <p:cNvPr id="65" name="Shape 63"/>
          <p:cNvSpPr/>
          <p:nvPr/>
        </p:nvSpPr>
        <p:spPr>
          <a:xfrm>
            <a:off x="4659440" y="4962992"/>
            <a:ext cx="68866" cy="3167"/>
          </a:xfrm>
          <a:prstGeom prst="line">
            <a:avLst/>
          </a:prstGeom>
          <a:noFill/>
          <a:ln w="34290">
            <a:solidFill>
              <a:srgbClr val="245B87"/>
            </a:solidFill>
            <a:prstDash val="solid"/>
          </a:ln>
        </p:spPr>
      </p:sp>
      <p:sp>
        <p:nvSpPr>
          <p:cNvPr id="66" name="Shape 64"/>
          <p:cNvSpPr/>
          <p:nvPr/>
        </p:nvSpPr>
        <p:spPr>
          <a:xfrm>
            <a:off x="4728305" y="4966158"/>
            <a:ext cx="68866" cy="2952"/>
          </a:xfrm>
          <a:prstGeom prst="line">
            <a:avLst/>
          </a:prstGeom>
          <a:noFill/>
          <a:ln w="34290">
            <a:solidFill>
              <a:srgbClr val="245B87"/>
            </a:solidFill>
            <a:prstDash val="solid"/>
          </a:ln>
        </p:spPr>
      </p:sp>
      <p:sp>
        <p:nvSpPr>
          <p:cNvPr id="67" name="Shape 65"/>
          <p:cNvSpPr/>
          <p:nvPr/>
        </p:nvSpPr>
        <p:spPr>
          <a:xfrm>
            <a:off x="4797171" y="4969110"/>
            <a:ext cx="68866" cy="2751"/>
          </a:xfrm>
          <a:prstGeom prst="line">
            <a:avLst/>
          </a:prstGeom>
          <a:noFill/>
          <a:ln w="34290">
            <a:solidFill>
              <a:srgbClr val="245B87"/>
            </a:solidFill>
            <a:prstDash val="solid"/>
          </a:ln>
        </p:spPr>
      </p:sp>
      <p:sp>
        <p:nvSpPr>
          <p:cNvPr id="68" name="Shape 66"/>
          <p:cNvSpPr/>
          <p:nvPr/>
        </p:nvSpPr>
        <p:spPr>
          <a:xfrm>
            <a:off x="4866037" y="4971861"/>
            <a:ext cx="68866" cy="2565"/>
          </a:xfrm>
          <a:prstGeom prst="line">
            <a:avLst/>
          </a:prstGeom>
          <a:noFill/>
          <a:ln w="34290">
            <a:solidFill>
              <a:srgbClr val="245B87"/>
            </a:solidFill>
            <a:prstDash val="solid"/>
          </a:ln>
        </p:spPr>
      </p:sp>
      <p:sp>
        <p:nvSpPr>
          <p:cNvPr id="69" name="Shape 67"/>
          <p:cNvSpPr/>
          <p:nvPr/>
        </p:nvSpPr>
        <p:spPr>
          <a:xfrm>
            <a:off x="4934903" y="4974426"/>
            <a:ext cx="68866" cy="2390"/>
          </a:xfrm>
          <a:prstGeom prst="line">
            <a:avLst/>
          </a:prstGeom>
          <a:noFill/>
          <a:ln w="34290">
            <a:solidFill>
              <a:srgbClr val="245B87"/>
            </a:solidFill>
            <a:prstDash val="solid"/>
          </a:ln>
        </p:spPr>
      </p:sp>
      <p:sp>
        <p:nvSpPr>
          <p:cNvPr id="70" name="Shape 68"/>
          <p:cNvSpPr/>
          <p:nvPr/>
        </p:nvSpPr>
        <p:spPr>
          <a:xfrm>
            <a:off x="5003768" y="4976816"/>
            <a:ext cx="68866" cy="2228"/>
          </a:xfrm>
          <a:prstGeom prst="line">
            <a:avLst/>
          </a:prstGeom>
          <a:noFill/>
          <a:ln w="34290">
            <a:solidFill>
              <a:srgbClr val="245B87"/>
            </a:solidFill>
            <a:prstDash val="solid"/>
          </a:ln>
        </p:spPr>
      </p:sp>
      <p:sp>
        <p:nvSpPr>
          <p:cNvPr id="71" name="Shape 69"/>
          <p:cNvSpPr/>
          <p:nvPr/>
        </p:nvSpPr>
        <p:spPr>
          <a:xfrm>
            <a:off x="5072634" y="4979044"/>
            <a:ext cx="68866" cy="2077"/>
          </a:xfrm>
          <a:prstGeom prst="line">
            <a:avLst/>
          </a:prstGeom>
          <a:noFill/>
          <a:ln w="34290">
            <a:solidFill>
              <a:srgbClr val="245B87"/>
            </a:solidFill>
            <a:prstDash val="solid"/>
          </a:ln>
        </p:spPr>
      </p:sp>
      <p:sp>
        <p:nvSpPr>
          <p:cNvPr id="72" name="Shape 70"/>
          <p:cNvSpPr/>
          <p:nvPr/>
        </p:nvSpPr>
        <p:spPr>
          <a:xfrm>
            <a:off x="5141500" y="4981121"/>
            <a:ext cx="68866" cy="1936"/>
          </a:xfrm>
          <a:prstGeom prst="line">
            <a:avLst/>
          </a:prstGeom>
          <a:noFill/>
          <a:ln w="34290">
            <a:solidFill>
              <a:srgbClr val="245B87"/>
            </a:solidFill>
            <a:prstDash val="solid"/>
          </a:ln>
        </p:spPr>
      </p:sp>
      <p:sp>
        <p:nvSpPr>
          <p:cNvPr id="73" name="Shape 71"/>
          <p:cNvSpPr/>
          <p:nvPr/>
        </p:nvSpPr>
        <p:spPr>
          <a:xfrm>
            <a:off x="5210366" y="4983057"/>
            <a:ext cx="68866" cy="1804"/>
          </a:xfrm>
          <a:prstGeom prst="line">
            <a:avLst/>
          </a:prstGeom>
          <a:noFill/>
          <a:ln w="34290">
            <a:solidFill>
              <a:srgbClr val="245B87"/>
            </a:solidFill>
            <a:prstDash val="solid"/>
          </a:ln>
        </p:spPr>
      </p:sp>
      <p:sp>
        <p:nvSpPr>
          <p:cNvPr id="74" name="Shape 72"/>
          <p:cNvSpPr/>
          <p:nvPr/>
        </p:nvSpPr>
        <p:spPr>
          <a:xfrm>
            <a:off x="5279231" y="4984861"/>
            <a:ext cx="68866" cy="1682"/>
          </a:xfrm>
          <a:prstGeom prst="line">
            <a:avLst/>
          </a:prstGeom>
          <a:noFill/>
          <a:ln w="34290">
            <a:solidFill>
              <a:srgbClr val="245B87"/>
            </a:solidFill>
            <a:prstDash val="solid"/>
          </a:ln>
        </p:spPr>
      </p:sp>
      <p:sp>
        <p:nvSpPr>
          <p:cNvPr id="75" name="Shape 73"/>
          <p:cNvSpPr/>
          <p:nvPr/>
        </p:nvSpPr>
        <p:spPr>
          <a:xfrm>
            <a:off x="5348097" y="4986543"/>
            <a:ext cx="68866" cy="1568"/>
          </a:xfrm>
          <a:prstGeom prst="line">
            <a:avLst/>
          </a:prstGeom>
          <a:noFill/>
          <a:ln w="34290">
            <a:solidFill>
              <a:srgbClr val="245B87"/>
            </a:solidFill>
            <a:prstDash val="solid"/>
          </a:ln>
        </p:spPr>
      </p:sp>
      <p:sp>
        <p:nvSpPr>
          <p:cNvPr id="76" name="Shape 74"/>
          <p:cNvSpPr/>
          <p:nvPr/>
        </p:nvSpPr>
        <p:spPr>
          <a:xfrm>
            <a:off x="5416963" y="4988111"/>
            <a:ext cx="68866" cy="1461"/>
          </a:xfrm>
          <a:prstGeom prst="line">
            <a:avLst/>
          </a:prstGeom>
          <a:noFill/>
          <a:ln w="34290">
            <a:solidFill>
              <a:srgbClr val="245B87"/>
            </a:solidFill>
            <a:prstDash val="solid"/>
          </a:ln>
        </p:spPr>
      </p:sp>
      <p:sp>
        <p:nvSpPr>
          <p:cNvPr id="77" name="Shape 75"/>
          <p:cNvSpPr/>
          <p:nvPr/>
        </p:nvSpPr>
        <p:spPr>
          <a:xfrm>
            <a:off x="5485829" y="4989572"/>
            <a:ext cx="68866" cy="1362"/>
          </a:xfrm>
          <a:prstGeom prst="line">
            <a:avLst/>
          </a:prstGeom>
          <a:noFill/>
          <a:ln w="34290">
            <a:solidFill>
              <a:srgbClr val="245B87"/>
            </a:solidFill>
            <a:prstDash val="solid"/>
          </a:ln>
        </p:spPr>
      </p:sp>
      <p:sp>
        <p:nvSpPr>
          <p:cNvPr id="78" name="Shape 76"/>
          <p:cNvSpPr/>
          <p:nvPr/>
        </p:nvSpPr>
        <p:spPr>
          <a:xfrm>
            <a:off x="5554694" y="4990934"/>
            <a:ext cx="68866" cy="1270"/>
          </a:xfrm>
          <a:prstGeom prst="line">
            <a:avLst/>
          </a:prstGeom>
          <a:noFill/>
          <a:ln w="34290">
            <a:solidFill>
              <a:srgbClr val="245B87"/>
            </a:solidFill>
            <a:prstDash val="solid"/>
          </a:ln>
        </p:spPr>
      </p:sp>
      <p:sp>
        <p:nvSpPr>
          <p:cNvPr id="79" name="Shape 77"/>
          <p:cNvSpPr/>
          <p:nvPr/>
        </p:nvSpPr>
        <p:spPr>
          <a:xfrm>
            <a:off x="1216152" y="4078839"/>
            <a:ext cx="68866" cy="42849"/>
          </a:xfrm>
          <a:prstGeom prst="line">
            <a:avLst/>
          </a:prstGeom>
          <a:noFill/>
          <a:ln w="34290">
            <a:solidFill>
              <a:srgbClr val="AF651D"/>
            </a:solidFill>
            <a:prstDash val="solid"/>
          </a:ln>
        </p:spPr>
      </p:sp>
      <p:sp>
        <p:nvSpPr>
          <p:cNvPr id="80" name="Shape 78"/>
          <p:cNvSpPr/>
          <p:nvPr/>
        </p:nvSpPr>
        <p:spPr>
          <a:xfrm>
            <a:off x="1285018" y="4121688"/>
            <a:ext cx="68866" cy="41263"/>
          </a:xfrm>
          <a:prstGeom prst="line">
            <a:avLst/>
          </a:prstGeom>
          <a:noFill/>
          <a:ln w="34290">
            <a:solidFill>
              <a:srgbClr val="AF651D"/>
            </a:solidFill>
            <a:prstDash val="solid"/>
          </a:ln>
        </p:spPr>
      </p:sp>
      <p:sp>
        <p:nvSpPr>
          <p:cNvPr id="81" name="Shape 79"/>
          <p:cNvSpPr/>
          <p:nvPr/>
        </p:nvSpPr>
        <p:spPr>
          <a:xfrm>
            <a:off x="1353884" y="4162951"/>
            <a:ext cx="68866" cy="39677"/>
          </a:xfrm>
          <a:prstGeom prst="line">
            <a:avLst/>
          </a:prstGeom>
          <a:noFill/>
          <a:ln w="34290">
            <a:solidFill>
              <a:srgbClr val="AF651D"/>
            </a:solidFill>
            <a:prstDash val="solid"/>
          </a:ln>
        </p:spPr>
      </p:sp>
      <p:sp>
        <p:nvSpPr>
          <p:cNvPr id="82" name="Shape 80"/>
          <p:cNvSpPr/>
          <p:nvPr/>
        </p:nvSpPr>
        <p:spPr>
          <a:xfrm>
            <a:off x="1422749" y="4202628"/>
            <a:ext cx="68866" cy="38091"/>
          </a:xfrm>
          <a:prstGeom prst="line">
            <a:avLst/>
          </a:prstGeom>
          <a:noFill/>
          <a:ln w="34290">
            <a:solidFill>
              <a:srgbClr val="AF651D"/>
            </a:solidFill>
            <a:prstDash val="solid"/>
          </a:ln>
        </p:spPr>
      </p:sp>
      <p:sp>
        <p:nvSpPr>
          <p:cNvPr id="83" name="Shape 81"/>
          <p:cNvSpPr/>
          <p:nvPr/>
        </p:nvSpPr>
        <p:spPr>
          <a:xfrm>
            <a:off x="1491615" y="4240719"/>
            <a:ext cx="68866" cy="36506"/>
          </a:xfrm>
          <a:prstGeom prst="line">
            <a:avLst/>
          </a:prstGeom>
          <a:noFill/>
          <a:ln w="34290">
            <a:solidFill>
              <a:srgbClr val="AF651D"/>
            </a:solidFill>
            <a:prstDash val="solid"/>
          </a:ln>
        </p:spPr>
      </p:sp>
      <p:sp>
        <p:nvSpPr>
          <p:cNvPr id="84" name="Shape 82"/>
          <p:cNvSpPr/>
          <p:nvPr/>
        </p:nvSpPr>
        <p:spPr>
          <a:xfrm>
            <a:off x="1560481" y="4277225"/>
            <a:ext cx="68866" cy="34920"/>
          </a:xfrm>
          <a:prstGeom prst="line">
            <a:avLst/>
          </a:prstGeom>
          <a:noFill/>
          <a:ln w="34290">
            <a:solidFill>
              <a:srgbClr val="AF651D"/>
            </a:solidFill>
            <a:prstDash val="solid"/>
          </a:ln>
        </p:spPr>
      </p:sp>
      <p:sp>
        <p:nvSpPr>
          <p:cNvPr id="85" name="Shape 83"/>
          <p:cNvSpPr/>
          <p:nvPr/>
        </p:nvSpPr>
        <p:spPr>
          <a:xfrm>
            <a:off x="1629347" y="4312145"/>
            <a:ext cx="68866" cy="33334"/>
          </a:xfrm>
          <a:prstGeom prst="line">
            <a:avLst/>
          </a:prstGeom>
          <a:noFill/>
          <a:ln w="34290">
            <a:solidFill>
              <a:srgbClr val="AF651D"/>
            </a:solidFill>
            <a:prstDash val="solid"/>
          </a:ln>
        </p:spPr>
      </p:sp>
      <p:sp>
        <p:nvSpPr>
          <p:cNvPr id="86" name="Shape 84"/>
          <p:cNvSpPr/>
          <p:nvPr/>
        </p:nvSpPr>
        <p:spPr>
          <a:xfrm>
            <a:off x="1698212" y="4345479"/>
            <a:ext cx="68866" cy="31748"/>
          </a:xfrm>
          <a:prstGeom prst="line">
            <a:avLst/>
          </a:prstGeom>
          <a:noFill/>
          <a:ln w="34290">
            <a:solidFill>
              <a:srgbClr val="AF651D"/>
            </a:solidFill>
            <a:prstDash val="solid"/>
          </a:ln>
        </p:spPr>
      </p:sp>
      <p:sp>
        <p:nvSpPr>
          <p:cNvPr id="87" name="Shape 85"/>
          <p:cNvSpPr/>
          <p:nvPr/>
        </p:nvSpPr>
        <p:spPr>
          <a:xfrm>
            <a:off x="1767078" y="4377227"/>
            <a:ext cx="68866" cy="30162"/>
          </a:xfrm>
          <a:prstGeom prst="line">
            <a:avLst/>
          </a:prstGeom>
          <a:noFill/>
          <a:ln w="34290">
            <a:solidFill>
              <a:srgbClr val="AF651D"/>
            </a:solidFill>
            <a:prstDash val="solid"/>
          </a:ln>
        </p:spPr>
      </p:sp>
      <p:sp>
        <p:nvSpPr>
          <p:cNvPr id="88" name="Shape 86"/>
          <p:cNvSpPr/>
          <p:nvPr/>
        </p:nvSpPr>
        <p:spPr>
          <a:xfrm>
            <a:off x="1835944" y="4407389"/>
            <a:ext cx="68866" cy="28577"/>
          </a:xfrm>
          <a:prstGeom prst="line">
            <a:avLst/>
          </a:prstGeom>
          <a:noFill/>
          <a:ln w="34290">
            <a:solidFill>
              <a:srgbClr val="AF651D"/>
            </a:solidFill>
            <a:prstDash val="solid"/>
          </a:ln>
        </p:spPr>
      </p:sp>
      <p:sp>
        <p:nvSpPr>
          <p:cNvPr id="89" name="Shape 87"/>
          <p:cNvSpPr/>
          <p:nvPr/>
        </p:nvSpPr>
        <p:spPr>
          <a:xfrm>
            <a:off x="1904810" y="4435966"/>
            <a:ext cx="68866" cy="26991"/>
          </a:xfrm>
          <a:prstGeom prst="line">
            <a:avLst/>
          </a:prstGeom>
          <a:noFill/>
          <a:ln w="34290">
            <a:solidFill>
              <a:srgbClr val="AF651D"/>
            </a:solidFill>
            <a:prstDash val="solid"/>
          </a:ln>
        </p:spPr>
      </p:sp>
      <p:sp>
        <p:nvSpPr>
          <p:cNvPr id="90" name="Shape 88"/>
          <p:cNvSpPr/>
          <p:nvPr/>
        </p:nvSpPr>
        <p:spPr>
          <a:xfrm>
            <a:off x="1973675" y="4462957"/>
            <a:ext cx="68866" cy="25405"/>
          </a:xfrm>
          <a:prstGeom prst="line">
            <a:avLst/>
          </a:prstGeom>
          <a:noFill/>
          <a:ln w="34290">
            <a:solidFill>
              <a:srgbClr val="AF651D"/>
            </a:solidFill>
            <a:prstDash val="solid"/>
          </a:ln>
        </p:spPr>
      </p:sp>
      <p:sp>
        <p:nvSpPr>
          <p:cNvPr id="91" name="Shape 89"/>
          <p:cNvSpPr/>
          <p:nvPr/>
        </p:nvSpPr>
        <p:spPr>
          <a:xfrm>
            <a:off x="2042541" y="4488362"/>
            <a:ext cx="68866" cy="23819"/>
          </a:xfrm>
          <a:prstGeom prst="line">
            <a:avLst/>
          </a:prstGeom>
          <a:noFill/>
          <a:ln w="34290">
            <a:solidFill>
              <a:srgbClr val="AF651D"/>
            </a:solidFill>
            <a:prstDash val="solid"/>
          </a:ln>
        </p:spPr>
      </p:sp>
      <p:sp>
        <p:nvSpPr>
          <p:cNvPr id="92" name="Shape 90"/>
          <p:cNvSpPr/>
          <p:nvPr/>
        </p:nvSpPr>
        <p:spPr>
          <a:xfrm>
            <a:off x="2111407" y="4512181"/>
            <a:ext cx="68866" cy="22233"/>
          </a:xfrm>
          <a:prstGeom prst="line">
            <a:avLst/>
          </a:prstGeom>
          <a:noFill/>
          <a:ln w="34290">
            <a:solidFill>
              <a:srgbClr val="AF651D"/>
            </a:solidFill>
            <a:prstDash val="solid"/>
          </a:ln>
        </p:spPr>
      </p:sp>
      <p:sp>
        <p:nvSpPr>
          <p:cNvPr id="93" name="Shape 91"/>
          <p:cNvSpPr/>
          <p:nvPr/>
        </p:nvSpPr>
        <p:spPr>
          <a:xfrm>
            <a:off x="2180273" y="4534414"/>
            <a:ext cx="68866" cy="20647"/>
          </a:xfrm>
          <a:prstGeom prst="line">
            <a:avLst/>
          </a:prstGeom>
          <a:noFill/>
          <a:ln w="34290">
            <a:solidFill>
              <a:srgbClr val="AF651D"/>
            </a:solidFill>
            <a:prstDash val="solid"/>
          </a:ln>
        </p:spPr>
      </p:sp>
      <p:sp>
        <p:nvSpPr>
          <p:cNvPr id="94" name="Shape 92"/>
          <p:cNvSpPr/>
          <p:nvPr/>
        </p:nvSpPr>
        <p:spPr>
          <a:xfrm>
            <a:off x="2249138" y="4555061"/>
            <a:ext cx="68866" cy="19062"/>
          </a:xfrm>
          <a:prstGeom prst="line">
            <a:avLst/>
          </a:prstGeom>
          <a:noFill/>
          <a:ln w="34290">
            <a:solidFill>
              <a:srgbClr val="AF651D"/>
            </a:solidFill>
            <a:prstDash val="solid"/>
          </a:ln>
        </p:spPr>
      </p:sp>
      <p:sp>
        <p:nvSpPr>
          <p:cNvPr id="95" name="Shape 93"/>
          <p:cNvSpPr/>
          <p:nvPr/>
        </p:nvSpPr>
        <p:spPr>
          <a:xfrm>
            <a:off x="2318004" y="4574123"/>
            <a:ext cx="68866" cy="17476"/>
          </a:xfrm>
          <a:prstGeom prst="line">
            <a:avLst/>
          </a:prstGeom>
          <a:noFill/>
          <a:ln w="34290">
            <a:solidFill>
              <a:srgbClr val="AF651D"/>
            </a:solidFill>
            <a:prstDash val="solid"/>
          </a:ln>
        </p:spPr>
      </p:sp>
      <p:sp>
        <p:nvSpPr>
          <p:cNvPr id="96" name="Shape 94"/>
          <p:cNvSpPr/>
          <p:nvPr/>
        </p:nvSpPr>
        <p:spPr>
          <a:xfrm>
            <a:off x="2386870" y="4591599"/>
            <a:ext cx="68866" cy="15890"/>
          </a:xfrm>
          <a:prstGeom prst="line">
            <a:avLst/>
          </a:prstGeom>
          <a:noFill/>
          <a:ln w="34290">
            <a:solidFill>
              <a:srgbClr val="AF651D"/>
            </a:solidFill>
            <a:prstDash val="solid"/>
          </a:ln>
        </p:spPr>
      </p:sp>
      <p:sp>
        <p:nvSpPr>
          <p:cNvPr id="97" name="Shape 95"/>
          <p:cNvSpPr/>
          <p:nvPr/>
        </p:nvSpPr>
        <p:spPr>
          <a:xfrm>
            <a:off x="2455736" y="4607489"/>
            <a:ext cx="68866" cy="14304"/>
          </a:xfrm>
          <a:prstGeom prst="line">
            <a:avLst/>
          </a:prstGeom>
          <a:noFill/>
          <a:ln w="34290">
            <a:solidFill>
              <a:srgbClr val="AF651D"/>
            </a:solidFill>
            <a:prstDash val="solid"/>
          </a:ln>
        </p:spPr>
      </p:sp>
      <p:sp>
        <p:nvSpPr>
          <p:cNvPr id="98" name="Shape 96"/>
          <p:cNvSpPr/>
          <p:nvPr/>
        </p:nvSpPr>
        <p:spPr>
          <a:xfrm>
            <a:off x="2524601" y="4621793"/>
            <a:ext cx="68866" cy="12718"/>
          </a:xfrm>
          <a:prstGeom prst="line">
            <a:avLst/>
          </a:prstGeom>
          <a:noFill/>
          <a:ln w="34290">
            <a:solidFill>
              <a:srgbClr val="AF651D"/>
            </a:solidFill>
            <a:prstDash val="solid"/>
          </a:ln>
        </p:spPr>
      </p:sp>
      <p:sp>
        <p:nvSpPr>
          <p:cNvPr id="99" name="Shape 97"/>
          <p:cNvSpPr/>
          <p:nvPr/>
        </p:nvSpPr>
        <p:spPr>
          <a:xfrm>
            <a:off x="2593467" y="4634511"/>
            <a:ext cx="68866" cy="11132"/>
          </a:xfrm>
          <a:prstGeom prst="line">
            <a:avLst/>
          </a:prstGeom>
          <a:noFill/>
          <a:ln w="34290">
            <a:solidFill>
              <a:srgbClr val="AF651D"/>
            </a:solidFill>
            <a:prstDash val="solid"/>
          </a:ln>
        </p:spPr>
      </p:sp>
      <p:sp>
        <p:nvSpPr>
          <p:cNvPr id="100" name="Shape 98"/>
          <p:cNvSpPr/>
          <p:nvPr/>
        </p:nvSpPr>
        <p:spPr>
          <a:xfrm>
            <a:off x="2662333" y="4645644"/>
            <a:ext cx="68866" cy="9547"/>
          </a:xfrm>
          <a:prstGeom prst="line">
            <a:avLst/>
          </a:prstGeom>
          <a:noFill/>
          <a:ln w="34290">
            <a:solidFill>
              <a:srgbClr val="AF651D"/>
            </a:solidFill>
            <a:prstDash val="solid"/>
          </a:ln>
        </p:spPr>
      </p:sp>
      <p:sp>
        <p:nvSpPr>
          <p:cNvPr id="101" name="Shape 99"/>
          <p:cNvSpPr/>
          <p:nvPr/>
        </p:nvSpPr>
        <p:spPr>
          <a:xfrm>
            <a:off x="2731199" y="4655190"/>
            <a:ext cx="68866" cy="7961"/>
          </a:xfrm>
          <a:prstGeom prst="line">
            <a:avLst/>
          </a:prstGeom>
          <a:noFill/>
          <a:ln w="34290">
            <a:solidFill>
              <a:srgbClr val="AF651D"/>
            </a:solidFill>
            <a:prstDash val="solid"/>
          </a:ln>
        </p:spPr>
      </p:sp>
      <p:sp>
        <p:nvSpPr>
          <p:cNvPr id="102" name="Shape 100"/>
          <p:cNvSpPr/>
          <p:nvPr/>
        </p:nvSpPr>
        <p:spPr>
          <a:xfrm>
            <a:off x="2800064" y="4663151"/>
            <a:ext cx="68866" cy="6375"/>
          </a:xfrm>
          <a:prstGeom prst="line">
            <a:avLst/>
          </a:prstGeom>
          <a:noFill/>
          <a:ln w="34290">
            <a:solidFill>
              <a:srgbClr val="AF651D"/>
            </a:solidFill>
            <a:prstDash val="solid"/>
          </a:ln>
        </p:spPr>
      </p:sp>
      <p:sp>
        <p:nvSpPr>
          <p:cNvPr id="103" name="Shape 101"/>
          <p:cNvSpPr/>
          <p:nvPr/>
        </p:nvSpPr>
        <p:spPr>
          <a:xfrm>
            <a:off x="2868930" y="4669526"/>
            <a:ext cx="68866" cy="4789"/>
          </a:xfrm>
          <a:prstGeom prst="line">
            <a:avLst/>
          </a:prstGeom>
          <a:noFill/>
          <a:ln w="34290">
            <a:solidFill>
              <a:srgbClr val="AF651D"/>
            </a:solidFill>
            <a:prstDash val="solid"/>
          </a:ln>
        </p:spPr>
      </p:sp>
      <p:sp>
        <p:nvSpPr>
          <p:cNvPr id="104" name="Shape 102"/>
          <p:cNvSpPr/>
          <p:nvPr/>
        </p:nvSpPr>
        <p:spPr>
          <a:xfrm>
            <a:off x="2937796" y="4674315"/>
            <a:ext cx="68866" cy="3203"/>
          </a:xfrm>
          <a:prstGeom prst="line">
            <a:avLst/>
          </a:prstGeom>
          <a:noFill/>
          <a:ln w="34290">
            <a:solidFill>
              <a:srgbClr val="AF651D"/>
            </a:solidFill>
            <a:prstDash val="solid"/>
          </a:ln>
        </p:spPr>
      </p:sp>
      <p:sp>
        <p:nvSpPr>
          <p:cNvPr id="105" name="Shape 103"/>
          <p:cNvSpPr/>
          <p:nvPr/>
        </p:nvSpPr>
        <p:spPr>
          <a:xfrm>
            <a:off x="3006662" y="4677519"/>
            <a:ext cx="68866" cy="1618"/>
          </a:xfrm>
          <a:prstGeom prst="line">
            <a:avLst/>
          </a:prstGeom>
          <a:noFill/>
          <a:ln w="34290">
            <a:solidFill>
              <a:srgbClr val="AF651D"/>
            </a:solidFill>
            <a:prstDash val="solid"/>
          </a:ln>
        </p:spPr>
      </p:sp>
      <p:sp>
        <p:nvSpPr>
          <p:cNvPr id="106" name="Shape 104"/>
          <p:cNvSpPr/>
          <p:nvPr/>
        </p:nvSpPr>
        <p:spPr>
          <a:xfrm>
            <a:off x="3075527" y="4679136"/>
            <a:ext cx="68866" cy="32"/>
          </a:xfrm>
          <a:prstGeom prst="line">
            <a:avLst/>
          </a:prstGeom>
          <a:noFill/>
          <a:ln w="34290">
            <a:solidFill>
              <a:srgbClr val="AF651D"/>
            </a:solidFill>
            <a:prstDash val="solid"/>
          </a:ln>
        </p:spPr>
      </p:sp>
      <p:sp>
        <p:nvSpPr>
          <p:cNvPr id="107" name="Shape 105"/>
          <p:cNvSpPr/>
          <p:nvPr/>
        </p:nvSpPr>
        <p:spPr>
          <a:xfrm>
            <a:off x="3144393" y="4679168"/>
            <a:ext cx="68866" cy="0"/>
          </a:xfrm>
          <a:prstGeom prst="line">
            <a:avLst/>
          </a:prstGeom>
          <a:noFill/>
          <a:ln w="34290">
            <a:solidFill>
              <a:srgbClr val="AF651D"/>
            </a:solidFill>
            <a:prstDash val="solid"/>
          </a:ln>
        </p:spPr>
      </p:sp>
      <p:sp>
        <p:nvSpPr>
          <p:cNvPr id="108" name="Shape 106"/>
          <p:cNvSpPr/>
          <p:nvPr/>
        </p:nvSpPr>
        <p:spPr>
          <a:xfrm>
            <a:off x="3213259" y="4677614"/>
            <a:ext cx="68866" cy="0"/>
          </a:xfrm>
          <a:prstGeom prst="line">
            <a:avLst/>
          </a:prstGeom>
          <a:noFill/>
          <a:ln w="34290">
            <a:solidFill>
              <a:srgbClr val="AF651D"/>
            </a:solidFill>
            <a:prstDash val="solid"/>
          </a:ln>
        </p:spPr>
      </p:sp>
      <p:sp>
        <p:nvSpPr>
          <p:cNvPr id="109" name="Shape 107"/>
          <p:cNvSpPr/>
          <p:nvPr/>
        </p:nvSpPr>
        <p:spPr>
          <a:xfrm>
            <a:off x="3282125" y="4674474"/>
            <a:ext cx="68866" cy="0"/>
          </a:xfrm>
          <a:prstGeom prst="line">
            <a:avLst/>
          </a:prstGeom>
          <a:noFill/>
          <a:ln w="34290">
            <a:solidFill>
              <a:srgbClr val="AF651D"/>
            </a:solidFill>
            <a:prstDash val="solid"/>
          </a:ln>
        </p:spPr>
      </p:sp>
      <p:sp>
        <p:nvSpPr>
          <p:cNvPr id="110" name="Shape 108"/>
          <p:cNvSpPr/>
          <p:nvPr/>
        </p:nvSpPr>
        <p:spPr>
          <a:xfrm>
            <a:off x="3350990" y="4669748"/>
            <a:ext cx="68866" cy="0"/>
          </a:xfrm>
          <a:prstGeom prst="line">
            <a:avLst/>
          </a:prstGeom>
          <a:noFill/>
          <a:ln w="34290">
            <a:solidFill>
              <a:srgbClr val="AF651D"/>
            </a:solidFill>
            <a:prstDash val="solid"/>
          </a:ln>
        </p:spPr>
      </p:sp>
      <p:sp>
        <p:nvSpPr>
          <p:cNvPr id="111" name="Shape 109"/>
          <p:cNvSpPr/>
          <p:nvPr/>
        </p:nvSpPr>
        <p:spPr>
          <a:xfrm>
            <a:off x="3419856" y="4663437"/>
            <a:ext cx="68866" cy="0"/>
          </a:xfrm>
          <a:prstGeom prst="line">
            <a:avLst/>
          </a:prstGeom>
          <a:noFill/>
          <a:ln w="34290">
            <a:solidFill>
              <a:srgbClr val="AF651D"/>
            </a:solidFill>
            <a:prstDash val="solid"/>
          </a:ln>
        </p:spPr>
      </p:sp>
      <p:sp>
        <p:nvSpPr>
          <p:cNvPr id="112" name="Shape 110"/>
          <p:cNvSpPr/>
          <p:nvPr/>
        </p:nvSpPr>
        <p:spPr>
          <a:xfrm>
            <a:off x="3488722" y="4655539"/>
            <a:ext cx="68866" cy="0"/>
          </a:xfrm>
          <a:prstGeom prst="line">
            <a:avLst/>
          </a:prstGeom>
          <a:noFill/>
          <a:ln w="34290">
            <a:solidFill>
              <a:srgbClr val="AF651D"/>
            </a:solidFill>
            <a:prstDash val="solid"/>
          </a:ln>
        </p:spPr>
      </p:sp>
      <p:sp>
        <p:nvSpPr>
          <p:cNvPr id="113" name="Shape 111"/>
          <p:cNvSpPr/>
          <p:nvPr/>
        </p:nvSpPr>
        <p:spPr>
          <a:xfrm>
            <a:off x="3557588" y="4646056"/>
            <a:ext cx="68866" cy="0"/>
          </a:xfrm>
          <a:prstGeom prst="line">
            <a:avLst/>
          </a:prstGeom>
          <a:noFill/>
          <a:ln w="34290">
            <a:solidFill>
              <a:srgbClr val="AF651D"/>
            </a:solidFill>
            <a:prstDash val="solid"/>
          </a:ln>
        </p:spPr>
      </p:sp>
      <p:sp>
        <p:nvSpPr>
          <p:cNvPr id="114" name="Shape 112"/>
          <p:cNvSpPr/>
          <p:nvPr/>
        </p:nvSpPr>
        <p:spPr>
          <a:xfrm>
            <a:off x="3626453" y="4634987"/>
            <a:ext cx="68866" cy="0"/>
          </a:xfrm>
          <a:prstGeom prst="line">
            <a:avLst/>
          </a:prstGeom>
          <a:noFill/>
          <a:ln w="34290">
            <a:solidFill>
              <a:srgbClr val="AF651D"/>
            </a:solidFill>
            <a:prstDash val="solid"/>
          </a:ln>
        </p:spPr>
      </p:sp>
      <p:sp>
        <p:nvSpPr>
          <p:cNvPr id="115" name="Shape 113"/>
          <p:cNvSpPr/>
          <p:nvPr/>
        </p:nvSpPr>
        <p:spPr>
          <a:xfrm>
            <a:off x="3695319" y="4622332"/>
            <a:ext cx="68866" cy="0"/>
          </a:xfrm>
          <a:prstGeom prst="line">
            <a:avLst/>
          </a:prstGeom>
          <a:noFill/>
          <a:ln w="34290">
            <a:solidFill>
              <a:srgbClr val="AF651D"/>
            </a:solidFill>
            <a:prstDash val="solid"/>
          </a:ln>
        </p:spPr>
      </p:sp>
      <p:sp>
        <p:nvSpPr>
          <p:cNvPr id="116" name="Shape 114"/>
          <p:cNvSpPr/>
          <p:nvPr/>
        </p:nvSpPr>
        <p:spPr>
          <a:xfrm>
            <a:off x="3764185" y="4608091"/>
            <a:ext cx="68866" cy="0"/>
          </a:xfrm>
          <a:prstGeom prst="line">
            <a:avLst/>
          </a:prstGeom>
          <a:noFill/>
          <a:ln w="34290">
            <a:solidFill>
              <a:srgbClr val="AF651D"/>
            </a:solidFill>
            <a:prstDash val="solid"/>
          </a:ln>
        </p:spPr>
      </p:sp>
      <p:sp>
        <p:nvSpPr>
          <p:cNvPr id="117" name="Shape 115"/>
          <p:cNvSpPr/>
          <p:nvPr/>
        </p:nvSpPr>
        <p:spPr>
          <a:xfrm>
            <a:off x="3833051" y="4592265"/>
            <a:ext cx="68866" cy="0"/>
          </a:xfrm>
          <a:prstGeom prst="line">
            <a:avLst/>
          </a:prstGeom>
          <a:noFill/>
          <a:ln w="34290">
            <a:solidFill>
              <a:srgbClr val="AF651D"/>
            </a:solidFill>
            <a:prstDash val="solid"/>
          </a:ln>
        </p:spPr>
      </p:sp>
      <p:sp>
        <p:nvSpPr>
          <p:cNvPr id="118" name="Shape 116"/>
          <p:cNvSpPr/>
          <p:nvPr/>
        </p:nvSpPr>
        <p:spPr>
          <a:xfrm>
            <a:off x="3901916" y="4574852"/>
            <a:ext cx="68866" cy="0"/>
          </a:xfrm>
          <a:prstGeom prst="line">
            <a:avLst/>
          </a:prstGeom>
          <a:noFill/>
          <a:ln w="34290">
            <a:solidFill>
              <a:srgbClr val="AF651D"/>
            </a:solidFill>
            <a:prstDash val="solid"/>
          </a:ln>
        </p:spPr>
      </p:sp>
      <p:sp>
        <p:nvSpPr>
          <p:cNvPr id="119" name="Shape 117"/>
          <p:cNvSpPr/>
          <p:nvPr/>
        </p:nvSpPr>
        <p:spPr>
          <a:xfrm>
            <a:off x="3970782" y="4555854"/>
            <a:ext cx="68866" cy="0"/>
          </a:xfrm>
          <a:prstGeom prst="line">
            <a:avLst/>
          </a:prstGeom>
          <a:noFill/>
          <a:ln w="34290">
            <a:solidFill>
              <a:srgbClr val="AF651D"/>
            </a:solidFill>
            <a:prstDash val="solid"/>
          </a:ln>
        </p:spPr>
      </p:sp>
      <p:sp>
        <p:nvSpPr>
          <p:cNvPr id="120" name="Shape 118"/>
          <p:cNvSpPr/>
          <p:nvPr/>
        </p:nvSpPr>
        <p:spPr>
          <a:xfrm>
            <a:off x="4039648" y="4535270"/>
            <a:ext cx="68866" cy="0"/>
          </a:xfrm>
          <a:prstGeom prst="line">
            <a:avLst/>
          </a:prstGeom>
          <a:noFill/>
          <a:ln w="34290">
            <a:solidFill>
              <a:srgbClr val="AF651D"/>
            </a:solidFill>
            <a:prstDash val="solid"/>
          </a:ln>
        </p:spPr>
      </p:sp>
      <p:sp>
        <p:nvSpPr>
          <p:cNvPr id="121" name="Shape 119"/>
          <p:cNvSpPr/>
          <p:nvPr/>
        </p:nvSpPr>
        <p:spPr>
          <a:xfrm>
            <a:off x="4108514" y="4513100"/>
            <a:ext cx="68866" cy="0"/>
          </a:xfrm>
          <a:prstGeom prst="line">
            <a:avLst/>
          </a:prstGeom>
          <a:noFill/>
          <a:ln w="34290">
            <a:solidFill>
              <a:srgbClr val="AF651D"/>
            </a:solidFill>
            <a:prstDash val="solid"/>
          </a:ln>
        </p:spPr>
      </p:sp>
      <p:sp>
        <p:nvSpPr>
          <p:cNvPr id="122" name="Shape 120"/>
          <p:cNvSpPr/>
          <p:nvPr/>
        </p:nvSpPr>
        <p:spPr>
          <a:xfrm>
            <a:off x="4177379" y="4489345"/>
            <a:ext cx="68866" cy="0"/>
          </a:xfrm>
          <a:prstGeom prst="line">
            <a:avLst/>
          </a:prstGeom>
          <a:noFill/>
          <a:ln w="34290">
            <a:solidFill>
              <a:srgbClr val="AF651D"/>
            </a:solidFill>
            <a:prstDash val="solid"/>
          </a:ln>
        </p:spPr>
      </p:sp>
      <p:sp>
        <p:nvSpPr>
          <p:cNvPr id="123" name="Shape 121"/>
          <p:cNvSpPr/>
          <p:nvPr/>
        </p:nvSpPr>
        <p:spPr>
          <a:xfrm>
            <a:off x="4246245" y="4464003"/>
            <a:ext cx="68866" cy="0"/>
          </a:xfrm>
          <a:prstGeom prst="line">
            <a:avLst/>
          </a:prstGeom>
          <a:noFill/>
          <a:ln w="34290">
            <a:solidFill>
              <a:srgbClr val="AF651D"/>
            </a:solidFill>
            <a:prstDash val="solid"/>
          </a:ln>
        </p:spPr>
      </p:sp>
      <p:sp>
        <p:nvSpPr>
          <p:cNvPr id="124" name="Shape 122"/>
          <p:cNvSpPr/>
          <p:nvPr/>
        </p:nvSpPr>
        <p:spPr>
          <a:xfrm>
            <a:off x="4315111" y="4437076"/>
            <a:ext cx="68866" cy="0"/>
          </a:xfrm>
          <a:prstGeom prst="line">
            <a:avLst/>
          </a:prstGeom>
          <a:noFill/>
          <a:ln w="34290">
            <a:solidFill>
              <a:srgbClr val="AF651D"/>
            </a:solidFill>
            <a:prstDash val="solid"/>
          </a:ln>
        </p:spPr>
      </p:sp>
      <p:sp>
        <p:nvSpPr>
          <p:cNvPr id="125" name="Shape 123"/>
          <p:cNvSpPr/>
          <p:nvPr/>
        </p:nvSpPr>
        <p:spPr>
          <a:xfrm>
            <a:off x="4383977" y="4408563"/>
            <a:ext cx="68866" cy="0"/>
          </a:xfrm>
          <a:prstGeom prst="line">
            <a:avLst/>
          </a:prstGeom>
          <a:noFill/>
          <a:ln w="34290">
            <a:solidFill>
              <a:srgbClr val="AF651D"/>
            </a:solidFill>
            <a:prstDash val="solid"/>
          </a:ln>
        </p:spPr>
      </p:sp>
      <p:sp>
        <p:nvSpPr>
          <p:cNvPr id="126" name="Shape 124"/>
          <p:cNvSpPr/>
          <p:nvPr/>
        </p:nvSpPr>
        <p:spPr>
          <a:xfrm>
            <a:off x="4452842" y="4378464"/>
            <a:ext cx="68866" cy="0"/>
          </a:xfrm>
          <a:prstGeom prst="line">
            <a:avLst/>
          </a:prstGeom>
          <a:noFill/>
          <a:ln w="34290">
            <a:solidFill>
              <a:srgbClr val="AF651D"/>
            </a:solidFill>
            <a:prstDash val="solid"/>
          </a:ln>
        </p:spPr>
      </p:sp>
      <p:sp>
        <p:nvSpPr>
          <p:cNvPr id="127" name="Shape 125"/>
          <p:cNvSpPr/>
          <p:nvPr/>
        </p:nvSpPr>
        <p:spPr>
          <a:xfrm>
            <a:off x="4521708" y="4346779"/>
            <a:ext cx="68866" cy="0"/>
          </a:xfrm>
          <a:prstGeom prst="line">
            <a:avLst/>
          </a:prstGeom>
          <a:noFill/>
          <a:ln w="34290">
            <a:solidFill>
              <a:srgbClr val="AF651D"/>
            </a:solidFill>
            <a:prstDash val="solid"/>
          </a:ln>
        </p:spPr>
      </p:sp>
      <p:sp>
        <p:nvSpPr>
          <p:cNvPr id="128" name="Shape 126"/>
          <p:cNvSpPr/>
          <p:nvPr/>
        </p:nvSpPr>
        <p:spPr>
          <a:xfrm>
            <a:off x="4590574" y="4313509"/>
            <a:ext cx="68866" cy="0"/>
          </a:xfrm>
          <a:prstGeom prst="line">
            <a:avLst/>
          </a:prstGeom>
          <a:noFill/>
          <a:ln w="34290">
            <a:solidFill>
              <a:srgbClr val="AF651D"/>
            </a:solidFill>
            <a:prstDash val="solid"/>
          </a:ln>
        </p:spPr>
      </p:sp>
      <p:sp>
        <p:nvSpPr>
          <p:cNvPr id="129" name="Shape 127"/>
          <p:cNvSpPr/>
          <p:nvPr/>
        </p:nvSpPr>
        <p:spPr>
          <a:xfrm>
            <a:off x="4659440" y="4278652"/>
            <a:ext cx="68866" cy="0"/>
          </a:xfrm>
          <a:prstGeom prst="line">
            <a:avLst/>
          </a:prstGeom>
          <a:noFill/>
          <a:ln w="34290">
            <a:solidFill>
              <a:srgbClr val="AF651D"/>
            </a:solidFill>
            <a:prstDash val="solid"/>
          </a:ln>
        </p:spPr>
      </p:sp>
      <p:sp>
        <p:nvSpPr>
          <p:cNvPr id="130" name="Shape 128"/>
          <p:cNvSpPr/>
          <p:nvPr/>
        </p:nvSpPr>
        <p:spPr>
          <a:xfrm>
            <a:off x="4728305" y="4242210"/>
            <a:ext cx="68866" cy="0"/>
          </a:xfrm>
          <a:prstGeom prst="line">
            <a:avLst/>
          </a:prstGeom>
          <a:noFill/>
          <a:ln w="34290">
            <a:solidFill>
              <a:srgbClr val="AF651D"/>
            </a:solidFill>
            <a:prstDash val="solid"/>
          </a:ln>
        </p:spPr>
      </p:sp>
      <p:sp>
        <p:nvSpPr>
          <p:cNvPr id="131" name="Shape 129"/>
          <p:cNvSpPr/>
          <p:nvPr/>
        </p:nvSpPr>
        <p:spPr>
          <a:xfrm>
            <a:off x="4797171" y="4204182"/>
            <a:ext cx="68866" cy="0"/>
          </a:xfrm>
          <a:prstGeom prst="line">
            <a:avLst/>
          </a:prstGeom>
          <a:noFill/>
          <a:ln w="34290">
            <a:solidFill>
              <a:srgbClr val="AF651D"/>
            </a:solidFill>
            <a:prstDash val="solid"/>
          </a:ln>
        </p:spPr>
      </p:sp>
      <p:sp>
        <p:nvSpPr>
          <p:cNvPr id="132" name="Shape 130"/>
          <p:cNvSpPr/>
          <p:nvPr/>
        </p:nvSpPr>
        <p:spPr>
          <a:xfrm>
            <a:off x="4866037" y="4164568"/>
            <a:ext cx="68866" cy="0"/>
          </a:xfrm>
          <a:prstGeom prst="line">
            <a:avLst/>
          </a:prstGeom>
          <a:noFill/>
          <a:ln w="34290">
            <a:solidFill>
              <a:srgbClr val="AF651D"/>
            </a:solidFill>
            <a:prstDash val="solid"/>
          </a:ln>
        </p:spPr>
      </p:sp>
      <p:sp>
        <p:nvSpPr>
          <p:cNvPr id="133" name="Shape 131"/>
          <p:cNvSpPr/>
          <p:nvPr/>
        </p:nvSpPr>
        <p:spPr>
          <a:xfrm>
            <a:off x="4934903" y="4123369"/>
            <a:ext cx="68866" cy="0"/>
          </a:xfrm>
          <a:prstGeom prst="line">
            <a:avLst/>
          </a:prstGeom>
          <a:noFill/>
          <a:ln w="34290">
            <a:solidFill>
              <a:srgbClr val="AF651D"/>
            </a:solidFill>
            <a:prstDash val="solid"/>
          </a:ln>
        </p:spPr>
      </p:sp>
      <p:sp>
        <p:nvSpPr>
          <p:cNvPr id="134" name="Shape 132"/>
          <p:cNvSpPr/>
          <p:nvPr/>
        </p:nvSpPr>
        <p:spPr>
          <a:xfrm>
            <a:off x="5003768" y="4080583"/>
            <a:ext cx="68866" cy="0"/>
          </a:xfrm>
          <a:prstGeom prst="line">
            <a:avLst/>
          </a:prstGeom>
          <a:noFill/>
          <a:ln w="34290">
            <a:solidFill>
              <a:srgbClr val="AF651D"/>
            </a:solidFill>
            <a:prstDash val="solid"/>
          </a:ln>
        </p:spPr>
      </p:sp>
      <p:sp>
        <p:nvSpPr>
          <p:cNvPr id="135" name="Shape 133"/>
          <p:cNvSpPr/>
          <p:nvPr/>
        </p:nvSpPr>
        <p:spPr>
          <a:xfrm>
            <a:off x="5072634" y="4036212"/>
            <a:ext cx="68866" cy="0"/>
          </a:xfrm>
          <a:prstGeom prst="line">
            <a:avLst/>
          </a:prstGeom>
          <a:noFill/>
          <a:ln w="34290">
            <a:solidFill>
              <a:srgbClr val="AF651D"/>
            </a:solidFill>
            <a:prstDash val="solid"/>
          </a:ln>
        </p:spPr>
      </p:sp>
      <p:sp>
        <p:nvSpPr>
          <p:cNvPr id="136" name="Shape 134"/>
          <p:cNvSpPr/>
          <p:nvPr/>
        </p:nvSpPr>
        <p:spPr>
          <a:xfrm>
            <a:off x="5141500" y="3990255"/>
            <a:ext cx="68866" cy="0"/>
          </a:xfrm>
          <a:prstGeom prst="line">
            <a:avLst/>
          </a:prstGeom>
          <a:noFill/>
          <a:ln w="34290">
            <a:solidFill>
              <a:srgbClr val="AF651D"/>
            </a:solidFill>
            <a:prstDash val="solid"/>
          </a:ln>
        </p:spPr>
      </p:sp>
      <p:sp>
        <p:nvSpPr>
          <p:cNvPr id="137" name="Shape 135"/>
          <p:cNvSpPr/>
          <p:nvPr/>
        </p:nvSpPr>
        <p:spPr>
          <a:xfrm>
            <a:off x="5210366" y="3942712"/>
            <a:ext cx="68866" cy="0"/>
          </a:xfrm>
          <a:prstGeom prst="line">
            <a:avLst/>
          </a:prstGeom>
          <a:noFill/>
          <a:ln w="34290">
            <a:solidFill>
              <a:srgbClr val="AF651D"/>
            </a:solidFill>
            <a:prstDash val="solid"/>
          </a:ln>
        </p:spPr>
      </p:sp>
      <p:sp>
        <p:nvSpPr>
          <p:cNvPr id="138" name="Shape 136"/>
          <p:cNvSpPr/>
          <p:nvPr/>
        </p:nvSpPr>
        <p:spPr>
          <a:xfrm>
            <a:off x="5279231" y="3893583"/>
            <a:ext cx="68866" cy="0"/>
          </a:xfrm>
          <a:prstGeom prst="line">
            <a:avLst/>
          </a:prstGeom>
          <a:noFill/>
          <a:ln w="34290">
            <a:solidFill>
              <a:srgbClr val="AF651D"/>
            </a:solidFill>
            <a:prstDash val="solid"/>
          </a:ln>
        </p:spPr>
      </p:sp>
      <p:sp>
        <p:nvSpPr>
          <p:cNvPr id="139" name="Shape 137"/>
          <p:cNvSpPr/>
          <p:nvPr/>
        </p:nvSpPr>
        <p:spPr>
          <a:xfrm>
            <a:off x="5348097" y="3842868"/>
            <a:ext cx="68866" cy="0"/>
          </a:xfrm>
          <a:prstGeom prst="line">
            <a:avLst/>
          </a:prstGeom>
          <a:noFill/>
          <a:ln w="34290">
            <a:solidFill>
              <a:srgbClr val="AF651D"/>
            </a:solidFill>
            <a:prstDash val="solid"/>
          </a:ln>
        </p:spPr>
      </p:sp>
      <p:sp>
        <p:nvSpPr>
          <p:cNvPr id="140" name="Shape 138"/>
          <p:cNvSpPr/>
          <p:nvPr/>
        </p:nvSpPr>
        <p:spPr>
          <a:xfrm>
            <a:off x="5416963" y="3790568"/>
            <a:ext cx="68866" cy="0"/>
          </a:xfrm>
          <a:prstGeom prst="line">
            <a:avLst/>
          </a:prstGeom>
          <a:noFill/>
          <a:ln w="34290">
            <a:solidFill>
              <a:srgbClr val="AF651D"/>
            </a:solidFill>
            <a:prstDash val="solid"/>
          </a:ln>
        </p:spPr>
      </p:sp>
      <p:sp>
        <p:nvSpPr>
          <p:cNvPr id="141" name="Shape 139"/>
          <p:cNvSpPr/>
          <p:nvPr/>
        </p:nvSpPr>
        <p:spPr>
          <a:xfrm>
            <a:off x="5485829" y="3736681"/>
            <a:ext cx="68866" cy="0"/>
          </a:xfrm>
          <a:prstGeom prst="line">
            <a:avLst/>
          </a:prstGeom>
          <a:noFill/>
          <a:ln w="34290">
            <a:solidFill>
              <a:srgbClr val="AF651D"/>
            </a:solidFill>
            <a:prstDash val="solid"/>
          </a:ln>
        </p:spPr>
      </p:sp>
      <p:sp>
        <p:nvSpPr>
          <p:cNvPr id="142" name="Shape 140"/>
          <p:cNvSpPr/>
          <p:nvPr/>
        </p:nvSpPr>
        <p:spPr>
          <a:xfrm>
            <a:off x="5554694" y="3681209"/>
            <a:ext cx="68866" cy="0"/>
          </a:xfrm>
          <a:prstGeom prst="line">
            <a:avLst/>
          </a:prstGeom>
          <a:noFill/>
          <a:ln w="34290">
            <a:solidFill>
              <a:srgbClr val="AF651D"/>
            </a:solidFill>
            <a:prstDash val="solid"/>
          </a:ln>
        </p:spPr>
      </p:sp>
      <p:sp>
        <p:nvSpPr>
          <p:cNvPr id="143" name="Text 141"/>
          <p:cNvSpPr/>
          <p:nvPr/>
        </p:nvSpPr>
        <p:spPr>
          <a:xfrm>
            <a:off x="4343400" y="4791456"/>
            <a:ext cx="1188720" cy="228600"/>
          </a:xfrm>
          <a:prstGeom prst="rect">
            <a:avLst/>
          </a:prstGeom>
          <a:noFill/>
          <a:ln/>
        </p:spPr>
        <p:txBody>
          <a:bodyPr wrap="square" lIns="0" tIns="0" rIns="0" bIns="0" rtlCol="0" anchor="ctr">
            <a:spAutoFit/>
          </a:bodyPr>
          <a:lstStyle/>
          <a:p>
            <a:pPr marL="0" indent="0">
              <a:buNone/>
            </a:pPr>
            <a:r>
              <a:rPr lang="en-US" sz="1300" b="1" dirty="0">
                <a:solidFill>
                  <a:srgbClr val="245B87"/>
                </a:solidFill>
                <a:latin typeface="Aptos" pitchFamily="34" charset="0"/>
                <a:ea typeface="Aptos" pitchFamily="34" charset="-122"/>
                <a:cs typeface="Aptos" pitchFamily="34" charset="-120"/>
              </a:rPr>
              <a:t>Training</a:t>
            </a:r>
            <a:endParaRPr lang="en-US" sz="1300" dirty="0"/>
          </a:p>
        </p:txBody>
      </p:sp>
      <p:sp>
        <p:nvSpPr>
          <p:cNvPr id="144" name="Text 142"/>
          <p:cNvSpPr/>
          <p:nvPr/>
        </p:nvSpPr>
        <p:spPr>
          <a:xfrm>
            <a:off x="4325112" y="3227832"/>
            <a:ext cx="1554480" cy="256032"/>
          </a:xfrm>
          <a:prstGeom prst="rect">
            <a:avLst/>
          </a:prstGeom>
          <a:noFill/>
          <a:ln/>
        </p:spPr>
        <p:txBody>
          <a:bodyPr wrap="square" lIns="0" tIns="0" rIns="0" bIns="0" rtlCol="0" anchor="ctr">
            <a:spAutoFit/>
          </a:bodyPr>
          <a:lstStyle/>
          <a:p>
            <a:pPr marL="0" indent="0">
              <a:buNone/>
            </a:pPr>
            <a:r>
              <a:rPr lang="en-US" sz="1300" b="1" dirty="0">
                <a:solidFill>
                  <a:srgbClr val="AF651D"/>
                </a:solidFill>
                <a:latin typeface="Aptos" pitchFamily="34" charset="0"/>
                <a:ea typeface="Aptos" pitchFamily="34" charset="-122"/>
                <a:cs typeface="Aptos" pitchFamily="34" charset="-120"/>
              </a:rPr>
              <a:t>Validation</a:t>
            </a:r>
            <a:endParaRPr lang="en-US" sz="1300" dirty="0"/>
          </a:p>
        </p:txBody>
      </p:sp>
      <p:sp>
        <p:nvSpPr>
          <p:cNvPr id="145" name="Text 143"/>
          <p:cNvSpPr/>
          <p:nvPr/>
        </p:nvSpPr>
        <p:spPr>
          <a:xfrm>
            <a:off x="1435608" y="2103120"/>
            <a:ext cx="1755648" cy="265176"/>
          </a:xfrm>
          <a:prstGeom prst="rect">
            <a:avLst/>
          </a:prstGeom>
          <a:noFill/>
          <a:ln/>
        </p:spPr>
        <p:txBody>
          <a:bodyPr wrap="square" lIns="0" tIns="0" rIns="0" bIns="0" rtlCol="0" anchor="ctr">
            <a:spAutoFit/>
          </a:bodyPr>
          <a:lstStyle/>
          <a:p>
            <a:pPr marL="0" indent="0">
              <a:buNone/>
            </a:pPr>
            <a:r>
              <a:rPr lang="en-US" sz="1500" b="1" dirty="0">
                <a:solidFill>
                  <a:srgbClr val="14263D"/>
                </a:solidFill>
                <a:latin typeface="Aptos" pitchFamily="34" charset="0"/>
                <a:ea typeface="Aptos" pitchFamily="34" charset="-122"/>
                <a:cs typeface="Aptos" pitchFamily="34" charset="-120"/>
              </a:rPr>
              <a:t>Too simple</a:t>
            </a:r>
            <a:endParaRPr lang="en-US" sz="1500" dirty="0"/>
          </a:p>
        </p:txBody>
      </p:sp>
      <p:sp>
        <p:nvSpPr>
          <p:cNvPr id="146" name="Text 144"/>
          <p:cNvSpPr/>
          <p:nvPr/>
        </p:nvSpPr>
        <p:spPr>
          <a:xfrm>
            <a:off x="4206240" y="2103120"/>
            <a:ext cx="1444752" cy="265176"/>
          </a:xfrm>
          <a:prstGeom prst="rect">
            <a:avLst/>
          </a:prstGeom>
          <a:noFill/>
          <a:ln/>
        </p:spPr>
        <p:txBody>
          <a:bodyPr wrap="square" lIns="0" tIns="0" rIns="0" bIns="0" rtlCol="0" anchor="ctr">
            <a:spAutoFit/>
          </a:bodyPr>
          <a:lstStyle/>
          <a:p>
            <a:pPr marL="0" indent="0">
              <a:buNone/>
            </a:pPr>
            <a:r>
              <a:rPr lang="en-US" sz="1500" b="1" dirty="0">
                <a:solidFill>
                  <a:srgbClr val="14263D"/>
                </a:solidFill>
                <a:latin typeface="Aptos" pitchFamily="34" charset="0"/>
                <a:ea typeface="Aptos" pitchFamily="34" charset="-122"/>
                <a:cs typeface="Aptos" pitchFamily="34" charset="-120"/>
              </a:rPr>
              <a:t>Fits noise</a:t>
            </a:r>
            <a:endParaRPr lang="en-US" sz="1500" dirty="0"/>
          </a:p>
        </p:txBody>
      </p:sp>
      <p:sp>
        <p:nvSpPr>
          <p:cNvPr id="147" name="Text 145"/>
          <p:cNvSpPr/>
          <p:nvPr/>
        </p:nvSpPr>
        <p:spPr>
          <a:xfrm>
            <a:off x="6739128" y="1929384"/>
            <a:ext cx="4626864" cy="777240"/>
          </a:xfrm>
          <a:prstGeom prst="rect">
            <a:avLst/>
          </a:prstGeom>
          <a:noFill/>
          <a:ln/>
        </p:spPr>
        <p:txBody>
          <a:bodyPr wrap="square" lIns="0" tIns="0" rIns="0" bIns="0" rtlCol="0" anchor="ctr">
            <a:spAutoFit/>
          </a:bodyPr>
          <a:lstStyle/>
          <a:p>
            <a:pPr marL="0" indent="0">
              <a:buNone/>
            </a:pPr>
            <a:r>
              <a:rPr lang="en-US" sz="2300" b="1" dirty="0">
                <a:solidFill>
                  <a:srgbClr val="14263D"/>
                </a:solidFill>
                <a:latin typeface="Aptos" pitchFamily="34" charset="0"/>
                <a:ea typeface="Aptos" pitchFamily="34" charset="-122"/>
                <a:cs typeface="Aptos" pitchFamily="34" charset="-120"/>
              </a:rPr>
              <a:t>More flexible models can fit random fluctuations.</a:t>
            </a:r>
            <a:endParaRPr lang="en-US" sz="2300" dirty="0"/>
          </a:p>
        </p:txBody>
      </p:sp>
      <p:sp>
        <p:nvSpPr>
          <p:cNvPr id="148" name="Text 146"/>
          <p:cNvSpPr/>
          <p:nvPr/>
        </p:nvSpPr>
        <p:spPr>
          <a:xfrm>
            <a:off x="6739128" y="3026664"/>
            <a:ext cx="4599432" cy="1051560"/>
          </a:xfrm>
          <a:prstGeom prst="rect">
            <a:avLst/>
          </a:prstGeom>
          <a:noFill/>
          <a:ln/>
        </p:spPr>
        <p:txBody>
          <a:bodyPr wrap="square" lIns="0" tIns="0" rIns="0" bIns="0" rtlCol="0" anchor="ctr">
            <a:spAutoFit/>
          </a:bodyPr>
          <a:lstStyle/>
          <a:p>
            <a:pPr marL="0" indent="0">
              <a:buNone/>
            </a:pPr>
            <a:r>
              <a:rPr lang="en-US" sz="2100" dirty="0">
                <a:solidFill>
                  <a:srgbClr val="5E6E80"/>
                </a:solidFill>
                <a:latin typeface="Aptos" pitchFamily="34" charset="0"/>
                <a:ea typeface="Aptos" pitchFamily="34" charset="-122"/>
                <a:cs typeface="Aptos" pitchFamily="34" charset="-120"/>
              </a:rPr>
              <a:t>More i.i.d. data can stabilize estimation. It does not make a new noisy label deterministic.</a:t>
            </a:r>
            <a:endParaRPr lang="en-US" sz="2100" dirty="0"/>
          </a:p>
        </p:txBody>
      </p:sp>
      <p:pic>
        <p:nvPicPr>
          <p:cNvPr id="14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48272" y="4443984"/>
            <a:ext cx="1471313" cy="566928"/>
          </a:xfrm>
          <a:prstGeom prst="rect">
            <a:avLst/>
          </a:prstGeom>
        </p:spPr>
      </p:pic>
      <p:sp>
        <p:nvSpPr>
          <p:cNvPr id="150" name="Text 147"/>
          <p:cNvSpPr/>
          <p:nvPr/>
        </p:nvSpPr>
        <p:spPr>
          <a:xfrm>
            <a:off x="6748272" y="5257800"/>
            <a:ext cx="4434840" cy="603504"/>
          </a:xfrm>
          <a:prstGeom prst="rect">
            <a:avLst/>
          </a:prstGeom>
          <a:noFill/>
          <a:ln/>
        </p:spPr>
        <p:txBody>
          <a:bodyPr wrap="square" lIns="0" tIns="0" rIns="0" bIns="0" rtlCol="0" anchor="ctr">
            <a:spAutoFit/>
          </a:bodyPr>
          <a:lstStyle/>
          <a:p>
            <a:pPr marL="0" indent="0">
              <a:buNone/>
            </a:pPr>
            <a:r>
              <a:rPr lang="en-US" sz="1650" dirty="0">
                <a:solidFill>
                  <a:srgbClr val="5E6E80"/>
                </a:solidFill>
                <a:latin typeface="Aptos" pitchFamily="34" charset="0"/>
                <a:ea typeface="Aptos" pitchFamily="34" charset="-122"/>
                <a:cs typeface="Aptos" pitchFamily="34" charset="-120"/>
              </a:rPr>
              <a:t>For N independent noise measurements</a:t>
            </a:r>
            <a:endParaRPr lang="en-US" sz="1650" dirty="0"/>
          </a:p>
          <a:p>
            <a:pPr marL="0" indent="0">
              <a:buNone/>
            </a:pPr>
            <a:r>
              <a:rPr lang="en-US" sz="1650" dirty="0">
                <a:solidFill>
                  <a:srgbClr val="5E6E80"/>
                </a:solidFill>
                <a:latin typeface="Aptos" pitchFamily="34" charset="0"/>
                <a:ea typeface="Aptos" pitchFamily="34" charset="-122"/>
                <a:cs typeface="Aptos" pitchFamily="34" charset="-120"/>
              </a:rPr>
              <a:t>with common variance σ².</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09:00–10:30</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MODEL</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What distribution does the model learn?</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L1 · Firner L3 · Firner L6 | Generative vs. discriminative</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8 / 15</a:t>
            </a:r>
            <a:endParaRPr lang="en-US" sz="1050" dirty="0"/>
          </a:p>
        </p:txBody>
      </p:sp>
      <p:sp>
        <p:nvSpPr>
          <p:cNvPr id="10" name="Shape 8"/>
          <p:cNvSpPr/>
          <p:nvPr/>
        </p:nvSpPr>
        <p:spPr>
          <a:xfrm>
            <a:off x="594360" y="1847088"/>
            <a:ext cx="5404104" cy="3429000"/>
          </a:xfrm>
          <a:prstGeom prst="rect">
            <a:avLst/>
          </a:prstGeom>
          <a:solidFill>
            <a:srgbClr val="EBF1F9"/>
          </a:solidFill>
          <a:ln w="6350">
            <a:solidFill>
              <a:srgbClr val="EBF1F9"/>
            </a:solidFill>
            <a:prstDash val="solid"/>
          </a:ln>
        </p:spPr>
      </p:sp>
      <p:sp>
        <p:nvSpPr>
          <p:cNvPr id="11" name="Shape 9"/>
          <p:cNvSpPr/>
          <p:nvPr/>
        </p:nvSpPr>
        <p:spPr>
          <a:xfrm>
            <a:off x="6208776" y="1847088"/>
            <a:ext cx="5404104" cy="3429000"/>
          </a:xfrm>
          <a:prstGeom prst="rect">
            <a:avLst/>
          </a:prstGeom>
          <a:solidFill>
            <a:srgbClr val="E7F4F2"/>
          </a:solidFill>
          <a:ln w="6350">
            <a:solidFill>
              <a:srgbClr val="E7F4F2"/>
            </a:solidFill>
            <a:prstDash val="solid"/>
          </a:ln>
        </p:spPr>
      </p:sp>
      <p:sp>
        <p:nvSpPr>
          <p:cNvPr id="12" name="Text 10"/>
          <p:cNvSpPr/>
          <p:nvPr/>
        </p:nvSpPr>
        <p:spPr>
          <a:xfrm>
            <a:off x="841248" y="2103120"/>
            <a:ext cx="4663440" cy="301752"/>
          </a:xfrm>
          <a:prstGeom prst="rect">
            <a:avLst/>
          </a:prstGeom>
          <a:noFill/>
          <a:ln/>
        </p:spPr>
        <p:txBody>
          <a:bodyPr wrap="square" lIns="0" tIns="0" rIns="0" bIns="0" rtlCol="0" anchor="ctr">
            <a:spAutoFit/>
          </a:bodyPr>
          <a:lstStyle/>
          <a:p>
            <a:pPr marL="0" indent="0">
              <a:buNone/>
            </a:pPr>
            <a:r>
              <a:rPr lang="en-US" sz="1500" b="1" kern="0" spc="100" dirty="0">
                <a:solidFill>
                  <a:srgbClr val="245B87"/>
                </a:solidFill>
                <a:latin typeface="Aptos" pitchFamily="34" charset="0"/>
                <a:ea typeface="Aptos" pitchFamily="34" charset="-122"/>
                <a:cs typeface="Aptos" pitchFamily="34" charset="-120"/>
              </a:rPr>
              <a:t>GENERATIVE</a:t>
            </a:r>
            <a:endParaRPr lang="en-US" sz="1500" dirty="0"/>
          </a:p>
        </p:txBody>
      </p:sp>
      <p:sp>
        <p:nvSpPr>
          <p:cNvPr id="13" name="Text 11"/>
          <p:cNvSpPr/>
          <p:nvPr/>
        </p:nvSpPr>
        <p:spPr>
          <a:xfrm>
            <a:off x="841248" y="2660904"/>
            <a:ext cx="4617720" cy="393192"/>
          </a:xfrm>
          <a:prstGeom prst="rect">
            <a:avLst/>
          </a:prstGeom>
          <a:noFill/>
          <a:ln/>
        </p:spPr>
        <p:txBody>
          <a:bodyPr wrap="square" lIns="0" tIns="0" rIns="0" bIns="0" rtlCol="0" anchor="ctr">
            <a:spAutoFit/>
          </a:bodyPr>
          <a:lstStyle/>
          <a:p>
            <a:pPr marL="0" indent="0">
              <a:buNone/>
            </a:pPr>
            <a:r>
              <a:rPr lang="en-US" sz="2500" b="1" dirty="0">
                <a:solidFill>
                  <a:srgbClr val="14263D"/>
                </a:solidFill>
                <a:latin typeface="Aptos" pitchFamily="34" charset="0"/>
                <a:ea typeface="Aptos" pitchFamily="34" charset="-122"/>
                <a:cs typeface="Aptos" pitchFamily="34" charset="-120"/>
              </a:rPr>
              <a:t>Model x and y together</a:t>
            </a:r>
            <a:endParaRPr lang="en-US" sz="2500" dirty="0"/>
          </a:p>
        </p:txBody>
      </p:sp>
      <p:pic>
        <p:nvPicPr>
          <p:cNvPr id="1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392" y="3319272"/>
            <a:ext cx="4368907" cy="466344"/>
          </a:xfrm>
          <a:prstGeom prst="rect">
            <a:avLst/>
          </a:prstGeom>
        </p:spPr>
      </p:pic>
      <p:sp>
        <p:nvSpPr>
          <p:cNvPr id="15" name="Text 12"/>
          <p:cNvSpPr/>
          <p:nvPr/>
        </p:nvSpPr>
        <p:spPr>
          <a:xfrm>
            <a:off x="850392" y="4059936"/>
            <a:ext cx="4617720" cy="310896"/>
          </a:xfrm>
          <a:prstGeom prst="rect">
            <a:avLst/>
          </a:prstGeom>
          <a:noFill/>
          <a:ln/>
        </p:spPr>
        <p:txBody>
          <a:bodyPr wrap="square" lIns="0" tIns="0" rIns="0" bIns="0" rtlCol="0" anchor="ctr">
            <a:spAutoFit/>
          </a:bodyPr>
          <a:lstStyle/>
          <a:p>
            <a:pPr marL="0" indent="0">
              <a:buNone/>
            </a:pPr>
            <a:r>
              <a:rPr lang="en-US" sz="2100" b="1" dirty="0">
                <a:solidFill>
                  <a:srgbClr val="14263D"/>
                </a:solidFill>
                <a:latin typeface="Aptos" pitchFamily="34" charset="0"/>
                <a:ea typeface="Aptos" pitchFamily="34" charset="-122"/>
                <a:cs typeface="Aptos" pitchFamily="34" charset="-120"/>
              </a:rPr>
              <a:t>Example: Naive Bayes</a:t>
            </a:r>
            <a:endParaRPr lang="en-US" sz="210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0392" y="4572000"/>
            <a:ext cx="1802674" cy="411480"/>
          </a:xfrm>
          <a:prstGeom prst="rect">
            <a:avLst/>
          </a:prstGeom>
        </p:spPr>
      </p:pic>
      <p:sp>
        <p:nvSpPr>
          <p:cNvPr id="17" name="Text 13"/>
          <p:cNvSpPr/>
          <p:nvPr/>
        </p:nvSpPr>
        <p:spPr>
          <a:xfrm>
            <a:off x="6455664" y="2103120"/>
            <a:ext cx="4663440" cy="301752"/>
          </a:xfrm>
          <a:prstGeom prst="rect">
            <a:avLst/>
          </a:prstGeom>
          <a:noFill/>
          <a:ln/>
        </p:spPr>
        <p:txBody>
          <a:bodyPr wrap="square" lIns="0" tIns="0" rIns="0" bIns="0" rtlCol="0" anchor="ctr">
            <a:spAutoFit/>
          </a:bodyPr>
          <a:lstStyle/>
          <a:p>
            <a:pPr marL="0" indent="0">
              <a:buNone/>
            </a:pPr>
            <a:r>
              <a:rPr lang="en-US" sz="1500" b="1" kern="0" spc="100" dirty="0">
                <a:solidFill>
                  <a:srgbClr val="087F82"/>
                </a:solidFill>
                <a:latin typeface="Aptos" pitchFamily="34" charset="0"/>
                <a:ea typeface="Aptos" pitchFamily="34" charset="-122"/>
                <a:cs typeface="Aptos" pitchFamily="34" charset="-120"/>
              </a:rPr>
              <a:t>DISCRIMINATIVE</a:t>
            </a:r>
            <a:endParaRPr lang="en-US" sz="1500" dirty="0"/>
          </a:p>
        </p:txBody>
      </p:sp>
      <p:sp>
        <p:nvSpPr>
          <p:cNvPr id="18" name="Text 14"/>
          <p:cNvSpPr/>
          <p:nvPr/>
        </p:nvSpPr>
        <p:spPr>
          <a:xfrm>
            <a:off x="6455664" y="2660904"/>
            <a:ext cx="4617720" cy="393192"/>
          </a:xfrm>
          <a:prstGeom prst="rect">
            <a:avLst/>
          </a:prstGeom>
          <a:noFill/>
          <a:ln/>
        </p:spPr>
        <p:txBody>
          <a:bodyPr wrap="square" lIns="0" tIns="0" rIns="0" bIns="0" rtlCol="0" anchor="ctr">
            <a:spAutoFit/>
          </a:bodyPr>
          <a:lstStyle/>
          <a:p>
            <a:pPr marL="0" indent="0">
              <a:buNone/>
            </a:pPr>
            <a:r>
              <a:rPr lang="en-US" sz="2500" b="1" dirty="0">
                <a:solidFill>
                  <a:srgbClr val="14263D"/>
                </a:solidFill>
                <a:latin typeface="Aptos" pitchFamily="34" charset="0"/>
                <a:ea typeface="Aptos" pitchFamily="34" charset="-122"/>
                <a:cs typeface="Aptos" pitchFamily="34" charset="-120"/>
              </a:rPr>
              <a:t>Model y given x directly</a:t>
            </a:r>
            <a:endParaRPr lang="en-US" sz="2500"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55664" y="3300984"/>
            <a:ext cx="1555924" cy="484632"/>
          </a:xfrm>
          <a:prstGeom prst="rect">
            <a:avLst/>
          </a:prstGeom>
        </p:spPr>
      </p:pic>
      <p:sp>
        <p:nvSpPr>
          <p:cNvPr id="20" name="Text 15"/>
          <p:cNvSpPr/>
          <p:nvPr/>
        </p:nvSpPr>
        <p:spPr>
          <a:xfrm>
            <a:off x="6455664" y="4059936"/>
            <a:ext cx="4608576" cy="310896"/>
          </a:xfrm>
          <a:prstGeom prst="rect">
            <a:avLst/>
          </a:prstGeom>
          <a:noFill/>
          <a:ln/>
        </p:spPr>
        <p:txBody>
          <a:bodyPr wrap="square" lIns="0" tIns="0" rIns="0" bIns="0" rtlCol="0" anchor="ctr">
            <a:spAutoFit/>
          </a:bodyPr>
          <a:lstStyle/>
          <a:p>
            <a:pPr marL="0" indent="0">
              <a:buNone/>
            </a:pPr>
            <a:r>
              <a:rPr lang="en-US" sz="2100" b="1" dirty="0">
                <a:solidFill>
                  <a:srgbClr val="14263D"/>
                </a:solidFill>
                <a:latin typeface="Aptos" pitchFamily="34" charset="0"/>
                <a:ea typeface="Aptos" pitchFamily="34" charset="-122"/>
                <a:cs typeface="Aptos" pitchFamily="34" charset="-120"/>
              </a:rPr>
              <a:t>Example: logistic regression</a:t>
            </a:r>
            <a:endParaRPr lang="en-US" sz="2100" dirty="0"/>
          </a:p>
        </p:txBody>
      </p:sp>
      <p:sp>
        <p:nvSpPr>
          <p:cNvPr id="21" name="Text 16"/>
          <p:cNvSpPr/>
          <p:nvPr/>
        </p:nvSpPr>
        <p:spPr>
          <a:xfrm>
            <a:off x="6455664" y="4562856"/>
            <a:ext cx="4645152" cy="594360"/>
          </a:xfrm>
          <a:prstGeom prst="rect">
            <a:avLst/>
          </a:prstGeom>
          <a:noFill/>
          <a:ln/>
        </p:spPr>
        <p:txBody>
          <a:bodyPr wrap="square" lIns="0" tIns="0" rIns="0" bIns="0" rtlCol="0" anchor="ctr">
            <a:spAutoFit/>
          </a:bodyPr>
          <a:lstStyle/>
          <a:p>
            <a:pPr marL="0" indent="0">
              <a:buNone/>
            </a:pPr>
            <a:r>
              <a:rPr lang="en-US" sz="1900" dirty="0">
                <a:solidFill>
                  <a:srgbClr val="5E6E80"/>
                </a:solidFill>
                <a:latin typeface="Aptos" pitchFamily="34" charset="0"/>
                <a:ea typeface="Aptos" pitchFamily="34" charset="-122"/>
                <a:cs typeface="Aptos" pitchFamily="34" charset="-120"/>
              </a:rPr>
              <a:t>No need to model the full</a:t>
            </a:r>
            <a:endParaRPr lang="en-US" sz="1900" dirty="0"/>
          </a:p>
          <a:p>
            <a:pPr marL="0" indent="0">
              <a:buNone/>
            </a:pPr>
            <a:r>
              <a:rPr lang="en-US" sz="1900" dirty="0">
                <a:solidFill>
                  <a:srgbClr val="5E6E80"/>
                </a:solidFill>
                <a:latin typeface="Aptos" pitchFamily="34" charset="0"/>
                <a:ea typeface="Aptos" pitchFamily="34" charset="-122"/>
                <a:cs typeface="Aptos" pitchFamily="34" charset="-120"/>
              </a:rPr>
              <a:t>distribution of the inputs.</a:t>
            </a:r>
            <a:endParaRPr lang="en-US" sz="1900" dirty="0"/>
          </a:p>
        </p:txBody>
      </p:sp>
      <p:sp>
        <p:nvSpPr>
          <p:cNvPr id="22" name="Shape 17"/>
          <p:cNvSpPr/>
          <p:nvPr/>
        </p:nvSpPr>
        <p:spPr>
          <a:xfrm>
            <a:off x="566928" y="5705856"/>
            <a:ext cx="11045952" cy="457200"/>
          </a:xfrm>
          <a:prstGeom prst="rect">
            <a:avLst/>
          </a:prstGeom>
          <a:solidFill>
            <a:srgbClr val="FFFFFF"/>
          </a:solidFill>
          <a:ln w="6350">
            <a:solidFill>
              <a:srgbClr val="FFFFFF"/>
            </a:solidFill>
            <a:prstDash val="solid"/>
          </a:ln>
        </p:spPr>
      </p:sp>
      <p:sp>
        <p:nvSpPr>
          <p:cNvPr id="23" name="Text 18"/>
          <p:cNvSpPr/>
          <p:nvPr/>
        </p:nvSpPr>
        <p:spPr>
          <a:xfrm>
            <a:off x="758952" y="5742432"/>
            <a:ext cx="10671048" cy="365760"/>
          </a:xfrm>
          <a:prstGeom prst="rect">
            <a:avLst/>
          </a:prstGeom>
          <a:noFill/>
          <a:ln/>
        </p:spPr>
        <p:txBody>
          <a:bodyPr wrap="square" lIns="0" tIns="0" rIns="0" bIns="0" rtlCol="0" anchor="ctr">
            <a:spAutoFit/>
          </a:bodyPr>
          <a:lstStyle/>
          <a:p>
            <a:pPr marL="0" indent="0">
              <a:buNone/>
            </a:pPr>
            <a:r>
              <a:rPr lang="en-US" sz="1900" b="1" dirty="0">
                <a:solidFill>
                  <a:srgbClr val="14263D"/>
                </a:solidFill>
                <a:latin typeface="Aptos" pitchFamily="34" charset="0"/>
                <a:ea typeface="Aptos" pitchFamily="34" charset="-122"/>
                <a:cs typeface="Aptos" pitchFamily="34" charset="-120"/>
              </a:rPr>
              <a:t>Both can classify. The distinction is what they model—not the final label.</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10:30–12:00</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MODEL</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Regularization is a preference over parameters</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L4 | Ridge and lasso</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9 / 15</a:t>
            </a:r>
            <a:endParaRPr lang="en-US" sz="105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096" y="1883664"/>
            <a:ext cx="7723311" cy="621792"/>
          </a:xfrm>
          <a:prstGeom prst="rect">
            <a:avLst/>
          </a:prstGeom>
        </p:spPr>
      </p:pic>
      <p:sp>
        <p:nvSpPr>
          <p:cNvPr id="11" name="Shape 8"/>
          <p:cNvSpPr/>
          <p:nvPr/>
        </p:nvSpPr>
        <p:spPr>
          <a:xfrm>
            <a:off x="585216" y="2862072"/>
            <a:ext cx="5413248" cy="2487168"/>
          </a:xfrm>
          <a:prstGeom prst="rect">
            <a:avLst/>
          </a:prstGeom>
          <a:solidFill>
            <a:srgbClr val="EBF1F9"/>
          </a:solidFill>
          <a:ln w="6350">
            <a:solidFill>
              <a:srgbClr val="EBF1F9"/>
            </a:solidFill>
            <a:prstDash val="solid"/>
          </a:ln>
        </p:spPr>
      </p:sp>
      <p:sp>
        <p:nvSpPr>
          <p:cNvPr id="12" name="Shape 9"/>
          <p:cNvSpPr/>
          <p:nvPr/>
        </p:nvSpPr>
        <p:spPr>
          <a:xfrm>
            <a:off x="6208776" y="2862072"/>
            <a:ext cx="5413248" cy="2487168"/>
          </a:xfrm>
          <a:prstGeom prst="rect">
            <a:avLst/>
          </a:prstGeom>
          <a:solidFill>
            <a:srgbClr val="E7F4F2"/>
          </a:solidFill>
          <a:ln w="6350">
            <a:solidFill>
              <a:srgbClr val="E7F4F2"/>
            </a:solidFill>
            <a:prstDash val="solid"/>
          </a:ln>
        </p:spPr>
      </p:sp>
      <p:sp>
        <p:nvSpPr>
          <p:cNvPr id="13" name="Text 10"/>
          <p:cNvSpPr/>
          <p:nvPr/>
        </p:nvSpPr>
        <p:spPr>
          <a:xfrm>
            <a:off x="841248" y="3136392"/>
            <a:ext cx="4654296" cy="301752"/>
          </a:xfrm>
          <a:prstGeom prst="rect">
            <a:avLst/>
          </a:prstGeom>
          <a:noFill/>
          <a:ln/>
        </p:spPr>
        <p:txBody>
          <a:bodyPr wrap="square" lIns="0" tIns="0" rIns="0" bIns="0" rtlCol="0" anchor="ctr">
            <a:spAutoFit/>
          </a:bodyPr>
          <a:lstStyle/>
          <a:p>
            <a:pPr marL="0" indent="0">
              <a:buNone/>
            </a:pPr>
            <a:r>
              <a:rPr lang="en-US" sz="1600" b="1" dirty="0">
                <a:solidFill>
                  <a:srgbClr val="245B87"/>
                </a:solidFill>
                <a:latin typeface="Aptos" pitchFamily="34" charset="0"/>
                <a:ea typeface="Aptos" pitchFamily="34" charset="-122"/>
                <a:cs typeface="Aptos" pitchFamily="34" charset="-120"/>
              </a:rPr>
              <a:t>L2 / RIDGE</a:t>
            </a:r>
            <a:endParaRPr lang="en-US" sz="1600"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536" y="3739896"/>
            <a:ext cx="1538344" cy="548640"/>
          </a:xfrm>
          <a:prstGeom prst="rect">
            <a:avLst/>
          </a:prstGeom>
        </p:spPr>
      </p:pic>
      <p:sp>
        <p:nvSpPr>
          <p:cNvPr id="15" name="Text 11"/>
          <p:cNvSpPr/>
          <p:nvPr/>
        </p:nvSpPr>
        <p:spPr>
          <a:xfrm>
            <a:off x="859536" y="4572000"/>
            <a:ext cx="4636008" cy="576072"/>
          </a:xfrm>
          <a:prstGeom prst="rect">
            <a:avLst/>
          </a:prstGeom>
          <a:noFill/>
          <a:ln/>
        </p:spPr>
        <p:txBody>
          <a:bodyPr wrap="square" lIns="0" tIns="0" rIns="0" bIns="0" rtlCol="0" anchor="ctr">
            <a:spAutoFit/>
          </a:bodyPr>
          <a:lstStyle/>
          <a:p>
            <a:pPr marL="0" indent="0">
              <a:buNone/>
            </a:pPr>
            <a:r>
              <a:rPr lang="en-US" sz="2000" dirty="0">
                <a:solidFill>
                  <a:srgbClr val="14263D"/>
                </a:solidFill>
                <a:latin typeface="Aptos" pitchFamily="34" charset="0"/>
                <a:ea typeface="Aptos" pitchFamily="34" charset="-122"/>
                <a:cs typeface="Aptos" pitchFamily="34" charset="-120"/>
              </a:rPr>
              <a:t>Shrink weight magnitudes.</a:t>
            </a:r>
            <a:endParaRPr lang="en-US" sz="2000" dirty="0"/>
          </a:p>
          <a:p>
            <a:pPr marL="0" indent="0">
              <a:buNone/>
            </a:pPr>
            <a:r>
              <a:rPr lang="en-US" sz="2000" dirty="0">
                <a:solidFill>
                  <a:srgbClr val="14263D"/>
                </a:solidFill>
                <a:latin typeface="Aptos" pitchFamily="34" charset="0"/>
                <a:ea typeface="Aptos" pitchFamily="34" charset="-122"/>
                <a:cs typeface="Aptos" pitchFamily="34" charset="-120"/>
              </a:rPr>
              <a:t>Zero-centered Gaussian prior.</a:t>
            </a:r>
            <a:endParaRPr lang="en-US" sz="2000" dirty="0"/>
          </a:p>
        </p:txBody>
      </p:sp>
      <p:sp>
        <p:nvSpPr>
          <p:cNvPr id="16" name="Text 12"/>
          <p:cNvSpPr/>
          <p:nvPr/>
        </p:nvSpPr>
        <p:spPr>
          <a:xfrm>
            <a:off x="6455664" y="3136392"/>
            <a:ext cx="4654296" cy="301752"/>
          </a:xfrm>
          <a:prstGeom prst="rect">
            <a:avLst/>
          </a:prstGeom>
          <a:noFill/>
          <a:ln/>
        </p:spPr>
        <p:txBody>
          <a:bodyPr wrap="square" lIns="0" tIns="0" rIns="0" bIns="0" rtlCol="0" anchor="ctr">
            <a:spAutoFit/>
          </a:bodyPr>
          <a:lstStyle/>
          <a:p>
            <a:pPr marL="0" indent="0">
              <a:buNone/>
            </a:pPr>
            <a:r>
              <a:rPr lang="en-US" sz="1600" b="1" dirty="0">
                <a:solidFill>
                  <a:srgbClr val="087F82"/>
                </a:solidFill>
                <a:latin typeface="Aptos" pitchFamily="34" charset="0"/>
                <a:ea typeface="Aptos" pitchFamily="34" charset="-122"/>
                <a:cs typeface="Aptos" pitchFamily="34" charset="-120"/>
              </a:rPr>
              <a:t>L1 / LASSO</a:t>
            </a:r>
            <a:endParaRPr lang="en-US" sz="1600"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3739896"/>
            <a:ext cx="1633451" cy="548640"/>
          </a:xfrm>
          <a:prstGeom prst="rect">
            <a:avLst/>
          </a:prstGeom>
        </p:spPr>
      </p:pic>
      <p:sp>
        <p:nvSpPr>
          <p:cNvPr id="18" name="Text 13"/>
          <p:cNvSpPr/>
          <p:nvPr/>
        </p:nvSpPr>
        <p:spPr>
          <a:xfrm>
            <a:off x="6473952" y="4572000"/>
            <a:ext cx="4636008" cy="576072"/>
          </a:xfrm>
          <a:prstGeom prst="rect">
            <a:avLst/>
          </a:prstGeom>
          <a:noFill/>
          <a:ln/>
        </p:spPr>
        <p:txBody>
          <a:bodyPr wrap="square" lIns="0" tIns="0" rIns="0" bIns="0" rtlCol="0" anchor="ctr">
            <a:spAutoFit/>
          </a:bodyPr>
          <a:lstStyle/>
          <a:p>
            <a:pPr marL="0" indent="0">
              <a:buNone/>
            </a:pPr>
            <a:r>
              <a:rPr lang="en-US" sz="2000" dirty="0">
                <a:solidFill>
                  <a:srgbClr val="14263D"/>
                </a:solidFill>
                <a:latin typeface="Aptos" pitchFamily="34" charset="0"/>
                <a:ea typeface="Aptos" pitchFamily="34" charset="-122"/>
                <a:cs typeface="Aptos" pitchFamily="34" charset="-120"/>
              </a:rPr>
              <a:t>Can produce zero weights.</a:t>
            </a:r>
            <a:endParaRPr lang="en-US" sz="2000" dirty="0"/>
          </a:p>
          <a:p>
            <a:pPr marL="0" indent="0">
              <a:buNone/>
            </a:pPr>
            <a:r>
              <a:rPr lang="en-US" sz="2000" dirty="0">
                <a:solidFill>
                  <a:srgbClr val="14263D"/>
                </a:solidFill>
                <a:latin typeface="Aptos" pitchFamily="34" charset="0"/>
                <a:ea typeface="Aptos" pitchFamily="34" charset="-122"/>
                <a:cs typeface="Aptos" pitchFamily="34" charset="-120"/>
              </a:rPr>
              <a:t>Zero-centered Laplace prior.</a:t>
            </a:r>
            <a:endParaRPr lang="en-US" sz="2000" dirty="0"/>
          </a:p>
        </p:txBody>
      </p:sp>
      <p:sp>
        <p:nvSpPr>
          <p:cNvPr id="19" name="Shape 14"/>
          <p:cNvSpPr/>
          <p:nvPr/>
        </p:nvSpPr>
        <p:spPr>
          <a:xfrm>
            <a:off x="566928" y="5733288"/>
            <a:ext cx="11045952" cy="457200"/>
          </a:xfrm>
          <a:prstGeom prst="rect">
            <a:avLst/>
          </a:prstGeom>
          <a:solidFill>
            <a:srgbClr val="FFFFFF"/>
          </a:solidFill>
          <a:ln w="6350">
            <a:solidFill>
              <a:srgbClr val="FFFFFF"/>
            </a:solidFill>
            <a:prstDash val="solid"/>
          </a:ln>
        </p:spPr>
      </p:sp>
      <p:sp>
        <p:nvSpPr>
          <p:cNvPr id="20" name="Text 15"/>
          <p:cNvSpPr/>
          <p:nvPr/>
        </p:nvSpPr>
        <p:spPr>
          <a:xfrm>
            <a:off x="758952" y="5769864"/>
            <a:ext cx="10671048" cy="365760"/>
          </a:xfrm>
          <a:prstGeom prst="rect">
            <a:avLst/>
          </a:prstGeom>
          <a:noFill/>
          <a:ln/>
        </p:spPr>
        <p:txBody>
          <a:bodyPr wrap="square" lIns="0" tIns="0" rIns="0" bIns="0" rtlCol="0" anchor="ctr">
            <a:spAutoFit/>
          </a:bodyPr>
          <a:lstStyle/>
          <a:p>
            <a:pPr marL="0" indent="0">
              <a:buNone/>
            </a:pPr>
            <a:r>
              <a:rPr lang="en-US" sz="1850" b="1" dirty="0">
                <a:solidFill>
                  <a:srgbClr val="14263D"/>
                </a:solidFill>
                <a:latin typeface="Aptos" pitchFamily="34" charset="0"/>
                <a:ea typeface="Aptos" pitchFamily="34" charset="-122"/>
                <a:cs typeface="Aptos" pitchFamily="34" charset="-120"/>
              </a:rPr>
              <a:t>Degree chooses the feature set. λ controls how strongly we penalize the weights.</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12:00–13:15</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COMMON TRAP</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Small weights do not mean zero predictions</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L4 · Firner L6 | Unpenalized-intercept convention</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10 / 15</a:t>
            </a:r>
            <a:endParaRPr lang="en-US" sz="1050" dirty="0"/>
          </a:p>
        </p:txBody>
      </p:sp>
      <p:sp>
        <p:nvSpPr>
          <p:cNvPr id="10" name="Text 8"/>
          <p:cNvSpPr/>
          <p:nvPr/>
        </p:nvSpPr>
        <p:spPr>
          <a:xfrm>
            <a:off x="777240" y="1892808"/>
            <a:ext cx="10570464" cy="356616"/>
          </a:xfrm>
          <a:prstGeom prst="rect">
            <a:avLst/>
          </a:prstGeom>
          <a:noFill/>
          <a:ln/>
        </p:spPr>
        <p:txBody>
          <a:bodyPr wrap="square" lIns="0" tIns="0" rIns="0" bIns="0" rtlCol="0" anchor="ctr">
            <a:spAutoFit/>
          </a:bodyPr>
          <a:lstStyle/>
          <a:p>
            <a:pPr marL="0" indent="0">
              <a:buNone/>
            </a:pPr>
            <a:r>
              <a:rPr lang="en-US" sz="2200" dirty="0">
                <a:solidFill>
                  <a:srgbClr val="5E6E80"/>
                </a:solidFill>
                <a:latin typeface="Aptos" pitchFamily="34" charset="0"/>
                <a:ea typeface="Aptos" pitchFamily="34" charset="-122"/>
                <a:cs typeface="Aptos" pitchFamily="34" charset="-120"/>
              </a:rPr>
              <a:t>Here the intercept b is not penalized, as in the lecture.</a:t>
            </a:r>
            <a:endParaRPr lang="en-US" sz="2200"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72" y="2724912"/>
            <a:ext cx="3092597" cy="576072"/>
          </a:xfrm>
          <a:prstGeom prst="rect">
            <a:avLst/>
          </a:prstGeom>
        </p:spPr>
      </p:pic>
      <p:sp>
        <p:nvSpPr>
          <p:cNvPr id="12" name="Shape 9"/>
          <p:cNvSpPr/>
          <p:nvPr/>
        </p:nvSpPr>
        <p:spPr>
          <a:xfrm>
            <a:off x="594360" y="3666744"/>
            <a:ext cx="3675888" cy="1572768"/>
          </a:xfrm>
          <a:prstGeom prst="rect">
            <a:avLst/>
          </a:prstGeom>
          <a:solidFill>
            <a:srgbClr val="FFFFFF"/>
          </a:solidFill>
          <a:ln w="6350">
            <a:solidFill>
              <a:srgbClr val="FFFFFF"/>
            </a:solidFill>
            <a:prstDash val="solid"/>
          </a:ln>
        </p:spPr>
      </p:sp>
      <p:sp>
        <p:nvSpPr>
          <p:cNvPr id="13" name="Shape 10"/>
          <p:cNvSpPr/>
          <p:nvPr/>
        </p:nvSpPr>
        <p:spPr>
          <a:xfrm>
            <a:off x="4434840" y="3666744"/>
            <a:ext cx="3465576" cy="1572768"/>
          </a:xfrm>
          <a:prstGeom prst="rect">
            <a:avLst/>
          </a:prstGeom>
          <a:solidFill>
            <a:srgbClr val="EBF1F9"/>
          </a:solidFill>
          <a:ln w="6350">
            <a:solidFill>
              <a:srgbClr val="EBF1F9"/>
            </a:solidFill>
            <a:prstDash val="solid"/>
          </a:ln>
        </p:spPr>
      </p:sp>
      <p:sp>
        <p:nvSpPr>
          <p:cNvPr id="14" name="Shape 11"/>
          <p:cNvSpPr/>
          <p:nvPr/>
        </p:nvSpPr>
        <p:spPr>
          <a:xfrm>
            <a:off x="8065008" y="3666744"/>
            <a:ext cx="3547872" cy="1572768"/>
          </a:xfrm>
          <a:prstGeom prst="rect">
            <a:avLst/>
          </a:prstGeom>
          <a:solidFill>
            <a:srgbClr val="E7F4F2"/>
          </a:solidFill>
          <a:ln w="6350">
            <a:solidFill>
              <a:srgbClr val="E7F4F2"/>
            </a:solidFill>
            <a:prstDash val="solid"/>
          </a:ln>
        </p:spPr>
      </p:sp>
      <p:sp>
        <p:nvSpPr>
          <p:cNvPr id="15" name="Text 12"/>
          <p:cNvSpPr/>
          <p:nvPr/>
        </p:nvSpPr>
        <p:spPr>
          <a:xfrm>
            <a:off x="813816" y="3877056"/>
            <a:ext cx="3209544" cy="246888"/>
          </a:xfrm>
          <a:prstGeom prst="rect">
            <a:avLst/>
          </a:prstGeom>
          <a:noFill/>
          <a:ln/>
        </p:spPr>
        <p:txBody>
          <a:bodyPr wrap="square" lIns="0" tIns="0" rIns="0" bIns="0" rtlCol="0" anchor="ctr">
            <a:spAutoFit/>
          </a:bodyPr>
          <a:lstStyle/>
          <a:p>
            <a:pPr marL="0" indent="0">
              <a:buNone/>
            </a:pPr>
            <a:r>
              <a:rPr lang="en-US" sz="1200" b="1" dirty="0">
                <a:solidFill>
                  <a:srgbClr val="5E6E80"/>
                </a:solidFill>
                <a:latin typeface="Aptos" pitchFamily="34" charset="0"/>
                <a:ea typeface="Aptos" pitchFamily="34" charset="-122"/>
                <a:cs typeface="Aptos" pitchFamily="34" charset="-120"/>
              </a:rPr>
              <a:t>PARAMETERS</a:t>
            </a:r>
            <a:endParaRPr lang="en-US" sz="120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960" y="4462272"/>
            <a:ext cx="2710927" cy="384048"/>
          </a:xfrm>
          <a:prstGeom prst="rect">
            <a:avLst/>
          </a:prstGeom>
        </p:spPr>
      </p:pic>
      <p:sp>
        <p:nvSpPr>
          <p:cNvPr id="17" name="Text 13"/>
          <p:cNvSpPr/>
          <p:nvPr/>
        </p:nvSpPr>
        <p:spPr>
          <a:xfrm>
            <a:off x="4654296" y="3877056"/>
            <a:ext cx="3026664" cy="246888"/>
          </a:xfrm>
          <a:prstGeom prst="rect">
            <a:avLst/>
          </a:prstGeom>
          <a:noFill/>
          <a:ln/>
        </p:spPr>
        <p:txBody>
          <a:bodyPr wrap="square" lIns="0" tIns="0" rIns="0" bIns="0" rtlCol="0" anchor="ctr">
            <a:spAutoFit/>
          </a:bodyPr>
          <a:lstStyle/>
          <a:p>
            <a:pPr marL="0" indent="0">
              <a:buNone/>
            </a:pPr>
            <a:r>
              <a:rPr lang="en-US" sz="1200" b="1" dirty="0">
                <a:solidFill>
                  <a:srgbClr val="245B87"/>
                </a:solidFill>
                <a:latin typeface="Aptos" pitchFamily="34" charset="0"/>
                <a:ea typeface="Aptos" pitchFamily="34" charset="-122"/>
                <a:cs typeface="Aptos" pitchFamily="34" charset="-120"/>
              </a:rPr>
              <a:t>REGRESSION</a:t>
            </a:r>
            <a:endParaRPr lang="en-US" sz="120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63440" y="4434840"/>
            <a:ext cx="1028700" cy="457200"/>
          </a:xfrm>
          <a:prstGeom prst="rect">
            <a:avLst/>
          </a:prstGeom>
        </p:spPr>
      </p:pic>
      <p:sp>
        <p:nvSpPr>
          <p:cNvPr id="19" name="Text 14"/>
          <p:cNvSpPr/>
          <p:nvPr/>
        </p:nvSpPr>
        <p:spPr>
          <a:xfrm>
            <a:off x="8284464" y="3877056"/>
            <a:ext cx="3072384" cy="246888"/>
          </a:xfrm>
          <a:prstGeom prst="rect">
            <a:avLst/>
          </a:prstGeom>
          <a:noFill/>
          <a:ln/>
        </p:spPr>
        <p:txBody>
          <a:bodyPr wrap="square" lIns="0" tIns="0" rIns="0" bIns="0" rtlCol="0" anchor="ctr">
            <a:spAutoFit/>
          </a:bodyPr>
          <a:lstStyle/>
          <a:p>
            <a:pPr marL="0" indent="0">
              <a:buNone/>
            </a:pPr>
            <a:r>
              <a:rPr lang="en-US" sz="1200" b="1" dirty="0">
                <a:solidFill>
                  <a:srgbClr val="087F82"/>
                </a:solidFill>
                <a:latin typeface="Aptos" pitchFamily="34" charset="0"/>
                <a:ea typeface="Aptos" pitchFamily="34" charset="-122"/>
                <a:cs typeface="Aptos" pitchFamily="34" charset="-120"/>
              </a:rPr>
              <a:t>LOGISTIC</a:t>
            </a:r>
            <a:endParaRPr lang="en-US" sz="1200" dirty="0"/>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84464" y="4516019"/>
            <a:ext cx="3054096" cy="267409"/>
          </a:xfrm>
          <a:prstGeom prst="rect">
            <a:avLst/>
          </a:prstGeom>
        </p:spPr>
      </p:pic>
      <p:sp>
        <p:nvSpPr>
          <p:cNvPr id="21" name="Shape 15"/>
          <p:cNvSpPr/>
          <p:nvPr/>
        </p:nvSpPr>
        <p:spPr>
          <a:xfrm>
            <a:off x="566928" y="5724144"/>
            <a:ext cx="11045952" cy="457200"/>
          </a:xfrm>
          <a:prstGeom prst="rect">
            <a:avLst/>
          </a:prstGeom>
          <a:solidFill>
            <a:srgbClr val="FFF2DF"/>
          </a:solidFill>
          <a:ln w="6350">
            <a:solidFill>
              <a:srgbClr val="FFF2DF"/>
            </a:solidFill>
            <a:prstDash val="solid"/>
          </a:ln>
        </p:spPr>
      </p:sp>
      <p:sp>
        <p:nvSpPr>
          <p:cNvPr id="22" name="Text 16"/>
          <p:cNvSpPr/>
          <p:nvPr/>
        </p:nvSpPr>
        <p:spPr>
          <a:xfrm>
            <a:off x="758952" y="5760720"/>
            <a:ext cx="10671048" cy="365760"/>
          </a:xfrm>
          <a:prstGeom prst="rect">
            <a:avLst/>
          </a:prstGeom>
          <a:noFill/>
          <a:ln/>
        </p:spPr>
        <p:txBody>
          <a:bodyPr wrap="square" lIns="0" tIns="0" rIns="0" bIns="0" rtlCol="0" anchor="ctr">
            <a:spAutoFit/>
          </a:bodyPr>
          <a:lstStyle/>
          <a:p>
            <a:pPr marL="0" indent="0">
              <a:buNone/>
            </a:pPr>
            <a:r>
              <a:rPr lang="en-US" sz="1850" b="1" dirty="0">
                <a:solidFill>
                  <a:srgbClr val="AF651D"/>
                </a:solidFill>
                <a:latin typeface="Aptos" pitchFamily="34" charset="0"/>
                <a:ea typeface="Aptos" pitchFamily="34" charset="-122"/>
                <a:cs typeface="Aptos" pitchFamily="34" charset="-120"/>
              </a:rPr>
              <a:t>The penalty targets w. It does not require the output—or the probability—to be 0.</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13:15–14:30</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CLASSIFY</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A logistic boundary is where the score is zero</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L4 · Firner L5 | Score → probability → class</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11 / 15</a:t>
            </a:r>
            <a:endParaRPr lang="en-US" sz="1050" dirty="0"/>
          </a:p>
        </p:txBody>
      </p:sp>
      <p:sp>
        <p:nvSpPr>
          <p:cNvPr id="10" name="Shape 8"/>
          <p:cNvSpPr/>
          <p:nvPr/>
        </p:nvSpPr>
        <p:spPr>
          <a:xfrm>
            <a:off x="594360" y="1865376"/>
            <a:ext cx="5495544" cy="4123944"/>
          </a:xfrm>
          <a:prstGeom prst="rect">
            <a:avLst/>
          </a:prstGeom>
          <a:solidFill>
            <a:srgbClr val="FFFFFF"/>
          </a:solidFill>
          <a:ln w="6350">
            <a:solidFill>
              <a:srgbClr val="FFFFFF"/>
            </a:solidFill>
            <a:prstDash val="solid"/>
          </a:ln>
        </p:spPr>
      </p:sp>
      <p:sp>
        <p:nvSpPr>
          <p:cNvPr id="11" name="Shape 9"/>
          <p:cNvSpPr/>
          <p:nvPr/>
        </p:nvSpPr>
        <p:spPr>
          <a:xfrm>
            <a:off x="1143000" y="5413248"/>
            <a:ext cx="4242816" cy="0"/>
          </a:xfrm>
          <a:prstGeom prst="line">
            <a:avLst/>
          </a:prstGeom>
          <a:noFill/>
          <a:ln w="15240">
            <a:solidFill>
              <a:srgbClr val="5E6E80"/>
            </a:solidFill>
            <a:prstDash val="solid"/>
          </a:ln>
        </p:spPr>
      </p:sp>
      <p:sp>
        <p:nvSpPr>
          <p:cNvPr id="12" name="Shape 10"/>
          <p:cNvSpPr/>
          <p:nvPr/>
        </p:nvSpPr>
        <p:spPr>
          <a:xfrm>
            <a:off x="1143000" y="5413248"/>
            <a:ext cx="0" cy="0"/>
          </a:xfrm>
          <a:prstGeom prst="line">
            <a:avLst/>
          </a:prstGeom>
          <a:noFill/>
          <a:ln w="15240">
            <a:solidFill>
              <a:srgbClr val="5E6E80"/>
            </a:solidFill>
            <a:prstDash val="solid"/>
          </a:ln>
        </p:spPr>
      </p:sp>
      <p:sp>
        <p:nvSpPr>
          <p:cNvPr id="13" name="Shape 11"/>
          <p:cNvSpPr/>
          <p:nvPr/>
        </p:nvSpPr>
        <p:spPr>
          <a:xfrm>
            <a:off x="1143000" y="4151376"/>
            <a:ext cx="4242816" cy="0"/>
          </a:xfrm>
          <a:prstGeom prst="line">
            <a:avLst/>
          </a:prstGeom>
          <a:noFill/>
          <a:ln w="12700">
            <a:solidFill>
              <a:srgbClr val="DAE2EB"/>
            </a:solidFill>
            <a:prstDash val="dash"/>
          </a:ln>
        </p:spPr>
      </p:sp>
      <p:sp>
        <p:nvSpPr>
          <p:cNvPr id="14" name="Shape 12"/>
          <p:cNvSpPr/>
          <p:nvPr/>
        </p:nvSpPr>
        <p:spPr>
          <a:xfrm>
            <a:off x="3264408" y="5413248"/>
            <a:ext cx="0" cy="0"/>
          </a:xfrm>
          <a:prstGeom prst="line">
            <a:avLst/>
          </a:prstGeom>
          <a:noFill/>
          <a:ln w="12700">
            <a:solidFill>
              <a:srgbClr val="DAE2EB"/>
            </a:solidFill>
            <a:prstDash val="dash"/>
          </a:ln>
        </p:spPr>
      </p:sp>
      <p:sp>
        <p:nvSpPr>
          <p:cNvPr id="15" name="Shape 13"/>
          <p:cNvSpPr/>
          <p:nvPr/>
        </p:nvSpPr>
        <p:spPr>
          <a:xfrm>
            <a:off x="1143000" y="5407008"/>
            <a:ext cx="53035" cy="0"/>
          </a:xfrm>
          <a:prstGeom prst="line">
            <a:avLst/>
          </a:prstGeom>
          <a:noFill/>
          <a:ln w="34290">
            <a:solidFill>
              <a:srgbClr val="087F82"/>
            </a:solidFill>
            <a:prstDash val="solid"/>
          </a:ln>
        </p:spPr>
      </p:sp>
      <p:sp>
        <p:nvSpPr>
          <p:cNvPr id="16" name="Shape 14"/>
          <p:cNvSpPr/>
          <p:nvPr/>
        </p:nvSpPr>
        <p:spPr>
          <a:xfrm>
            <a:off x="1196035" y="5406001"/>
            <a:ext cx="53035" cy="0"/>
          </a:xfrm>
          <a:prstGeom prst="line">
            <a:avLst/>
          </a:prstGeom>
          <a:noFill/>
          <a:ln w="34290">
            <a:solidFill>
              <a:srgbClr val="087F82"/>
            </a:solidFill>
            <a:prstDash val="solid"/>
          </a:ln>
        </p:spPr>
      </p:sp>
      <p:sp>
        <p:nvSpPr>
          <p:cNvPr id="17" name="Shape 15"/>
          <p:cNvSpPr/>
          <p:nvPr/>
        </p:nvSpPr>
        <p:spPr>
          <a:xfrm>
            <a:off x="1249070" y="5404832"/>
            <a:ext cx="53035" cy="0"/>
          </a:xfrm>
          <a:prstGeom prst="line">
            <a:avLst/>
          </a:prstGeom>
          <a:noFill/>
          <a:ln w="34290">
            <a:solidFill>
              <a:srgbClr val="087F82"/>
            </a:solidFill>
            <a:prstDash val="solid"/>
          </a:ln>
        </p:spPr>
      </p:sp>
      <p:sp>
        <p:nvSpPr>
          <p:cNvPr id="18" name="Shape 16"/>
          <p:cNvSpPr/>
          <p:nvPr/>
        </p:nvSpPr>
        <p:spPr>
          <a:xfrm>
            <a:off x="1302106" y="5403475"/>
            <a:ext cx="53035" cy="0"/>
          </a:xfrm>
          <a:prstGeom prst="line">
            <a:avLst/>
          </a:prstGeom>
          <a:noFill/>
          <a:ln w="34290">
            <a:solidFill>
              <a:srgbClr val="087F82"/>
            </a:solidFill>
            <a:prstDash val="solid"/>
          </a:ln>
        </p:spPr>
      </p:sp>
      <p:sp>
        <p:nvSpPr>
          <p:cNvPr id="19" name="Shape 17"/>
          <p:cNvSpPr/>
          <p:nvPr/>
        </p:nvSpPr>
        <p:spPr>
          <a:xfrm>
            <a:off x="1355141" y="5401901"/>
            <a:ext cx="53035" cy="0"/>
          </a:xfrm>
          <a:prstGeom prst="line">
            <a:avLst/>
          </a:prstGeom>
          <a:noFill/>
          <a:ln w="34290">
            <a:solidFill>
              <a:srgbClr val="087F82"/>
            </a:solidFill>
            <a:prstDash val="solid"/>
          </a:ln>
        </p:spPr>
      </p:sp>
      <p:sp>
        <p:nvSpPr>
          <p:cNvPr id="20" name="Shape 18"/>
          <p:cNvSpPr/>
          <p:nvPr/>
        </p:nvSpPr>
        <p:spPr>
          <a:xfrm>
            <a:off x="1408176" y="5400074"/>
            <a:ext cx="53035" cy="0"/>
          </a:xfrm>
          <a:prstGeom prst="line">
            <a:avLst/>
          </a:prstGeom>
          <a:noFill/>
          <a:ln w="34290">
            <a:solidFill>
              <a:srgbClr val="087F82"/>
            </a:solidFill>
            <a:prstDash val="solid"/>
          </a:ln>
        </p:spPr>
      </p:sp>
      <p:sp>
        <p:nvSpPr>
          <p:cNvPr id="21" name="Shape 19"/>
          <p:cNvSpPr/>
          <p:nvPr/>
        </p:nvSpPr>
        <p:spPr>
          <a:xfrm>
            <a:off x="1461211" y="5397955"/>
            <a:ext cx="53035" cy="0"/>
          </a:xfrm>
          <a:prstGeom prst="line">
            <a:avLst/>
          </a:prstGeom>
          <a:noFill/>
          <a:ln w="34290">
            <a:solidFill>
              <a:srgbClr val="087F82"/>
            </a:solidFill>
            <a:prstDash val="solid"/>
          </a:ln>
        </p:spPr>
      </p:sp>
      <p:sp>
        <p:nvSpPr>
          <p:cNvPr id="22" name="Shape 20"/>
          <p:cNvSpPr/>
          <p:nvPr/>
        </p:nvSpPr>
        <p:spPr>
          <a:xfrm>
            <a:off x="1514246" y="5395497"/>
            <a:ext cx="53035" cy="0"/>
          </a:xfrm>
          <a:prstGeom prst="line">
            <a:avLst/>
          </a:prstGeom>
          <a:noFill/>
          <a:ln w="34290">
            <a:solidFill>
              <a:srgbClr val="087F82"/>
            </a:solidFill>
            <a:prstDash val="solid"/>
          </a:ln>
        </p:spPr>
      </p:sp>
      <p:sp>
        <p:nvSpPr>
          <p:cNvPr id="23" name="Shape 21"/>
          <p:cNvSpPr/>
          <p:nvPr/>
        </p:nvSpPr>
        <p:spPr>
          <a:xfrm>
            <a:off x="1567282" y="5392648"/>
            <a:ext cx="53035" cy="0"/>
          </a:xfrm>
          <a:prstGeom prst="line">
            <a:avLst/>
          </a:prstGeom>
          <a:noFill/>
          <a:ln w="34290">
            <a:solidFill>
              <a:srgbClr val="087F82"/>
            </a:solidFill>
            <a:prstDash val="solid"/>
          </a:ln>
        </p:spPr>
      </p:sp>
      <p:sp>
        <p:nvSpPr>
          <p:cNvPr id="24" name="Shape 22"/>
          <p:cNvSpPr/>
          <p:nvPr/>
        </p:nvSpPr>
        <p:spPr>
          <a:xfrm>
            <a:off x="1620317" y="5389346"/>
            <a:ext cx="53035" cy="0"/>
          </a:xfrm>
          <a:prstGeom prst="line">
            <a:avLst/>
          </a:prstGeom>
          <a:noFill/>
          <a:ln w="34290">
            <a:solidFill>
              <a:srgbClr val="087F82"/>
            </a:solidFill>
            <a:prstDash val="solid"/>
          </a:ln>
        </p:spPr>
      </p:sp>
      <p:sp>
        <p:nvSpPr>
          <p:cNvPr id="25" name="Shape 23"/>
          <p:cNvSpPr/>
          <p:nvPr/>
        </p:nvSpPr>
        <p:spPr>
          <a:xfrm>
            <a:off x="1673352" y="5385520"/>
            <a:ext cx="53035" cy="0"/>
          </a:xfrm>
          <a:prstGeom prst="line">
            <a:avLst/>
          </a:prstGeom>
          <a:noFill/>
          <a:ln w="34290">
            <a:solidFill>
              <a:srgbClr val="087F82"/>
            </a:solidFill>
            <a:prstDash val="solid"/>
          </a:ln>
        </p:spPr>
      </p:sp>
      <p:sp>
        <p:nvSpPr>
          <p:cNvPr id="26" name="Shape 24"/>
          <p:cNvSpPr/>
          <p:nvPr/>
        </p:nvSpPr>
        <p:spPr>
          <a:xfrm>
            <a:off x="1726387" y="5381090"/>
            <a:ext cx="53035" cy="0"/>
          </a:xfrm>
          <a:prstGeom prst="line">
            <a:avLst/>
          </a:prstGeom>
          <a:noFill/>
          <a:ln w="34290">
            <a:solidFill>
              <a:srgbClr val="087F82"/>
            </a:solidFill>
            <a:prstDash val="solid"/>
          </a:ln>
        </p:spPr>
      </p:sp>
      <p:sp>
        <p:nvSpPr>
          <p:cNvPr id="27" name="Shape 25"/>
          <p:cNvSpPr/>
          <p:nvPr/>
        </p:nvSpPr>
        <p:spPr>
          <a:xfrm>
            <a:off x="1779422" y="5375962"/>
            <a:ext cx="53035" cy="0"/>
          </a:xfrm>
          <a:prstGeom prst="line">
            <a:avLst/>
          </a:prstGeom>
          <a:noFill/>
          <a:ln w="34290">
            <a:solidFill>
              <a:srgbClr val="087F82"/>
            </a:solidFill>
            <a:prstDash val="solid"/>
          </a:ln>
        </p:spPr>
      </p:sp>
      <p:sp>
        <p:nvSpPr>
          <p:cNvPr id="28" name="Shape 26"/>
          <p:cNvSpPr/>
          <p:nvPr/>
        </p:nvSpPr>
        <p:spPr>
          <a:xfrm>
            <a:off x="1832458" y="5370031"/>
            <a:ext cx="53035" cy="0"/>
          </a:xfrm>
          <a:prstGeom prst="line">
            <a:avLst/>
          </a:prstGeom>
          <a:noFill/>
          <a:ln w="34290">
            <a:solidFill>
              <a:srgbClr val="087F82"/>
            </a:solidFill>
            <a:prstDash val="solid"/>
          </a:ln>
        </p:spPr>
      </p:sp>
      <p:sp>
        <p:nvSpPr>
          <p:cNvPr id="29" name="Shape 27"/>
          <p:cNvSpPr/>
          <p:nvPr/>
        </p:nvSpPr>
        <p:spPr>
          <a:xfrm>
            <a:off x="1885493" y="5363176"/>
            <a:ext cx="53035" cy="0"/>
          </a:xfrm>
          <a:prstGeom prst="line">
            <a:avLst/>
          </a:prstGeom>
          <a:noFill/>
          <a:ln w="34290">
            <a:solidFill>
              <a:srgbClr val="087F82"/>
            </a:solidFill>
            <a:prstDash val="solid"/>
          </a:ln>
        </p:spPr>
      </p:sp>
      <p:sp>
        <p:nvSpPr>
          <p:cNvPr id="30" name="Shape 28"/>
          <p:cNvSpPr/>
          <p:nvPr/>
        </p:nvSpPr>
        <p:spPr>
          <a:xfrm>
            <a:off x="1938528" y="5355259"/>
            <a:ext cx="53035" cy="0"/>
          </a:xfrm>
          <a:prstGeom prst="line">
            <a:avLst/>
          </a:prstGeom>
          <a:noFill/>
          <a:ln w="34290">
            <a:solidFill>
              <a:srgbClr val="087F82"/>
            </a:solidFill>
            <a:prstDash val="solid"/>
          </a:ln>
        </p:spPr>
      </p:sp>
      <p:sp>
        <p:nvSpPr>
          <p:cNvPr id="31" name="Shape 29"/>
          <p:cNvSpPr/>
          <p:nvPr/>
        </p:nvSpPr>
        <p:spPr>
          <a:xfrm>
            <a:off x="1991563" y="5346124"/>
            <a:ext cx="53035" cy="0"/>
          </a:xfrm>
          <a:prstGeom prst="line">
            <a:avLst/>
          </a:prstGeom>
          <a:noFill/>
          <a:ln w="34290">
            <a:solidFill>
              <a:srgbClr val="087F82"/>
            </a:solidFill>
            <a:prstDash val="solid"/>
          </a:ln>
        </p:spPr>
      </p:sp>
      <p:sp>
        <p:nvSpPr>
          <p:cNvPr id="32" name="Shape 30"/>
          <p:cNvSpPr/>
          <p:nvPr/>
        </p:nvSpPr>
        <p:spPr>
          <a:xfrm>
            <a:off x="2044598" y="5335595"/>
            <a:ext cx="53035" cy="0"/>
          </a:xfrm>
          <a:prstGeom prst="line">
            <a:avLst/>
          </a:prstGeom>
          <a:noFill/>
          <a:ln w="34290">
            <a:solidFill>
              <a:srgbClr val="087F82"/>
            </a:solidFill>
            <a:prstDash val="solid"/>
          </a:ln>
        </p:spPr>
      </p:sp>
      <p:sp>
        <p:nvSpPr>
          <p:cNvPr id="33" name="Shape 31"/>
          <p:cNvSpPr/>
          <p:nvPr/>
        </p:nvSpPr>
        <p:spPr>
          <a:xfrm>
            <a:off x="2097634" y="5323475"/>
            <a:ext cx="53035" cy="0"/>
          </a:xfrm>
          <a:prstGeom prst="line">
            <a:avLst/>
          </a:prstGeom>
          <a:noFill/>
          <a:ln w="34290">
            <a:solidFill>
              <a:srgbClr val="087F82"/>
            </a:solidFill>
            <a:prstDash val="solid"/>
          </a:ln>
        </p:spPr>
      </p:sp>
      <p:sp>
        <p:nvSpPr>
          <p:cNvPr id="34" name="Shape 32"/>
          <p:cNvSpPr/>
          <p:nvPr/>
        </p:nvSpPr>
        <p:spPr>
          <a:xfrm>
            <a:off x="2150669" y="5309544"/>
            <a:ext cx="53035" cy="0"/>
          </a:xfrm>
          <a:prstGeom prst="line">
            <a:avLst/>
          </a:prstGeom>
          <a:noFill/>
          <a:ln w="34290">
            <a:solidFill>
              <a:srgbClr val="087F82"/>
            </a:solidFill>
            <a:prstDash val="solid"/>
          </a:ln>
        </p:spPr>
      </p:sp>
      <p:sp>
        <p:nvSpPr>
          <p:cNvPr id="35" name="Shape 33"/>
          <p:cNvSpPr/>
          <p:nvPr/>
        </p:nvSpPr>
        <p:spPr>
          <a:xfrm>
            <a:off x="2203704" y="5293557"/>
            <a:ext cx="53035" cy="0"/>
          </a:xfrm>
          <a:prstGeom prst="line">
            <a:avLst/>
          </a:prstGeom>
          <a:noFill/>
          <a:ln w="34290">
            <a:solidFill>
              <a:srgbClr val="087F82"/>
            </a:solidFill>
            <a:prstDash val="solid"/>
          </a:ln>
        </p:spPr>
      </p:sp>
      <p:sp>
        <p:nvSpPr>
          <p:cNvPr id="36" name="Shape 34"/>
          <p:cNvSpPr/>
          <p:nvPr/>
        </p:nvSpPr>
        <p:spPr>
          <a:xfrm>
            <a:off x="2256739" y="5275246"/>
            <a:ext cx="53035" cy="0"/>
          </a:xfrm>
          <a:prstGeom prst="line">
            <a:avLst/>
          </a:prstGeom>
          <a:noFill/>
          <a:ln w="34290">
            <a:solidFill>
              <a:srgbClr val="087F82"/>
            </a:solidFill>
            <a:prstDash val="solid"/>
          </a:ln>
        </p:spPr>
      </p:sp>
      <p:sp>
        <p:nvSpPr>
          <p:cNvPr id="37" name="Shape 35"/>
          <p:cNvSpPr/>
          <p:nvPr/>
        </p:nvSpPr>
        <p:spPr>
          <a:xfrm>
            <a:off x="2309774" y="5254319"/>
            <a:ext cx="53035" cy="0"/>
          </a:xfrm>
          <a:prstGeom prst="line">
            <a:avLst/>
          </a:prstGeom>
          <a:noFill/>
          <a:ln w="34290">
            <a:solidFill>
              <a:srgbClr val="087F82"/>
            </a:solidFill>
            <a:prstDash val="solid"/>
          </a:ln>
        </p:spPr>
      </p:sp>
      <p:sp>
        <p:nvSpPr>
          <p:cNvPr id="38" name="Shape 36"/>
          <p:cNvSpPr/>
          <p:nvPr/>
        </p:nvSpPr>
        <p:spPr>
          <a:xfrm>
            <a:off x="2362810" y="5230462"/>
            <a:ext cx="53035" cy="0"/>
          </a:xfrm>
          <a:prstGeom prst="line">
            <a:avLst/>
          </a:prstGeom>
          <a:noFill/>
          <a:ln w="34290">
            <a:solidFill>
              <a:srgbClr val="087F82"/>
            </a:solidFill>
            <a:prstDash val="solid"/>
          </a:ln>
        </p:spPr>
      </p:sp>
      <p:sp>
        <p:nvSpPr>
          <p:cNvPr id="39" name="Shape 37"/>
          <p:cNvSpPr/>
          <p:nvPr/>
        </p:nvSpPr>
        <p:spPr>
          <a:xfrm>
            <a:off x="2415845" y="5203341"/>
            <a:ext cx="53035" cy="0"/>
          </a:xfrm>
          <a:prstGeom prst="line">
            <a:avLst/>
          </a:prstGeom>
          <a:noFill/>
          <a:ln w="34290">
            <a:solidFill>
              <a:srgbClr val="087F82"/>
            </a:solidFill>
            <a:prstDash val="solid"/>
          </a:ln>
        </p:spPr>
      </p:sp>
      <p:sp>
        <p:nvSpPr>
          <p:cNvPr id="40" name="Shape 38"/>
          <p:cNvSpPr/>
          <p:nvPr/>
        </p:nvSpPr>
        <p:spPr>
          <a:xfrm>
            <a:off x="2468880" y="5172610"/>
            <a:ext cx="53035" cy="0"/>
          </a:xfrm>
          <a:prstGeom prst="line">
            <a:avLst/>
          </a:prstGeom>
          <a:noFill/>
          <a:ln w="34290">
            <a:solidFill>
              <a:srgbClr val="087F82"/>
            </a:solidFill>
            <a:prstDash val="solid"/>
          </a:ln>
        </p:spPr>
      </p:sp>
      <p:sp>
        <p:nvSpPr>
          <p:cNvPr id="41" name="Shape 39"/>
          <p:cNvSpPr/>
          <p:nvPr/>
        </p:nvSpPr>
        <p:spPr>
          <a:xfrm>
            <a:off x="2521915" y="5137916"/>
            <a:ext cx="53035" cy="0"/>
          </a:xfrm>
          <a:prstGeom prst="line">
            <a:avLst/>
          </a:prstGeom>
          <a:noFill/>
          <a:ln w="34290">
            <a:solidFill>
              <a:srgbClr val="087F82"/>
            </a:solidFill>
            <a:prstDash val="solid"/>
          </a:ln>
        </p:spPr>
      </p:sp>
      <p:sp>
        <p:nvSpPr>
          <p:cNvPr id="42" name="Shape 40"/>
          <p:cNvSpPr/>
          <p:nvPr/>
        </p:nvSpPr>
        <p:spPr>
          <a:xfrm>
            <a:off x="2574950" y="5098907"/>
            <a:ext cx="53035" cy="0"/>
          </a:xfrm>
          <a:prstGeom prst="line">
            <a:avLst/>
          </a:prstGeom>
          <a:noFill/>
          <a:ln w="34290">
            <a:solidFill>
              <a:srgbClr val="087F82"/>
            </a:solidFill>
            <a:prstDash val="solid"/>
          </a:ln>
        </p:spPr>
      </p:sp>
      <p:sp>
        <p:nvSpPr>
          <p:cNvPr id="43" name="Shape 41"/>
          <p:cNvSpPr/>
          <p:nvPr/>
        </p:nvSpPr>
        <p:spPr>
          <a:xfrm>
            <a:off x="2627986" y="5055252"/>
            <a:ext cx="53035" cy="0"/>
          </a:xfrm>
          <a:prstGeom prst="line">
            <a:avLst/>
          </a:prstGeom>
          <a:noFill/>
          <a:ln w="34290">
            <a:solidFill>
              <a:srgbClr val="087F82"/>
            </a:solidFill>
            <a:prstDash val="solid"/>
          </a:ln>
        </p:spPr>
      </p:sp>
      <p:sp>
        <p:nvSpPr>
          <p:cNvPr id="44" name="Shape 42"/>
          <p:cNvSpPr/>
          <p:nvPr/>
        </p:nvSpPr>
        <p:spPr>
          <a:xfrm>
            <a:off x="2681021" y="5006650"/>
            <a:ext cx="53035" cy="0"/>
          </a:xfrm>
          <a:prstGeom prst="line">
            <a:avLst/>
          </a:prstGeom>
          <a:noFill/>
          <a:ln w="34290">
            <a:solidFill>
              <a:srgbClr val="087F82"/>
            </a:solidFill>
            <a:prstDash val="solid"/>
          </a:ln>
        </p:spPr>
      </p:sp>
      <p:sp>
        <p:nvSpPr>
          <p:cNvPr id="45" name="Shape 43"/>
          <p:cNvSpPr/>
          <p:nvPr/>
        </p:nvSpPr>
        <p:spPr>
          <a:xfrm>
            <a:off x="2734056" y="4952853"/>
            <a:ext cx="53035" cy="0"/>
          </a:xfrm>
          <a:prstGeom prst="line">
            <a:avLst/>
          </a:prstGeom>
          <a:noFill/>
          <a:ln w="34290">
            <a:solidFill>
              <a:srgbClr val="087F82"/>
            </a:solidFill>
            <a:prstDash val="solid"/>
          </a:ln>
        </p:spPr>
      </p:sp>
      <p:sp>
        <p:nvSpPr>
          <p:cNvPr id="46" name="Shape 44"/>
          <p:cNvSpPr/>
          <p:nvPr/>
        </p:nvSpPr>
        <p:spPr>
          <a:xfrm>
            <a:off x="2787091" y="4893684"/>
            <a:ext cx="53035" cy="0"/>
          </a:xfrm>
          <a:prstGeom prst="line">
            <a:avLst/>
          </a:prstGeom>
          <a:noFill/>
          <a:ln w="34290">
            <a:solidFill>
              <a:srgbClr val="087F82"/>
            </a:solidFill>
            <a:prstDash val="solid"/>
          </a:ln>
        </p:spPr>
      </p:sp>
      <p:sp>
        <p:nvSpPr>
          <p:cNvPr id="47" name="Shape 45"/>
          <p:cNvSpPr/>
          <p:nvPr/>
        </p:nvSpPr>
        <p:spPr>
          <a:xfrm>
            <a:off x="2840126" y="4829064"/>
            <a:ext cx="53035" cy="0"/>
          </a:xfrm>
          <a:prstGeom prst="line">
            <a:avLst/>
          </a:prstGeom>
          <a:noFill/>
          <a:ln w="34290">
            <a:solidFill>
              <a:srgbClr val="087F82"/>
            </a:solidFill>
            <a:prstDash val="solid"/>
          </a:ln>
        </p:spPr>
      </p:sp>
      <p:sp>
        <p:nvSpPr>
          <p:cNvPr id="48" name="Shape 46"/>
          <p:cNvSpPr/>
          <p:nvPr/>
        </p:nvSpPr>
        <p:spPr>
          <a:xfrm>
            <a:off x="2893162" y="4759030"/>
            <a:ext cx="53035" cy="0"/>
          </a:xfrm>
          <a:prstGeom prst="line">
            <a:avLst/>
          </a:prstGeom>
          <a:noFill/>
          <a:ln w="34290">
            <a:solidFill>
              <a:srgbClr val="087F82"/>
            </a:solidFill>
            <a:prstDash val="solid"/>
          </a:ln>
        </p:spPr>
      </p:sp>
      <p:sp>
        <p:nvSpPr>
          <p:cNvPr id="49" name="Shape 47"/>
          <p:cNvSpPr/>
          <p:nvPr/>
        </p:nvSpPr>
        <p:spPr>
          <a:xfrm>
            <a:off x="2946197" y="4683759"/>
            <a:ext cx="53035" cy="0"/>
          </a:xfrm>
          <a:prstGeom prst="line">
            <a:avLst/>
          </a:prstGeom>
          <a:noFill/>
          <a:ln w="34290">
            <a:solidFill>
              <a:srgbClr val="087F82"/>
            </a:solidFill>
            <a:prstDash val="solid"/>
          </a:ln>
        </p:spPr>
      </p:sp>
      <p:sp>
        <p:nvSpPr>
          <p:cNvPr id="50" name="Shape 48"/>
          <p:cNvSpPr/>
          <p:nvPr/>
        </p:nvSpPr>
        <p:spPr>
          <a:xfrm>
            <a:off x="2999232" y="4603577"/>
            <a:ext cx="53035" cy="0"/>
          </a:xfrm>
          <a:prstGeom prst="line">
            <a:avLst/>
          </a:prstGeom>
          <a:noFill/>
          <a:ln w="34290">
            <a:solidFill>
              <a:srgbClr val="087F82"/>
            </a:solidFill>
            <a:prstDash val="solid"/>
          </a:ln>
        </p:spPr>
      </p:sp>
      <p:sp>
        <p:nvSpPr>
          <p:cNvPr id="51" name="Shape 49"/>
          <p:cNvSpPr/>
          <p:nvPr/>
        </p:nvSpPr>
        <p:spPr>
          <a:xfrm>
            <a:off x="3052267" y="4518975"/>
            <a:ext cx="53035" cy="0"/>
          </a:xfrm>
          <a:prstGeom prst="line">
            <a:avLst/>
          </a:prstGeom>
          <a:noFill/>
          <a:ln w="34290">
            <a:solidFill>
              <a:srgbClr val="087F82"/>
            </a:solidFill>
            <a:prstDash val="solid"/>
          </a:ln>
        </p:spPr>
      </p:sp>
      <p:sp>
        <p:nvSpPr>
          <p:cNvPr id="52" name="Shape 50"/>
          <p:cNvSpPr/>
          <p:nvPr/>
        </p:nvSpPr>
        <p:spPr>
          <a:xfrm>
            <a:off x="3105302" y="4430601"/>
            <a:ext cx="53035" cy="0"/>
          </a:xfrm>
          <a:prstGeom prst="line">
            <a:avLst/>
          </a:prstGeom>
          <a:noFill/>
          <a:ln w="34290">
            <a:solidFill>
              <a:srgbClr val="087F82"/>
            </a:solidFill>
            <a:prstDash val="solid"/>
          </a:ln>
        </p:spPr>
      </p:sp>
      <p:sp>
        <p:nvSpPr>
          <p:cNvPr id="53" name="Shape 51"/>
          <p:cNvSpPr/>
          <p:nvPr/>
        </p:nvSpPr>
        <p:spPr>
          <a:xfrm>
            <a:off x="3158338" y="4339250"/>
            <a:ext cx="53035" cy="0"/>
          </a:xfrm>
          <a:prstGeom prst="line">
            <a:avLst/>
          </a:prstGeom>
          <a:noFill/>
          <a:ln w="34290">
            <a:solidFill>
              <a:srgbClr val="087F82"/>
            </a:solidFill>
            <a:prstDash val="solid"/>
          </a:ln>
        </p:spPr>
      </p:sp>
      <p:sp>
        <p:nvSpPr>
          <p:cNvPr id="54" name="Shape 52"/>
          <p:cNvSpPr/>
          <p:nvPr/>
        </p:nvSpPr>
        <p:spPr>
          <a:xfrm>
            <a:off x="3211373" y="4245839"/>
            <a:ext cx="53035" cy="0"/>
          </a:xfrm>
          <a:prstGeom prst="line">
            <a:avLst/>
          </a:prstGeom>
          <a:noFill/>
          <a:ln w="34290">
            <a:solidFill>
              <a:srgbClr val="087F82"/>
            </a:solidFill>
            <a:prstDash val="solid"/>
          </a:ln>
        </p:spPr>
      </p:sp>
      <p:sp>
        <p:nvSpPr>
          <p:cNvPr id="55" name="Shape 53"/>
          <p:cNvSpPr/>
          <p:nvPr/>
        </p:nvSpPr>
        <p:spPr>
          <a:xfrm>
            <a:off x="3264408" y="4151376"/>
            <a:ext cx="53035" cy="0"/>
          </a:xfrm>
          <a:prstGeom prst="line">
            <a:avLst/>
          </a:prstGeom>
          <a:noFill/>
          <a:ln w="34290">
            <a:solidFill>
              <a:srgbClr val="087F82"/>
            </a:solidFill>
            <a:prstDash val="solid"/>
          </a:ln>
        </p:spPr>
      </p:sp>
      <p:sp>
        <p:nvSpPr>
          <p:cNvPr id="56" name="Shape 54"/>
          <p:cNvSpPr/>
          <p:nvPr/>
        </p:nvSpPr>
        <p:spPr>
          <a:xfrm>
            <a:off x="3317443" y="4056913"/>
            <a:ext cx="53035" cy="0"/>
          </a:xfrm>
          <a:prstGeom prst="line">
            <a:avLst/>
          </a:prstGeom>
          <a:noFill/>
          <a:ln w="34290">
            <a:solidFill>
              <a:srgbClr val="087F82"/>
            </a:solidFill>
            <a:prstDash val="solid"/>
          </a:ln>
        </p:spPr>
      </p:sp>
      <p:sp>
        <p:nvSpPr>
          <p:cNvPr id="57" name="Shape 55"/>
          <p:cNvSpPr/>
          <p:nvPr/>
        </p:nvSpPr>
        <p:spPr>
          <a:xfrm>
            <a:off x="3370478" y="3963502"/>
            <a:ext cx="53035" cy="0"/>
          </a:xfrm>
          <a:prstGeom prst="line">
            <a:avLst/>
          </a:prstGeom>
          <a:noFill/>
          <a:ln w="34290">
            <a:solidFill>
              <a:srgbClr val="087F82"/>
            </a:solidFill>
            <a:prstDash val="solid"/>
          </a:ln>
        </p:spPr>
      </p:sp>
      <p:sp>
        <p:nvSpPr>
          <p:cNvPr id="58" name="Shape 56"/>
          <p:cNvSpPr/>
          <p:nvPr/>
        </p:nvSpPr>
        <p:spPr>
          <a:xfrm>
            <a:off x="3423514" y="3872151"/>
            <a:ext cx="53035" cy="0"/>
          </a:xfrm>
          <a:prstGeom prst="line">
            <a:avLst/>
          </a:prstGeom>
          <a:noFill/>
          <a:ln w="34290">
            <a:solidFill>
              <a:srgbClr val="087F82"/>
            </a:solidFill>
            <a:prstDash val="solid"/>
          </a:ln>
        </p:spPr>
      </p:sp>
      <p:sp>
        <p:nvSpPr>
          <p:cNvPr id="59" name="Shape 57"/>
          <p:cNvSpPr/>
          <p:nvPr/>
        </p:nvSpPr>
        <p:spPr>
          <a:xfrm>
            <a:off x="3476549" y="3783777"/>
            <a:ext cx="53035" cy="0"/>
          </a:xfrm>
          <a:prstGeom prst="line">
            <a:avLst/>
          </a:prstGeom>
          <a:noFill/>
          <a:ln w="34290">
            <a:solidFill>
              <a:srgbClr val="087F82"/>
            </a:solidFill>
            <a:prstDash val="solid"/>
          </a:ln>
        </p:spPr>
      </p:sp>
      <p:sp>
        <p:nvSpPr>
          <p:cNvPr id="60" name="Shape 58"/>
          <p:cNvSpPr/>
          <p:nvPr/>
        </p:nvSpPr>
        <p:spPr>
          <a:xfrm>
            <a:off x="3529584" y="3699175"/>
            <a:ext cx="53035" cy="0"/>
          </a:xfrm>
          <a:prstGeom prst="line">
            <a:avLst/>
          </a:prstGeom>
          <a:noFill/>
          <a:ln w="34290">
            <a:solidFill>
              <a:srgbClr val="087F82"/>
            </a:solidFill>
            <a:prstDash val="solid"/>
          </a:ln>
        </p:spPr>
      </p:sp>
      <p:sp>
        <p:nvSpPr>
          <p:cNvPr id="61" name="Shape 59"/>
          <p:cNvSpPr/>
          <p:nvPr/>
        </p:nvSpPr>
        <p:spPr>
          <a:xfrm>
            <a:off x="3582619" y="3618993"/>
            <a:ext cx="53035" cy="0"/>
          </a:xfrm>
          <a:prstGeom prst="line">
            <a:avLst/>
          </a:prstGeom>
          <a:noFill/>
          <a:ln w="34290">
            <a:solidFill>
              <a:srgbClr val="087F82"/>
            </a:solidFill>
            <a:prstDash val="solid"/>
          </a:ln>
        </p:spPr>
      </p:sp>
      <p:sp>
        <p:nvSpPr>
          <p:cNvPr id="62" name="Shape 60"/>
          <p:cNvSpPr/>
          <p:nvPr/>
        </p:nvSpPr>
        <p:spPr>
          <a:xfrm>
            <a:off x="3635654" y="3543722"/>
            <a:ext cx="53035" cy="0"/>
          </a:xfrm>
          <a:prstGeom prst="line">
            <a:avLst/>
          </a:prstGeom>
          <a:noFill/>
          <a:ln w="34290">
            <a:solidFill>
              <a:srgbClr val="087F82"/>
            </a:solidFill>
            <a:prstDash val="solid"/>
          </a:ln>
        </p:spPr>
      </p:sp>
      <p:sp>
        <p:nvSpPr>
          <p:cNvPr id="63" name="Shape 61"/>
          <p:cNvSpPr/>
          <p:nvPr/>
        </p:nvSpPr>
        <p:spPr>
          <a:xfrm>
            <a:off x="3688690" y="3473688"/>
            <a:ext cx="53035" cy="0"/>
          </a:xfrm>
          <a:prstGeom prst="line">
            <a:avLst/>
          </a:prstGeom>
          <a:noFill/>
          <a:ln w="34290">
            <a:solidFill>
              <a:srgbClr val="087F82"/>
            </a:solidFill>
            <a:prstDash val="solid"/>
          </a:ln>
        </p:spPr>
      </p:sp>
      <p:sp>
        <p:nvSpPr>
          <p:cNvPr id="64" name="Shape 62"/>
          <p:cNvSpPr/>
          <p:nvPr/>
        </p:nvSpPr>
        <p:spPr>
          <a:xfrm>
            <a:off x="3741725" y="3409068"/>
            <a:ext cx="53035" cy="0"/>
          </a:xfrm>
          <a:prstGeom prst="line">
            <a:avLst/>
          </a:prstGeom>
          <a:noFill/>
          <a:ln w="34290">
            <a:solidFill>
              <a:srgbClr val="087F82"/>
            </a:solidFill>
            <a:prstDash val="solid"/>
          </a:ln>
        </p:spPr>
      </p:sp>
      <p:sp>
        <p:nvSpPr>
          <p:cNvPr id="65" name="Shape 63"/>
          <p:cNvSpPr/>
          <p:nvPr/>
        </p:nvSpPr>
        <p:spPr>
          <a:xfrm>
            <a:off x="3794760" y="3349899"/>
            <a:ext cx="53035" cy="0"/>
          </a:xfrm>
          <a:prstGeom prst="line">
            <a:avLst/>
          </a:prstGeom>
          <a:noFill/>
          <a:ln w="34290">
            <a:solidFill>
              <a:srgbClr val="087F82"/>
            </a:solidFill>
            <a:prstDash val="solid"/>
          </a:ln>
        </p:spPr>
      </p:sp>
      <p:sp>
        <p:nvSpPr>
          <p:cNvPr id="66" name="Shape 64"/>
          <p:cNvSpPr/>
          <p:nvPr/>
        </p:nvSpPr>
        <p:spPr>
          <a:xfrm>
            <a:off x="3847795" y="3296102"/>
            <a:ext cx="53035" cy="0"/>
          </a:xfrm>
          <a:prstGeom prst="line">
            <a:avLst/>
          </a:prstGeom>
          <a:noFill/>
          <a:ln w="34290">
            <a:solidFill>
              <a:srgbClr val="087F82"/>
            </a:solidFill>
            <a:prstDash val="solid"/>
          </a:ln>
        </p:spPr>
      </p:sp>
      <p:sp>
        <p:nvSpPr>
          <p:cNvPr id="67" name="Shape 65"/>
          <p:cNvSpPr/>
          <p:nvPr/>
        </p:nvSpPr>
        <p:spPr>
          <a:xfrm>
            <a:off x="3900830" y="3247500"/>
            <a:ext cx="53035" cy="0"/>
          </a:xfrm>
          <a:prstGeom prst="line">
            <a:avLst/>
          </a:prstGeom>
          <a:noFill/>
          <a:ln w="34290">
            <a:solidFill>
              <a:srgbClr val="087F82"/>
            </a:solidFill>
            <a:prstDash val="solid"/>
          </a:ln>
        </p:spPr>
      </p:sp>
      <p:sp>
        <p:nvSpPr>
          <p:cNvPr id="68" name="Shape 66"/>
          <p:cNvSpPr/>
          <p:nvPr/>
        </p:nvSpPr>
        <p:spPr>
          <a:xfrm>
            <a:off x="3953866" y="3203845"/>
            <a:ext cx="53035" cy="0"/>
          </a:xfrm>
          <a:prstGeom prst="line">
            <a:avLst/>
          </a:prstGeom>
          <a:noFill/>
          <a:ln w="34290">
            <a:solidFill>
              <a:srgbClr val="087F82"/>
            </a:solidFill>
            <a:prstDash val="solid"/>
          </a:ln>
        </p:spPr>
      </p:sp>
      <p:sp>
        <p:nvSpPr>
          <p:cNvPr id="69" name="Shape 67"/>
          <p:cNvSpPr/>
          <p:nvPr/>
        </p:nvSpPr>
        <p:spPr>
          <a:xfrm>
            <a:off x="4006901" y="3164836"/>
            <a:ext cx="53035" cy="0"/>
          </a:xfrm>
          <a:prstGeom prst="line">
            <a:avLst/>
          </a:prstGeom>
          <a:noFill/>
          <a:ln w="34290">
            <a:solidFill>
              <a:srgbClr val="087F82"/>
            </a:solidFill>
            <a:prstDash val="solid"/>
          </a:ln>
        </p:spPr>
      </p:sp>
      <p:sp>
        <p:nvSpPr>
          <p:cNvPr id="70" name="Shape 68"/>
          <p:cNvSpPr/>
          <p:nvPr/>
        </p:nvSpPr>
        <p:spPr>
          <a:xfrm>
            <a:off x="4059936" y="3130142"/>
            <a:ext cx="53035" cy="0"/>
          </a:xfrm>
          <a:prstGeom prst="line">
            <a:avLst/>
          </a:prstGeom>
          <a:noFill/>
          <a:ln w="34290">
            <a:solidFill>
              <a:srgbClr val="087F82"/>
            </a:solidFill>
            <a:prstDash val="solid"/>
          </a:ln>
        </p:spPr>
      </p:sp>
      <p:sp>
        <p:nvSpPr>
          <p:cNvPr id="71" name="Shape 69"/>
          <p:cNvSpPr/>
          <p:nvPr/>
        </p:nvSpPr>
        <p:spPr>
          <a:xfrm>
            <a:off x="4112971" y="3099411"/>
            <a:ext cx="53035" cy="0"/>
          </a:xfrm>
          <a:prstGeom prst="line">
            <a:avLst/>
          </a:prstGeom>
          <a:noFill/>
          <a:ln w="34290">
            <a:solidFill>
              <a:srgbClr val="087F82"/>
            </a:solidFill>
            <a:prstDash val="solid"/>
          </a:ln>
        </p:spPr>
      </p:sp>
      <p:sp>
        <p:nvSpPr>
          <p:cNvPr id="72" name="Shape 70"/>
          <p:cNvSpPr/>
          <p:nvPr/>
        </p:nvSpPr>
        <p:spPr>
          <a:xfrm>
            <a:off x="4166006" y="3072290"/>
            <a:ext cx="53035" cy="0"/>
          </a:xfrm>
          <a:prstGeom prst="line">
            <a:avLst/>
          </a:prstGeom>
          <a:noFill/>
          <a:ln w="34290">
            <a:solidFill>
              <a:srgbClr val="087F82"/>
            </a:solidFill>
            <a:prstDash val="solid"/>
          </a:ln>
        </p:spPr>
      </p:sp>
      <p:sp>
        <p:nvSpPr>
          <p:cNvPr id="73" name="Shape 71"/>
          <p:cNvSpPr/>
          <p:nvPr/>
        </p:nvSpPr>
        <p:spPr>
          <a:xfrm>
            <a:off x="4219042" y="3048433"/>
            <a:ext cx="53035" cy="0"/>
          </a:xfrm>
          <a:prstGeom prst="line">
            <a:avLst/>
          </a:prstGeom>
          <a:noFill/>
          <a:ln w="34290">
            <a:solidFill>
              <a:srgbClr val="087F82"/>
            </a:solidFill>
            <a:prstDash val="solid"/>
          </a:ln>
        </p:spPr>
      </p:sp>
      <p:sp>
        <p:nvSpPr>
          <p:cNvPr id="74" name="Shape 72"/>
          <p:cNvSpPr/>
          <p:nvPr/>
        </p:nvSpPr>
        <p:spPr>
          <a:xfrm>
            <a:off x="4272077" y="3027506"/>
            <a:ext cx="53035" cy="0"/>
          </a:xfrm>
          <a:prstGeom prst="line">
            <a:avLst/>
          </a:prstGeom>
          <a:noFill/>
          <a:ln w="34290">
            <a:solidFill>
              <a:srgbClr val="087F82"/>
            </a:solidFill>
            <a:prstDash val="solid"/>
          </a:ln>
        </p:spPr>
      </p:sp>
      <p:sp>
        <p:nvSpPr>
          <p:cNvPr id="75" name="Shape 73"/>
          <p:cNvSpPr/>
          <p:nvPr/>
        </p:nvSpPr>
        <p:spPr>
          <a:xfrm>
            <a:off x="4325112" y="3009195"/>
            <a:ext cx="53035" cy="0"/>
          </a:xfrm>
          <a:prstGeom prst="line">
            <a:avLst/>
          </a:prstGeom>
          <a:noFill/>
          <a:ln w="34290">
            <a:solidFill>
              <a:srgbClr val="087F82"/>
            </a:solidFill>
            <a:prstDash val="solid"/>
          </a:ln>
        </p:spPr>
      </p:sp>
      <p:sp>
        <p:nvSpPr>
          <p:cNvPr id="76" name="Shape 74"/>
          <p:cNvSpPr/>
          <p:nvPr/>
        </p:nvSpPr>
        <p:spPr>
          <a:xfrm>
            <a:off x="4378147" y="2993208"/>
            <a:ext cx="53035" cy="0"/>
          </a:xfrm>
          <a:prstGeom prst="line">
            <a:avLst/>
          </a:prstGeom>
          <a:noFill/>
          <a:ln w="34290">
            <a:solidFill>
              <a:srgbClr val="087F82"/>
            </a:solidFill>
            <a:prstDash val="solid"/>
          </a:ln>
        </p:spPr>
      </p:sp>
      <p:sp>
        <p:nvSpPr>
          <p:cNvPr id="77" name="Shape 75"/>
          <p:cNvSpPr/>
          <p:nvPr/>
        </p:nvSpPr>
        <p:spPr>
          <a:xfrm>
            <a:off x="4431182" y="2979277"/>
            <a:ext cx="53035" cy="0"/>
          </a:xfrm>
          <a:prstGeom prst="line">
            <a:avLst/>
          </a:prstGeom>
          <a:noFill/>
          <a:ln w="34290">
            <a:solidFill>
              <a:srgbClr val="087F82"/>
            </a:solidFill>
            <a:prstDash val="solid"/>
          </a:ln>
        </p:spPr>
      </p:sp>
      <p:sp>
        <p:nvSpPr>
          <p:cNvPr id="78" name="Shape 76"/>
          <p:cNvSpPr/>
          <p:nvPr/>
        </p:nvSpPr>
        <p:spPr>
          <a:xfrm>
            <a:off x="4484218" y="2967157"/>
            <a:ext cx="53035" cy="0"/>
          </a:xfrm>
          <a:prstGeom prst="line">
            <a:avLst/>
          </a:prstGeom>
          <a:noFill/>
          <a:ln w="34290">
            <a:solidFill>
              <a:srgbClr val="087F82"/>
            </a:solidFill>
            <a:prstDash val="solid"/>
          </a:ln>
        </p:spPr>
      </p:sp>
      <p:sp>
        <p:nvSpPr>
          <p:cNvPr id="79" name="Shape 77"/>
          <p:cNvSpPr/>
          <p:nvPr/>
        </p:nvSpPr>
        <p:spPr>
          <a:xfrm>
            <a:off x="4537253" y="2956628"/>
            <a:ext cx="53035" cy="0"/>
          </a:xfrm>
          <a:prstGeom prst="line">
            <a:avLst/>
          </a:prstGeom>
          <a:noFill/>
          <a:ln w="34290">
            <a:solidFill>
              <a:srgbClr val="087F82"/>
            </a:solidFill>
            <a:prstDash val="solid"/>
          </a:ln>
        </p:spPr>
      </p:sp>
      <p:sp>
        <p:nvSpPr>
          <p:cNvPr id="80" name="Shape 78"/>
          <p:cNvSpPr/>
          <p:nvPr/>
        </p:nvSpPr>
        <p:spPr>
          <a:xfrm>
            <a:off x="4590288" y="2947493"/>
            <a:ext cx="53035" cy="0"/>
          </a:xfrm>
          <a:prstGeom prst="line">
            <a:avLst/>
          </a:prstGeom>
          <a:noFill/>
          <a:ln w="34290">
            <a:solidFill>
              <a:srgbClr val="087F82"/>
            </a:solidFill>
            <a:prstDash val="solid"/>
          </a:ln>
        </p:spPr>
      </p:sp>
      <p:sp>
        <p:nvSpPr>
          <p:cNvPr id="81" name="Shape 79"/>
          <p:cNvSpPr/>
          <p:nvPr/>
        </p:nvSpPr>
        <p:spPr>
          <a:xfrm>
            <a:off x="4643323" y="2939576"/>
            <a:ext cx="53035" cy="0"/>
          </a:xfrm>
          <a:prstGeom prst="line">
            <a:avLst/>
          </a:prstGeom>
          <a:noFill/>
          <a:ln w="34290">
            <a:solidFill>
              <a:srgbClr val="087F82"/>
            </a:solidFill>
            <a:prstDash val="solid"/>
          </a:ln>
        </p:spPr>
      </p:sp>
      <p:sp>
        <p:nvSpPr>
          <p:cNvPr id="82" name="Shape 80"/>
          <p:cNvSpPr/>
          <p:nvPr/>
        </p:nvSpPr>
        <p:spPr>
          <a:xfrm>
            <a:off x="4696358" y="2932721"/>
            <a:ext cx="53035" cy="0"/>
          </a:xfrm>
          <a:prstGeom prst="line">
            <a:avLst/>
          </a:prstGeom>
          <a:noFill/>
          <a:ln w="34290">
            <a:solidFill>
              <a:srgbClr val="087F82"/>
            </a:solidFill>
            <a:prstDash val="solid"/>
          </a:ln>
        </p:spPr>
      </p:sp>
      <p:sp>
        <p:nvSpPr>
          <p:cNvPr id="83" name="Shape 81"/>
          <p:cNvSpPr/>
          <p:nvPr/>
        </p:nvSpPr>
        <p:spPr>
          <a:xfrm>
            <a:off x="4749394" y="2926790"/>
            <a:ext cx="53035" cy="0"/>
          </a:xfrm>
          <a:prstGeom prst="line">
            <a:avLst/>
          </a:prstGeom>
          <a:noFill/>
          <a:ln w="34290">
            <a:solidFill>
              <a:srgbClr val="087F82"/>
            </a:solidFill>
            <a:prstDash val="solid"/>
          </a:ln>
        </p:spPr>
      </p:sp>
      <p:sp>
        <p:nvSpPr>
          <p:cNvPr id="84" name="Shape 82"/>
          <p:cNvSpPr/>
          <p:nvPr/>
        </p:nvSpPr>
        <p:spPr>
          <a:xfrm>
            <a:off x="4802429" y="2921662"/>
            <a:ext cx="53035" cy="0"/>
          </a:xfrm>
          <a:prstGeom prst="line">
            <a:avLst/>
          </a:prstGeom>
          <a:noFill/>
          <a:ln w="34290">
            <a:solidFill>
              <a:srgbClr val="087F82"/>
            </a:solidFill>
            <a:prstDash val="solid"/>
          </a:ln>
        </p:spPr>
      </p:sp>
      <p:sp>
        <p:nvSpPr>
          <p:cNvPr id="85" name="Shape 83"/>
          <p:cNvSpPr/>
          <p:nvPr/>
        </p:nvSpPr>
        <p:spPr>
          <a:xfrm>
            <a:off x="4855464" y="2917232"/>
            <a:ext cx="53035" cy="0"/>
          </a:xfrm>
          <a:prstGeom prst="line">
            <a:avLst/>
          </a:prstGeom>
          <a:noFill/>
          <a:ln w="34290">
            <a:solidFill>
              <a:srgbClr val="087F82"/>
            </a:solidFill>
            <a:prstDash val="solid"/>
          </a:ln>
        </p:spPr>
      </p:sp>
      <p:sp>
        <p:nvSpPr>
          <p:cNvPr id="86" name="Shape 84"/>
          <p:cNvSpPr/>
          <p:nvPr/>
        </p:nvSpPr>
        <p:spPr>
          <a:xfrm>
            <a:off x="4908499" y="2913406"/>
            <a:ext cx="53035" cy="0"/>
          </a:xfrm>
          <a:prstGeom prst="line">
            <a:avLst/>
          </a:prstGeom>
          <a:noFill/>
          <a:ln w="34290">
            <a:solidFill>
              <a:srgbClr val="087F82"/>
            </a:solidFill>
            <a:prstDash val="solid"/>
          </a:ln>
        </p:spPr>
      </p:sp>
      <p:sp>
        <p:nvSpPr>
          <p:cNvPr id="87" name="Shape 85"/>
          <p:cNvSpPr/>
          <p:nvPr/>
        </p:nvSpPr>
        <p:spPr>
          <a:xfrm>
            <a:off x="4961534" y="2910104"/>
            <a:ext cx="53035" cy="0"/>
          </a:xfrm>
          <a:prstGeom prst="line">
            <a:avLst/>
          </a:prstGeom>
          <a:noFill/>
          <a:ln w="34290">
            <a:solidFill>
              <a:srgbClr val="087F82"/>
            </a:solidFill>
            <a:prstDash val="solid"/>
          </a:ln>
        </p:spPr>
      </p:sp>
      <p:sp>
        <p:nvSpPr>
          <p:cNvPr id="88" name="Shape 86"/>
          <p:cNvSpPr/>
          <p:nvPr/>
        </p:nvSpPr>
        <p:spPr>
          <a:xfrm>
            <a:off x="5014570" y="2907255"/>
            <a:ext cx="53035" cy="0"/>
          </a:xfrm>
          <a:prstGeom prst="line">
            <a:avLst/>
          </a:prstGeom>
          <a:noFill/>
          <a:ln w="34290">
            <a:solidFill>
              <a:srgbClr val="087F82"/>
            </a:solidFill>
            <a:prstDash val="solid"/>
          </a:ln>
        </p:spPr>
      </p:sp>
      <p:sp>
        <p:nvSpPr>
          <p:cNvPr id="89" name="Shape 87"/>
          <p:cNvSpPr/>
          <p:nvPr/>
        </p:nvSpPr>
        <p:spPr>
          <a:xfrm>
            <a:off x="5067605" y="2904797"/>
            <a:ext cx="53035" cy="0"/>
          </a:xfrm>
          <a:prstGeom prst="line">
            <a:avLst/>
          </a:prstGeom>
          <a:noFill/>
          <a:ln w="34290">
            <a:solidFill>
              <a:srgbClr val="087F82"/>
            </a:solidFill>
            <a:prstDash val="solid"/>
          </a:ln>
        </p:spPr>
      </p:sp>
      <p:sp>
        <p:nvSpPr>
          <p:cNvPr id="90" name="Shape 88"/>
          <p:cNvSpPr/>
          <p:nvPr/>
        </p:nvSpPr>
        <p:spPr>
          <a:xfrm>
            <a:off x="5120640" y="2902678"/>
            <a:ext cx="53035" cy="0"/>
          </a:xfrm>
          <a:prstGeom prst="line">
            <a:avLst/>
          </a:prstGeom>
          <a:noFill/>
          <a:ln w="34290">
            <a:solidFill>
              <a:srgbClr val="087F82"/>
            </a:solidFill>
            <a:prstDash val="solid"/>
          </a:ln>
        </p:spPr>
      </p:sp>
      <p:sp>
        <p:nvSpPr>
          <p:cNvPr id="91" name="Shape 89"/>
          <p:cNvSpPr/>
          <p:nvPr/>
        </p:nvSpPr>
        <p:spPr>
          <a:xfrm>
            <a:off x="5173675" y="2900851"/>
            <a:ext cx="53035" cy="0"/>
          </a:xfrm>
          <a:prstGeom prst="line">
            <a:avLst/>
          </a:prstGeom>
          <a:noFill/>
          <a:ln w="34290">
            <a:solidFill>
              <a:srgbClr val="087F82"/>
            </a:solidFill>
            <a:prstDash val="solid"/>
          </a:ln>
        </p:spPr>
      </p:sp>
      <p:sp>
        <p:nvSpPr>
          <p:cNvPr id="92" name="Shape 90"/>
          <p:cNvSpPr/>
          <p:nvPr/>
        </p:nvSpPr>
        <p:spPr>
          <a:xfrm>
            <a:off x="5226710" y="2899277"/>
            <a:ext cx="53035" cy="0"/>
          </a:xfrm>
          <a:prstGeom prst="line">
            <a:avLst/>
          </a:prstGeom>
          <a:noFill/>
          <a:ln w="34290">
            <a:solidFill>
              <a:srgbClr val="087F82"/>
            </a:solidFill>
            <a:prstDash val="solid"/>
          </a:ln>
        </p:spPr>
      </p:sp>
      <p:sp>
        <p:nvSpPr>
          <p:cNvPr id="93" name="Shape 91"/>
          <p:cNvSpPr/>
          <p:nvPr/>
        </p:nvSpPr>
        <p:spPr>
          <a:xfrm>
            <a:off x="5279746" y="2897920"/>
            <a:ext cx="53035" cy="0"/>
          </a:xfrm>
          <a:prstGeom prst="line">
            <a:avLst/>
          </a:prstGeom>
          <a:noFill/>
          <a:ln w="34290">
            <a:solidFill>
              <a:srgbClr val="087F82"/>
            </a:solidFill>
            <a:prstDash val="solid"/>
          </a:ln>
        </p:spPr>
      </p:sp>
      <p:sp>
        <p:nvSpPr>
          <p:cNvPr id="94" name="Shape 92"/>
          <p:cNvSpPr/>
          <p:nvPr/>
        </p:nvSpPr>
        <p:spPr>
          <a:xfrm>
            <a:off x="5332781" y="2896751"/>
            <a:ext cx="53035" cy="0"/>
          </a:xfrm>
          <a:prstGeom prst="line">
            <a:avLst/>
          </a:prstGeom>
          <a:noFill/>
          <a:ln w="34290">
            <a:solidFill>
              <a:srgbClr val="087F82"/>
            </a:solidFill>
            <a:prstDash val="solid"/>
          </a:ln>
        </p:spPr>
      </p:sp>
      <p:sp>
        <p:nvSpPr>
          <p:cNvPr id="95" name="Text 93"/>
          <p:cNvSpPr/>
          <p:nvPr/>
        </p:nvSpPr>
        <p:spPr>
          <a:xfrm>
            <a:off x="859536" y="2121408"/>
            <a:ext cx="4114800" cy="301752"/>
          </a:xfrm>
          <a:prstGeom prst="rect">
            <a:avLst/>
          </a:prstGeom>
          <a:noFill/>
          <a:ln/>
        </p:spPr>
        <p:txBody>
          <a:bodyPr wrap="square" lIns="0" tIns="0" rIns="0" bIns="0" rtlCol="0" anchor="ctr">
            <a:spAutoFit/>
          </a:bodyPr>
          <a:lstStyle/>
          <a:p>
            <a:pPr marL="0" indent="0">
              <a:buNone/>
            </a:pPr>
            <a:r>
              <a:rPr lang="en-US" sz="1700" b="1" dirty="0">
                <a:solidFill>
                  <a:srgbClr val="087F82"/>
                </a:solidFill>
                <a:latin typeface="Aptos" pitchFamily="34" charset="0"/>
                <a:ea typeface="Aptos" pitchFamily="34" charset="-122"/>
                <a:cs typeface="Aptos" pitchFamily="34" charset="-120"/>
              </a:rPr>
              <a:t>p(y = 1 | x)</a:t>
            </a:r>
            <a:endParaRPr lang="en-US" sz="1700" dirty="0"/>
          </a:p>
        </p:txBody>
      </p:sp>
      <p:sp>
        <p:nvSpPr>
          <p:cNvPr id="96" name="Text 94"/>
          <p:cNvSpPr/>
          <p:nvPr/>
        </p:nvSpPr>
        <p:spPr>
          <a:xfrm>
            <a:off x="740664" y="4005072"/>
            <a:ext cx="420624" cy="256032"/>
          </a:xfrm>
          <a:prstGeom prst="rect">
            <a:avLst/>
          </a:prstGeom>
          <a:noFill/>
          <a:ln/>
        </p:spPr>
        <p:txBody>
          <a:bodyPr wrap="square" lIns="0" tIns="0" rIns="0" bIns="0" rtlCol="0" anchor="ctr">
            <a:spAutoFit/>
          </a:bodyPr>
          <a:lstStyle/>
          <a:p>
            <a:pPr marL="0" indent="0">
              <a:buNone/>
            </a:pPr>
            <a:r>
              <a:rPr lang="en-US" sz="1300" dirty="0">
                <a:solidFill>
                  <a:srgbClr val="5E6E80"/>
                </a:solidFill>
                <a:latin typeface="Aptos" pitchFamily="34" charset="0"/>
                <a:ea typeface="Aptos" pitchFamily="34" charset="-122"/>
                <a:cs typeface="Aptos" pitchFamily="34" charset="-120"/>
              </a:rPr>
              <a:t>0.5</a:t>
            </a:r>
            <a:endParaRPr lang="en-US" sz="1300" dirty="0"/>
          </a:p>
        </p:txBody>
      </p:sp>
      <p:sp>
        <p:nvSpPr>
          <p:cNvPr id="97" name="Text 95"/>
          <p:cNvSpPr/>
          <p:nvPr/>
        </p:nvSpPr>
        <p:spPr>
          <a:xfrm>
            <a:off x="3172968" y="5513832"/>
            <a:ext cx="228600" cy="228600"/>
          </a:xfrm>
          <a:prstGeom prst="rect">
            <a:avLst/>
          </a:prstGeom>
          <a:noFill/>
          <a:ln/>
        </p:spPr>
        <p:txBody>
          <a:bodyPr wrap="square" lIns="0" tIns="0" rIns="0" bIns="0" rtlCol="0" anchor="ctr">
            <a:spAutoFit/>
          </a:bodyPr>
          <a:lstStyle/>
          <a:p>
            <a:pPr marL="0" indent="0">
              <a:buNone/>
            </a:pPr>
            <a:r>
              <a:rPr lang="en-US" sz="1300" dirty="0">
                <a:solidFill>
                  <a:srgbClr val="5E6E80"/>
                </a:solidFill>
                <a:latin typeface="Aptos" pitchFamily="34" charset="0"/>
                <a:ea typeface="Aptos" pitchFamily="34" charset="-122"/>
                <a:cs typeface="Aptos" pitchFamily="34" charset="-120"/>
              </a:rPr>
              <a:t>0</a:t>
            </a:r>
            <a:endParaRPr lang="en-US" sz="1300" dirty="0"/>
          </a:p>
        </p:txBody>
      </p:sp>
      <p:sp>
        <p:nvSpPr>
          <p:cNvPr id="98" name="Text 96"/>
          <p:cNvSpPr/>
          <p:nvPr/>
        </p:nvSpPr>
        <p:spPr>
          <a:xfrm>
            <a:off x="4178808" y="5495544"/>
            <a:ext cx="1197864" cy="237744"/>
          </a:xfrm>
          <a:prstGeom prst="rect">
            <a:avLst/>
          </a:prstGeom>
          <a:noFill/>
          <a:ln/>
        </p:spPr>
        <p:txBody>
          <a:bodyPr wrap="square" lIns="0" tIns="0" rIns="0" bIns="0" rtlCol="0" anchor="ctr">
            <a:spAutoFit/>
          </a:bodyPr>
          <a:lstStyle/>
          <a:p>
            <a:pPr marL="0" indent="0">
              <a:buNone/>
            </a:pPr>
            <a:r>
              <a:rPr lang="en-US" sz="1400" dirty="0">
                <a:solidFill>
                  <a:srgbClr val="5E6E80"/>
                </a:solidFill>
                <a:latin typeface="Aptos" pitchFamily="34" charset="0"/>
                <a:ea typeface="Aptos" pitchFamily="34" charset="-122"/>
                <a:cs typeface="Aptos" pitchFamily="34" charset="-120"/>
              </a:rPr>
              <a:t>Score z</a:t>
            </a:r>
            <a:endParaRPr lang="en-US" sz="1400" dirty="0"/>
          </a:p>
        </p:txBody>
      </p:sp>
      <p:pic>
        <p:nvPicPr>
          <p:cNvPr id="9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3680" y="2112264"/>
            <a:ext cx="2948940" cy="502920"/>
          </a:xfrm>
          <a:prstGeom prst="rect">
            <a:avLst/>
          </a:prstGeom>
        </p:spPr>
      </p:pic>
      <p:pic>
        <p:nvPicPr>
          <p:cNvPr id="10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83680" y="2990088"/>
            <a:ext cx="4102757" cy="667512"/>
          </a:xfrm>
          <a:prstGeom prst="rect">
            <a:avLst/>
          </a:prstGeom>
        </p:spPr>
      </p:pic>
      <p:sp>
        <p:nvSpPr>
          <p:cNvPr id="101" name="Text 97"/>
          <p:cNvSpPr/>
          <p:nvPr/>
        </p:nvSpPr>
        <p:spPr>
          <a:xfrm>
            <a:off x="6601968" y="4032504"/>
            <a:ext cx="4608576" cy="310896"/>
          </a:xfrm>
          <a:prstGeom prst="rect">
            <a:avLst/>
          </a:prstGeom>
          <a:noFill/>
          <a:ln/>
        </p:spPr>
        <p:txBody>
          <a:bodyPr wrap="square" lIns="0" tIns="0" rIns="0" bIns="0" rtlCol="0" anchor="ctr">
            <a:spAutoFit/>
          </a:bodyPr>
          <a:lstStyle/>
          <a:p>
            <a:pPr marL="0" indent="0">
              <a:buNone/>
            </a:pPr>
            <a:r>
              <a:rPr lang="en-US" sz="2000" dirty="0">
                <a:solidFill>
                  <a:srgbClr val="5E6E80"/>
                </a:solidFill>
                <a:latin typeface="Aptos" pitchFamily="34" charset="0"/>
                <a:ea typeface="Aptos" pitchFamily="34" charset="-122"/>
                <a:cs typeface="Aptos" pitchFamily="34" charset="-120"/>
              </a:rPr>
              <a:t>With the usual 0.5 threshold:</a:t>
            </a:r>
            <a:endParaRPr lang="en-US" sz="2000" dirty="0"/>
          </a:p>
        </p:txBody>
      </p:sp>
      <p:pic>
        <p:nvPicPr>
          <p:cNvPr id="10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83680" y="4715958"/>
            <a:ext cx="4626864" cy="416173"/>
          </a:xfrm>
          <a:prstGeom prst="rect">
            <a:avLst/>
          </a:prstGeom>
        </p:spPr>
      </p:pic>
      <p:sp>
        <p:nvSpPr>
          <p:cNvPr id="103" name="Text 98"/>
          <p:cNvSpPr/>
          <p:nvPr/>
        </p:nvSpPr>
        <p:spPr>
          <a:xfrm>
            <a:off x="6601968" y="5522976"/>
            <a:ext cx="4572000" cy="502920"/>
          </a:xfrm>
          <a:prstGeom prst="rect">
            <a:avLst/>
          </a:prstGeom>
          <a:noFill/>
          <a:ln/>
        </p:spPr>
        <p:txBody>
          <a:bodyPr wrap="square" lIns="0" tIns="0" rIns="0" bIns="0" rtlCol="0" anchor="ctr">
            <a:spAutoFit/>
          </a:bodyPr>
          <a:lstStyle/>
          <a:p>
            <a:pPr marL="0" indent="0">
              <a:buNone/>
            </a:pPr>
            <a:r>
              <a:rPr lang="en-US" sz="1800" b="1" dirty="0">
                <a:solidFill>
                  <a:srgbClr val="087F82"/>
                </a:solidFill>
                <a:latin typeface="Aptos" pitchFamily="34" charset="0"/>
                <a:ea typeface="Aptos" pitchFamily="34" charset="-122"/>
                <a:cs typeface="Aptos" pitchFamily="34" charset="-120"/>
              </a:rPr>
              <a:t>The sigmoid gives a probability;</a:t>
            </a:r>
            <a:endParaRPr lang="en-US" sz="1800" dirty="0"/>
          </a:p>
          <a:p>
            <a:pPr marL="0" indent="0">
              <a:buNone/>
            </a:pPr>
            <a:r>
              <a:rPr lang="en-US" sz="1800" b="1" dirty="0">
                <a:solidFill>
                  <a:srgbClr val="087F82"/>
                </a:solidFill>
                <a:latin typeface="Aptos" pitchFamily="34" charset="0"/>
                <a:ea typeface="Aptos" pitchFamily="34" charset="-122"/>
                <a:cs typeface="Aptos" pitchFamily="34" charset="-120"/>
              </a:rPr>
              <a:t>the threshold gives a label.</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14:30–16:45</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WORKED EXAMPLE 2</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XOR needs an interaction feature</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L3 · Firner L6 | Signed-coordinate XOR: x₁, x₂ ∈ {−1, +1}</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12 / 15</a:t>
            </a:r>
            <a:endParaRPr lang="en-US" sz="1050" dirty="0"/>
          </a:p>
        </p:txBody>
      </p:sp>
      <p:sp>
        <p:nvSpPr>
          <p:cNvPr id="10" name="Shape 8"/>
          <p:cNvSpPr/>
          <p:nvPr/>
        </p:nvSpPr>
        <p:spPr>
          <a:xfrm>
            <a:off x="594360" y="1856232"/>
            <a:ext cx="4626864" cy="4325112"/>
          </a:xfrm>
          <a:prstGeom prst="rect">
            <a:avLst/>
          </a:prstGeom>
          <a:solidFill>
            <a:srgbClr val="FFFFFF"/>
          </a:solidFill>
          <a:ln w="6350">
            <a:solidFill>
              <a:srgbClr val="FFFFFF"/>
            </a:solidFill>
            <a:prstDash val="solid"/>
          </a:ln>
        </p:spPr>
      </p:sp>
      <p:sp>
        <p:nvSpPr>
          <p:cNvPr id="11" name="Shape 9"/>
          <p:cNvSpPr/>
          <p:nvPr/>
        </p:nvSpPr>
        <p:spPr>
          <a:xfrm>
            <a:off x="1024128" y="3922776"/>
            <a:ext cx="3639312" cy="0"/>
          </a:xfrm>
          <a:prstGeom prst="line">
            <a:avLst/>
          </a:prstGeom>
          <a:noFill/>
          <a:ln w="15240">
            <a:solidFill>
              <a:srgbClr val="5E6E80"/>
            </a:solidFill>
            <a:prstDash val="solid"/>
          </a:ln>
        </p:spPr>
      </p:sp>
      <p:sp>
        <p:nvSpPr>
          <p:cNvPr id="12" name="Shape 10"/>
          <p:cNvSpPr/>
          <p:nvPr/>
        </p:nvSpPr>
        <p:spPr>
          <a:xfrm>
            <a:off x="2871216" y="2304288"/>
            <a:ext cx="0" cy="3291840"/>
          </a:xfrm>
          <a:prstGeom prst="line">
            <a:avLst/>
          </a:prstGeom>
          <a:noFill/>
          <a:ln w="15240">
            <a:solidFill>
              <a:srgbClr val="5E6E80"/>
            </a:solidFill>
            <a:prstDash val="solid"/>
          </a:ln>
        </p:spPr>
      </p:sp>
      <p:sp>
        <p:nvSpPr>
          <p:cNvPr id="13" name="Text 11"/>
          <p:cNvSpPr/>
          <p:nvPr/>
        </p:nvSpPr>
        <p:spPr>
          <a:xfrm>
            <a:off x="4535424" y="4014216"/>
            <a:ext cx="365760" cy="265176"/>
          </a:xfrm>
          <a:prstGeom prst="rect">
            <a:avLst/>
          </a:prstGeom>
          <a:noFill/>
          <a:ln/>
        </p:spPr>
        <p:txBody>
          <a:bodyPr wrap="square" lIns="0" tIns="0" rIns="0" bIns="0" rtlCol="0" anchor="ctr">
            <a:spAutoFit/>
          </a:bodyPr>
          <a:lstStyle/>
          <a:p>
            <a:pPr marL="0" indent="0">
              <a:buNone/>
            </a:pPr>
            <a:r>
              <a:rPr lang="en-US" sz="1600" dirty="0">
                <a:solidFill>
                  <a:srgbClr val="5E6E80"/>
                </a:solidFill>
                <a:latin typeface="Aptos" pitchFamily="34" charset="0"/>
                <a:ea typeface="Aptos" pitchFamily="34" charset="-122"/>
                <a:cs typeface="Aptos" pitchFamily="34" charset="-120"/>
              </a:rPr>
              <a:t>x₁</a:t>
            </a:r>
            <a:endParaRPr lang="en-US" sz="1600" dirty="0"/>
          </a:p>
        </p:txBody>
      </p:sp>
      <p:sp>
        <p:nvSpPr>
          <p:cNvPr id="14" name="Text 12"/>
          <p:cNvSpPr/>
          <p:nvPr/>
        </p:nvSpPr>
        <p:spPr>
          <a:xfrm>
            <a:off x="2953512" y="2221992"/>
            <a:ext cx="365760" cy="265176"/>
          </a:xfrm>
          <a:prstGeom prst="rect">
            <a:avLst/>
          </a:prstGeom>
          <a:noFill/>
          <a:ln/>
        </p:spPr>
        <p:txBody>
          <a:bodyPr wrap="square" lIns="0" tIns="0" rIns="0" bIns="0" rtlCol="0" anchor="ctr">
            <a:spAutoFit/>
          </a:bodyPr>
          <a:lstStyle/>
          <a:p>
            <a:pPr marL="0" indent="0">
              <a:buNone/>
            </a:pPr>
            <a:r>
              <a:rPr lang="en-US" sz="1600" dirty="0">
                <a:solidFill>
                  <a:srgbClr val="5E6E80"/>
                </a:solidFill>
                <a:latin typeface="Aptos" pitchFamily="34" charset="0"/>
                <a:ea typeface="Aptos" pitchFamily="34" charset="-122"/>
                <a:cs typeface="Aptos" pitchFamily="34" charset="-120"/>
              </a:rPr>
              <a:t>x₂</a:t>
            </a:r>
            <a:endParaRPr lang="en-US" sz="1600" dirty="0"/>
          </a:p>
        </p:txBody>
      </p:sp>
      <p:sp>
        <p:nvSpPr>
          <p:cNvPr id="15" name="Shape 13"/>
          <p:cNvSpPr/>
          <p:nvPr/>
        </p:nvSpPr>
        <p:spPr>
          <a:xfrm>
            <a:off x="1664208" y="4873752"/>
            <a:ext cx="256032" cy="256032"/>
          </a:xfrm>
          <a:prstGeom prst="rect">
            <a:avLst/>
          </a:prstGeom>
          <a:solidFill>
            <a:srgbClr val="AF651D"/>
          </a:solidFill>
          <a:ln w="12700">
            <a:solidFill>
              <a:srgbClr val="AF651D"/>
            </a:solidFill>
            <a:prstDash val="solid"/>
          </a:ln>
        </p:spPr>
      </p:sp>
      <p:sp>
        <p:nvSpPr>
          <p:cNvPr id="16" name="Text 14"/>
          <p:cNvSpPr/>
          <p:nvPr/>
        </p:nvSpPr>
        <p:spPr>
          <a:xfrm>
            <a:off x="1298448" y="5266944"/>
            <a:ext cx="1005840" cy="237744"/>
          </a:xfrm>
          <a:prstGeom prst="rect">
            <a:avLst/>
          </a:prstGeom>
          <a:noFill/>
          <a:ln/>
        </p:spPr>
        <p:txBody>
          <a:bodyPr wrap="square" lIns="0" tIns="0" rIns="0" bIns="0" rtlCol="0" anchor="ctr">
            <a:spAutoFit/>
          </a:bodyPr>
          <a:lstStyle/>
          <a:p>
            <a:pPr marL="0" indent="0" algn="ctr">
              <a:buNone/>
            </a:pPr>
            <a:r>
              <a:rPr lang="en-US" sz="1300" dirty="0">
                <a:solidFill>
                  <a:srgbClr val="5E6E80"/>
                </a:solidFill>
                <a:latin typeface="Aptos" pitchFamily="34" charset="0"/>
                <a:ea typeface="Aptos" pitchFamily="34" charset="-122"/>
                <a:cs typeface="Aptos" pitchFamily="34" charset="-120"/>
              </a:rPr>
              <a:t>(-1, -1)</a:t>
            </a:r>
            <a:endParaRPr lang="en-US" sz="1300" dirty="0"/>
          </a:p>
        </p:txBody>
      </p:sp>
      <p:sp>
        <p:nvSpPr>
          <p:cNvPr id="17" name="Shape 15"/>
          <p:cNvSpPr/>
          <p:nvPr/>
        </p:nvSpPr>
        <p:spPr>
          <a:xfrm>
            <a:off x="1664208" y="2715768"/>
            <a:ext cx="256032" cy="256032"/>
          </a:xfrm>
          <a:prstGeom prst="ellipse">
            <a:avLst/>
          </a:prstGeom>
          <a:solidFill>
            <a:srgbClr val="087F82"/>
          </a:solidFill>
          <a:ln w="12700">
            <a:solidFill>
              <a:srgbClr val="087F82"/>
            </a:solidFill>
            <a:prstDash val="solid"/>
          </a:ln>
        </p:spPr>
      </p:sp>
      <p:sp>
        <p:nvSpPr>
          <p:cNvPr id="18" name="Text 16"/>
          <p:cNvSpPr/>
          <p:nvPr/>
        </p:nvSpPr>
        <p:spPr>
          <a:xfrm>
            <a:off x="1298448" y="3108960"/>
            <a:ext cx="1005840" cy="237744"/>
          </a:xfrm>
          <a:prstGeom prst="rect">
            <a:avLst/>
          </a:prstGeom>
          <a:noFill/>
          <a:ln/>
        </p:spPr>
        <p:txBody>
          <a:bodyPr wrap="square" lIns="0" tIns="0" rIns="0" bIns="0" rtlCol="0" anchor="ctr">
            <a:spAutoFit/>
          </a:bodyPr>
          <a:lstStyle/>
          <a:p>
            <a:pPr marL="0" indent="0" algn="ctr">
              <a:buNone/>
            </a:pPr>
            <a:r>
              <a:rPr lang="en-US" sz="1300" dirty="0">
                <a:solidFill>
                  <a:srgbClr val="5E6E80"/>
                </a:solidFill>
                <a:latin typeface="Aptos" pitchFamily="34" charset="0"/>
                <a:ea typeface="Aptos" pitchFamily="34" charset="-122"/>
                <a:cs typeface="Aptos" pitchFamily="34" charset="-120"/>
              </a:rPr>
              <a:t>(-1, 1)</a:t>
            </a:r>
            <a:endParaRPr lang="en-US" sz="1300" dirty="0"/>
          </a:p>
        </p:txBody>
      </p:sp>
      <p:sp>
        <p:nvSpPr>
          <p:cNvPr id="19" name="Shape 17"/>
          <p:cNvSpPr/>
          <p:nvPr/>
        </p:nvSpPr>
        <p:spPr>
          <a:xfrm>
            <a:off x="3822192" y="4873752"/>
            <a:ext cx="256032" cy="256032"/>
          </a:xfrm>
          <a:prstGeom prst="ellipse">
            <a:avLst/>
          </a:prstGeom>
          <a:solidFill>
            <a:srgbClr val="087F82"/>
          </a:solidFill>
          <a:ln w="12700">
            <a:solidFill>
              <a:srgbClr val="087F82"/>
            </a:solidFill>
            <a:prstDash val="solid"/>
          </a:ln>
        </p:spPr>
      </p:sp>
      <p:sp>
        <p:nvSpPr>
          <p:cNvPr id="20" name="Text 18"/>
          <p:cNvSpPr/>
          <p:nvPr/>
        </p:nvSpPr>
        <p:spPr>
          <a:xfrm>
            <a:off x="3456432" y="5266944"/>
            <a:ext cx="1005840" cy="237744"/>
          </a:xfrm>
          <a:prstGeom prst="rect">
            <a:avLst/>
          </a:prstGeom>
          <a:noFill/>
          <a:ln/>
        </p:spPr>
        <p:txBody>
          <a:bodyPr wrap="square" lIns="0" tIns="0" rIns="0" bIns="0" rtlCol="0" anchor="ctr">
            <a:spAutoFit/>
          </a:bodyPr>
          <a:lstStyle/>
          <a:p>
            <a:pPr marL="0" indent="0" algn="ctr">
              <a:buNone/>
            </a:pPr>
            <a:r>
              <a:rPr lang="en-US" sz="1300" dirty="0">
                <a:solidFill>
                  <a:srgbClr val="5E6E80"/>
                </a:solidFill>
                <a:latin typeface="Aptos" pitchFamily="34" charset="0"/>
                <a:ea typeface="Aptos" pitchFamily="34" charset="-122"/>
                <a:cs typeface="Aptos" pitchFamily="34" charset="-120"/>
              </a:rPr>
              <a:t>(1, -1)</a:t>
            </a:r>
            <a:endParaRPr lang="en-US" sz="1300" dirty="0"/>
          </a:p>
        </p:txBody>
      </p:sp>
      <p:sp>
        <p:nvSpPr>
          <p:cNvPr id="21" name="Shape 19"/>
          <p:cNvSpPr/>
          <p:nvPr/>
        </p:nvSpPr>
        <p:spPr>
          <a:xfrm>
            <a:off x="3822192" y="2715768"/>
            <a:ext cx="256032" cy="256032"/>
          </a:xfrm>
          <a:prstGeom prst="rect">
            <a:avLst/>
          </a:prstGeom>
          <a:solidFill>
            <a:srgbClr val="AF651D"/>
          </a:solidFill>
          <a:ln w="12700">
            <a:solidFill>
              <a:srgbClr val="AF651D"/>
            </a:solidFill>
            <a:prstDash val="solid"/>
          </a:ln>
        </p:spPr>
      </p:sp>
      <p:sp>
        <p:nvSpPr>
          <p:cNvPr id="22" name="Text 20"/>
          <p:cNvSpPr/>
          <p:nvPr/>
        </p:nvSpPr>
        <p:spPr>
          <a:xfrm>
            <a:off x="3456432" y="3108960"/>
            <a:ext cx="1005840" cy="237744"/>
          </a:xfrm>
          <a:prstGeom prst="rect">
            <a:avLst/>
          </a:prstGeom>
          <a:noFill/>
          <a:ln/>
        </p:spPr>
        <p:txBody>
          <a:bodyPr wrap="square" lIns="0" tIns="0" rIns="0" bIns="0" rtlCol="0" anchor="ctr">
            <a:spAutoFit/>
          </a:bodyPr>
          <a:lstStyle/>
          <a:p>
            <a:pPr marL="0" indent="0" algn="ctr">
              <a:buNone/>
            </a:pPr>
            <a:r>
              <a:rPr lang="en-US" sz="1300" dirty="0">
                <a:solidFill>
                  <a:srgbClr val="5E6E80"/>
                </a:solidFill>
                <a:latin typeface="Aptos" pitchFamily="34" charset="0"/>
                <a:ea typeface="Aptos" pitchFamily="34" charset="-122"/>
                <a:cs typeface="Aptos" pitchFamily="34" charset="-120"/>
              </a:rPr>
              <a:t>(1, 1)</a:t>
            </a:r>
            <a:endParaRPr lang="en-US" sz="1300" dirty="0"/>
          </a:p>
        </p:txBody>
      </p:sp>
      <p:sp>
        <p:nvSpPr>
          <p:cNvPr id="23" name="Shape 21"/>
          <p:cNvSpPr/>
          <p:nvPr/>
        </p:nvSpPr>
        <p:spPr>
          <a:xfrm>
            <a:off x="960120" y="5788152"/>
            <a:ext cx="1545336" cy="292608"/>
          </a:xfrm>
          <a:prstGeom prst="rect">
            <a:avLst/>
          </a:prstGeom>
          <a:solidFill>
            <a:srgbClr val="FFF2DF"/>
          </a:solidFill>
          <a:ln w="6350">
            <a:solidFill>
              <a:srgbClr val="FFF2DF"/>
            </a:solidFill>
            <a:prstDash val="solid"/>
          </a:ln>
        </p:spPr>
      </p:sp>
      <p:sp>
        <p:nvSpPr>
          <p:cNvPr id="24" name="Text 22"/>
          <p:cNvSpPr/>
          <p:nvPr/>
        </p:nvSpPr>
        <p:spPr>
          <a:xfrm>
            <a:off x="1033272" y="5801868"/>
            <a:ext cx="1399032" cy="256032"/>
          </a:xfrm>
          <a:prstGeom prst="rect">
            <a:avLst/>
          </a:prstGeom>
          <a:noFill/>
          <a:ln/>
        </p:spPr>
        <p:txBody>
          <a:bodyPr wrap="square" lIns="0" tIns="0" rIns="0" bIns="0" rtlCol="0" anchor="ctr">
            <a:spAutoFit/>
          </a:bodyPr>
          <a:lstStyle/>
          <a:p>
            <a:pPr marL="0" indent="0">
              <a:buNone/>
            </a:pPr>
            <a:r>
              <a:rPr lang="en-US" sz="1150" b="1" dirty="0">
                <a:solidFill>
                  <a:srgbClr val="AF651D"/>
                </a:solidFill>
                <a:latin typeface="Aptos" pitchFamily="34" charset="0"/>
                <a:ea typeface="Aptos" pitchFamily="34" charset="-122"/>
                <a:cs typeface="Aptos" pitchFamily="34" charset="-120"/>
              </a:rPr>
              <a:t>■  class 0</a:t>
            </a:r>
            <a:endParaRPr lang="en-US" sz="1150" dirty="0"/>
          </a:p>
        </p:txBody>
      </p:sp>
      <p:sp>
        <p:nvSpPr>
          <p:cNvPr id="25" name="Shape 23"/>
          <p:cNvSpPr/>
          <p:nvPr/>
        </p:nvSpPr>
        <p:spPr>
          <a:xfrm>
            <a:off x="2971800" y="5788152"/>
            <a:ext cx="1545336" cy="292608"/>
          </a:xfrm>
          <a:prstGeom prst="rect">
            <a:avLst/>
          </a:prstGeom>
          <a:solidFill>
            <a:srgbClr val="E7F4F2"/>
          </a:solidFill>
          <a:ln w="6350">
            <a:solidFill>
              <a:srgbClr val="E7F4F2"/>
            </a:solidFill>
            <a:prstDash val="solid"/>
          </a:ln>
        </p:spPr>
      </p:sp>
      <p:sp>
        <p:nvSpPr>
          <p:cNvPr id="26" name="Text 24"/>
          <p:cNvSpPr/>
          <p:nvPr/>
        </p:nvSpPr>
        <p:spPr>
          <a:xfrm>
            <a:off x="3044952" y="5801868"/>
            <a:ext cx="1399032" cy="256032"/>
          </a:xfrm>
          <a:prstGeom prst="rect">
            <a:avLst/>
          </a:prstGeom>
          <a:noFill/>
          <a:ln/>
        </p:spPr>
        <p:txBody>
          <a:bodyPr wrap="square" lIns="0" tIns="0" rIns="0" bIns="0" rtlCol="0" anchor="ctr">
            <a:spAutoFit/>
          </a:bodyPr>
          <a:lstStyle/>
          <a:p>
            <a:pPr marL="0" indent="0">
              <a:buNone/>
            </a:pPr>
            <a:r>
              <a:rPr lang="en-US" sz="1150" b="1" dirty="0">
                <a:solidFill>
                  <a:srgbClr val="087F82"/>
                </a:solidFill>
                <a:latin typeface="Aptos" pitchFamily="34" charset="0"/>
                <a:ea typeface="Aptos" pitchFamily="34" charset="-122"/>
                <a:cs typeface="Aptos" pitchFamily="34" charset="-120"/>
              </a:rPr>
              <a:t>●  class 1</a:t>
            </a:r>
            <a:endParaRPr lang="en-US" sz="1150" dirty="0"/>
          </a:p>
        </p:txBody>
      </p:sp>
      <p:sp>
        <p:nvSpPr>
          <p:cNvPr id="27" name="Shape 25"/>
          <p:cNvSpPr/>
          <p:nvPr/>
        </p:nvSpPr>
        <p:spPr>
          <a:xfrm>
            <a:off x="5632704" y="1874520"/>
            <a:ext cx="1399032" cy="393192"/>
          </a:xfrm>
          <a:prstGeom prst="rect">
            <a:avLst/>
          </a:prstGeom>
          <a:solidFill>
            <a:srgbClr val="EBF1F9"/>
          </a:solidFill>
          <a:ln w="6350">
            <a:solidFill>
              <a:srgbClr val="EBF1F9"/>
            </a:solidFill>
            <a:prstDash val="solid"/>
          </a:ln>
        </p:spPr>
      </p:sp>
      <p:sp>
        <p:nvSpPr>
          <p:cNvPr id="28" name="Text 26"/>
          <p:cNvSpPr/>
          <p:nvPr/>
        </p:nvSpPr>
        <p:spPr>
          <a:xfrm>
            <a:off x="5760720" y="1929384"/>
            <a:ext cx="1143000" cy="283464"/>
          </a:xfrm>
          <a:prstGeom prst="rect">
            <a:avLst/>
          </a:prstGeom>
          <a:noFill/>
          <a:ln/>
        </p:spPr>
        <p:txBody>
          <a:bodyPr wrap="square" lIns="0" tIns="0" rIns="0" bIns="0" rtlCol="0" anchor="ctr">
            <a:spAutoFit/>
          </a:bodyPr>
          <a:lstStyle/>
          <a:p>
            <a:pPr marL="0" indent="0" algn="ctr">
              <a:buNone/>
            </a:pPr>
            <a:r>
              <a:rPr lang="en-US" sz="1700" b="1" dirty="0">
                <a:solidFill>
                  <a:srgbClr val="14263D"/>
                </a:solidFill>
                <a:latin typeface="Aptos" pitchFamily="34" charset="0"/>
                <a:ea typeface="Aptos" pitchFamily="34" charset="-122"/>
                <a:cs typeface="Aptos" pitchFamily="34" charset="-120"/>
              </a:rPr>
              <a:t>x₁</a:t>
            </a:r>
            <a:endParaRPr lang="en-US" sz="1700" dirty="0"/>
          </a:p>
        </p:txBody>
      </p:sp>
      <p:sp>
        <p:nvSpPr>
          <p:cNvPr id="29" name="Shape 27"/>
          <p:cNvSpPr/>
          <p:nvPr/>
        </p:nvSpPr>
        <p:spPr>
          <a:xfrm>
            <a:off x="7050024" y="1874520"/>
            <a:ext cx="1399032" cy="393192"/>
          </a:xfrm>
          <a:prstGeom prst="rect">
            <a:avLst/>
          </a:prstGeom>
          <a:solidFill>
            <a:srgbClr val="EBF1F9"/>
          </a:solidFill>
          <a:ln w="6350">
            <a:solidFill>
              <a:srgbClr val="EBF1F9"/>
            </a:solidFill>
            <a:prstDash val="solid"/>
          </a:ln>
        </p:spPr>
      </p:sp>
      <p:sp>
        <p:nvSpPr>
          <p:cNvPr id="30" name="Text 28"/>
          <p:cNvSpPr/>
          <p:nvPr/>
        </p:nvSpPr>
        <p:spPr>
          <a:xfrm>
            <a:off x="7178040" y="1929384"/>
            <a:ext cx="1143000" cy="283464"/>
          </a:xfrm>
          <a:prstGeom prst="rect">
            <a:avLst/>
          </a:prstGeom>
          <a:noFill/>
          <a:ln/>
        </p:spPr>
        <p:txBody>
          <a:bodyPr wrap="square" lIns="0" tIns="0" rIns="0" bIns="0" rtlCol="0" anchor="ctr">
            <a:spAutoFit/>
          </a:bodyPr>
          <a:lstStyle/>
          <a:p>
            <a:pPr marL="0" indent="0" algn="ctr">
              <a:buNone/>
            </a:pPr>
            <a:r>
              <a:rPr lang="en-US" sz="1700" b="1" dirty="0">
                <a:solidFill>
                  <a:srgbClr val="14263D"/>
                </a:solidFill>
                <a:latin typeface="Aptos" pitchFamily="34" charset="0"/>
                <a:ea typeface="Aptos" pitchFamily="34" charset="-122"/>
                <a:cs typeface="Aptos" pitchFamily="34" charset="-120"/>
              </a:rPr>
              <a:t>x₂</a:t>
            </a:r>
            <a:endParaRPr lang="en-US" sz="1700" dirty="0"/>
          </a:p>
        </p:txBody>
      </p:sp>
      <p:sp>
        <p:nvSpPr>
          <p:cNvPr id="31" name="Shape 29"/>
          <p:cNvSpPr/>
          <p:nvPr/>
        </p:nvSpPr>
        <p:spPr>
          <a:xfrm>
            <a:off x="8467344" y="1874520"/>
            <a:ext cx="1709928" cy="393192"/>
          </a:xfrm>
          <a:prstGeom prst="rect">
            <a:avLst/>
          </a:prstGeom>
          <a:solidFill>
            <a:srgbClr val="EBF1F9"/>
          </a:solidFill>
          <a:ln w="6350">
            <a:solidFill>
              <a:srgbClr val="EBF1F9"/>
            </a:solidFill>
            <a:prstDash val="solid"/>
          </a:ln>
        </p:spPr>
      </p:sp>
      <p:sp>
        <p:nvSpPr>
          <p:cNvPr id="32" name="Text 30"/>
          <p:cNvSpPr/>
          <p:nvPr/>
        </p:nvSpPr>
        <p:spPr>
          <a:xfrm>
            <a:off x="8595360" y="1929384"/>
            <a:ext cx="1453896" cy="283464"/>
          </a:xfrm>
          <a:prstGeom prst="rect">
            <a:avLst/>
          </a:prstGeom>
          <a:noFill/>
          <a:ln/>
        </p:spPr>
        <p:txBody>
          <a:bodyPr wrap="square" lIns="0" tIns="0" rIns="0" bIns="0" rtlCol="0" anchor="ctr">
            <a:spAutoFit/>
          </a:bodyPr>
          <a:lstStyle/>
          <a:p>
            <a:pPr marL="0" indent="0" algn="ctr">
              <a:buNone/>
            </a:pPr>
            <a:r>
              <a:rPr lang="en-US" sz="1700" b="1" dirty="0">
                <a:solidFill>
                  <a:srgbClr val="14263D"/>
                </a:solidFill>
                <a:latin typeface="Aptos" pitchFamily="34" charset="0"/>
                <a:ea typeface="Aptos" pitchFamily="34" charset="-122"/>
                <a:cs typeface="Aptos" pitchFamily="34" charset="-120"/>
              </a:rPr>
              <a:t>x₁x₂</a:t>
            </a:r>
            <a:endParaRPr lang="en-US" sz="1700" dirty="0"/>
          </a:p>
        </p:txBody>
      </p:sp>
      <p:sp>
        <p:nvSpPr>
          <p:cNvPr id="33" name="Shape 31"/>
          <p:cNvSpPr/>
          <p:nvPr/>
        </p:nvSpPr>
        <p:spPr>
          <a:xfrm>
            <a:off x="10195560" y="1874520"/>
            <a:ext cx="1408176" cy="393192"/>
          </a:xfrm>
          <a:prstGeom prst="rect">
            <a:avLst/>
          </a:prstGeom>
          <a:solidFill>
            <a:srgbClr val="EBF1F9"/>
          </a:solidFill>
          <a:ln w="6350">
            <a:solidFill>
              <a:srgbClr val="EBF1F9"/>
            </a:solidFill>
            <a:prstDash val="solid"/>
          </a:ln>
        </p:spPr>
      </p:sp>
      <p:sp>
        <p:nvSpPr>
          <p:cNvPr id="34" name="Text 32"/>
          <p:cNvSpPr/>
          <p:nvPr/>
        </p:nvSpPr>
        <p:spPr>
          <a:xfrm>
            <a:off x="10323576" y="1929384"/>
            <a:ext cx="1152144" cy="283464"/>
          </a:xfrm>
          <a:prstGeom prst="rect">
            <a:avLst/>
          </a:prstGeom>
          <a:noFill/>
          <a:ln/>
        </p:spPr>
        <p:txBody>
          <a:bodyPr wrap="square" lIns="0" tIns="0" rIns="0" bIns="0" rtlCol="0" anchor="ctr">
            <a:spAutoFit/>
          </a:bodyPr>
          <a:lstStyle/>
          <a:p>
            <a:pPr marL="0" indent="0" algn="ctr">
              <a:buNone/>
            </a:pPr>
            <a:r>
              <a:rPr lang="en-US" sz="1700" b="1" dirty="0">
                <a:solidFill>
                  <a:srgbClr val="14263D"/>
                </a:solidFill>
                <a:latin typeface="Aptos" pitchFamily="34" charset="0"/>
                <a:ea typeface="Aptos" pitchFamily="34" charset="-122"/>
                <a:cs typeface="Aptos" pitchFamily="34" charset="-120"/>
              </a:rPr>
              <a:t>Class</a:t>
            </a:r>
            <a:endParaRPr lang="en-US" sz="1700" dirty="0"/>
          </a:p>
        </p:txBody>
      </p:sp>
      <p:sp>
        <p:nvSpPr>
          <p:cNvPr id="35" name="Shape 33"/>
          <p:cNvSpPr/>
          <p:nvPr/>
        </p:nvSpPr>
        <p:spPr>
          <a:xfrm>
            <a:off x="5632704" y="2286000"/>
            <a:ext cx="1399032" cy="393192"/>
          </a:xfrm>
          <a:prstGeom prst="rect">
            <a:avLst/>
          </a:prstGeom>
          <a:solidFill>
            <a:srgbClr val="FFFFFF"/>
          </a:solidFill>
          <a:ln w="6350">
            <a:solidFill>
              <a:srgbClr val="FFFFFF"/>
            </a:solidFill>
            <a:prstDash val="solid"/>
          </a:ln>
        </p:spPr>
      </p:sp>
      <p:sp>
        <p:nvSpPr>
          <p:cNvPr id="36" name="Text 34"/>
          <p:cNvSpPr/>
          <p:nvPr/>
        </p:nvSpPr>
        <p:spPr>
          <a:xfrm>
            <a:off x="5760720" y="2340864"/>
            <a:ext cx="1143000"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37" name="Shape 35"/>
          <p:cNvSpPr/>
          <p:nvPr/>
        </p:nvSpPr>
        <p:spPr>
          <a:xfrm>
            <a:off x="7050024" y="2286000"/>
            <a:ext cx="1399032" cy="393192"/>
          </a:xfrm>
          <a:prstGeom prst="rect">
            <a:avLst/>
          </a:prstGeom>
          <a:solidFill>
            <a:srgbClr val="FFFFFF"/>
          </a:solidFill>
          <a:ln w="6350">
            <a:solidFill>
              <a:srgbClr val="FFFFFF"/>
            </a:solidFill>
            <a:prstDash val="solid"/>
          </a:ln>
        </p:spPr>
      </p:sp>
      <p:sp>
        <p:nvSpPr>
          <p:cNvPr id="38" name="Text 36"/>
          <p:cNvSpPr/>
          <p:nvPr/>
        </p:nvSpPr>
        <p:spPr>
          <a:xfrm>
            <a:off x="7178040" y="2340864"/>
            <a:ext cx="1143000"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39" name="Shape 37"/>
          <p:cNvSpPr/>
          <p:nvPr/>
        </p:nvSpPr>
        <p:spPr>
          <a:xfrm>
            <a:off x="8467344" y="2286000"/>
            <a:ext cx="1709928" cy="393192"/>
          </a:xfrm>
          <a:prstGeom prst="rect">
            <a:avLst/>
          </a:prstGeom>
          <a:solidFill>
            <a:srgbClr val="E7F4F2"/>
          </a:solidFill>
          <a:ln w="6350">
            <a:solidFill>
              <a:srgbClr val="E7F4F2"/>
            </a:solidFill>
            <a:prstDash val="solid"/>
          </a:ln>
        </p:spPr>
      </p:sp>
      <p:sp>
        <p:nvSpPr>
          <p:cNvPr id="40" name="Text 38"/>
          <p:cNvSpPr/>
          <p:nvPr/>
        </p:nvSpPr>
        <p:spPr>
          <a:xfrm>
            <a:off x="8595360" y="2340864"/>
            <a:ext cx="1453896" cy="283464"/>
          </a:xfrm>
          <a:prstGeom prst="rect">
            <a:avLst/>
          </a:prstGeom>
          <a:noFill/>
          <a:ln/>
        </p:spPr>
        <p:txBody>
          <a:bodyPr wrap="square" lIns="0" tIns="0" rIns="0" bIns="0" rtlCol="0" anchor="ctr">
            <a:spAutoFit/>
          </a:bodyPr>
          <a:lstStyle/>
          <a:p>
            <a:pPr marL="0" indent="0" algn="ctr">
              <a:buNone/>
            </a:pPr>
            <a:r>
              <a:rPr lang="en-US" sz="1700" b="1" dirty="0">
                <a:solidFill>
                  <a:srgbClr val="14263D"/>
                </a:solidFill>
                <a:latin typeface="Aptos" pitchFamily="34" charset="0"/>
                <a:ea typeface="Aptos" pitchFamily="34" charset="-122"/>
                <a:cs typeface="Aptos" pitchFamily="34" charset="-120"/>
              </a:rPr>
              <a:t>+1</a:t>
            </a:r>
            <a:endParaRPr lang="en-US" sz="1700" dirty="0"/>
          </a:p>
        </p:txBody>
      </p:sp>
      <p:sp>
        <p:nvSpPr>
          <p:cNvPr id="41" name="Shape 39"/>
          <p:cNvSpPr/>
          <p:nvPr/>
        </p:nvSpPr>
        <p:spPr>
          <a:xfrm>
            <a:off x="10195560" y="2286000"/>
            <a:ext cx="1408176" cy="393192"/>
          </a:xfrm>
          <a:prstGeom prst="rect">
            <a:avLst/>
          </a:prstGeom>
          <a:solidFill>
            <a:srgbClr val="FFFFFF"/>
          </a:solidFill>
          <a:ln w="6350">
            <a:solidFill>
              <a:srgbClr val="FFFFFF"/>
            </a:solidFill>
            <a:prstDash val="solid"/>
          </a:ln>
        </p:spPr>
      </p:sp>
      <p:sp>
        <p:nvSpPr>
          <p:cNvPr id="42" name="Text 40"/>
          <p:cNvSpPr/>
          <p:nvPr/>
        </p:nvSpPr>
        <p:spPr>
          <a:xfrm>
            <a:off x="10323576" y="2340864"/>
            <a:ext cx="1152144"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0</a:t>
            </a:r>
            <a:endParaRPr lang="en-US" sz="1700" dirty="0"/>
          </a:p>
        </p:txBody>
      </p:sp>
      <p:sp>
        <p:nvSpPr>
          <p:cNvPr id="43" name="Shape 41"/>
          <p:cNvSpPr/>
          <p:nvPr/>
        </p:nvSpPr>
        <p:spPr>
          <a:xfrm>
            <a:off x="5632704" y="2697480"/>
            <a:ext cx="1399032" cy="393192"/>
          </a:xfrm>
          <a:prstGeom prst="rect">
            <a:avLst/>
          </a:prstGeom>
          <a:solidFill>
            <a:srgbClr val="FFFFFF"/>
          </a:solidFill>
          <a:ln w="6350">
            <a:solidFill>
              <a:srgbClr val="FFFFFF"/>
            </a:solidFill>
            <a:prstDash val="solid"/>
          </a:ln>
        </p:spPr>
      </p:sp>
      <p:sp>
        <p:nvSpPr>
          <p:cNvPr id="44" name="Text 42"/>
          <p:cNvSpPr/>
          <p:nvPr/>
        </p:nvSpPr>
        <p:spPr>
          <a:xfrm>
            <a:off x="5760720" y="2752344"/>
            <a:ext cx="1143000"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45" name="Shape 43"/>
          <p:cNvSpPr/>
          <p:nvPr/>
        </p:nvSpPr>
        <p:spPr>
          <a:xfrm>
            <a:off x="7050024" y="2697480"/>
            <a:ext cx="1399032" cy="393192"/>
          </a:xfrm>
          <a:prstGeom prst="rect">
            <a:avLst/>
          </a:prstGeom>
          <a:solidFill>
            <a:srgbClr val="FFFFFF"/>
          </a:solidFill>
          <a:ln w="6350">
            <a:solidFill>
              <a:srgbClr val="FFFFFF"/>
            </a:solidFill>
            <a:prstDash val="solid"/>
          </a:ln>
        </p:spPr>
      </p:sp>
      <p:sp>
        <p:nvSpPr>
          <p:cNvPr id="46" name="Text 44"/>
          <p:cNvSpPr/>
          <p:nvPr/>
        </p:nvSpPr>
        <p:spPr>
          <a:xfrm>
            <a:off x="7178040" y="2752344"/>
            <a:ext cx="1143000"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47" name="Shape 45"/>
          <p:cNvSpPr/>
          <p:nvPr/>
        </p:nvSpPr>
        <p:spPr>
          <a:xfrm>
            <a:off x="8467344" y="2697480"/>
            <a:ext cx="1709928" cy="393192"/>
          </a:xfrm>
          <a:prstGeom prst="rect">
            <a:avLst/>
          </a:prstGeom>
          <a:solidFill>
            <a:srgbClr val="E7F4F2"/>
          </a:solidFill>
          <a:ln w="6350">
            <a:solidFill>
              <a:srgbClr val="E7F4F2"/>
            </a:solidFill>
            <a:prstDash val="solid"/>
          </a:ln>
        </p:spPr>
      </p:sp>
      <p:sp>
        <p:nvSpPr>
          <p:cNvPr id="48" name="Text 46"/>
          <p:cNvSpPr/>
          <p:nvPr/>
        </p:nvSpPr>
        <p:spPr>
          <a:xfrm>
            <a:off x="8595360" y="2752344"/>
            <a:ext cx="1453896" cy="283464"/>
          </a:xfrm>
          <a:prstGeom prst="rect">
            <a:avLst/>
          </a:prstGeom>
          <a:noFill/>
          <a:ln/>
        </p:spPr>
        <p:txBody>
          <a:bodyPr wrap="square" lIns="0" tIns="0" rIns="0" bIns="0" rtlCol="0" anchor="ctr">
            <a:spAutoFit/>
          </a:bodyPr>
          <a:lstStyle/>
          <a:p>
            <a:pPr marL="0" indent="0" algn="ctr">
              <a:buNone/>
            </a:pPr>
            <a:r>
              <a:rPr lang="en-US" sz="1700" b="1" dirty="0">
                <a:solidFill>
                  <a:srgbClr val="14263D"/>
                </a:solidFill>
                <a:latin typeface="Aptos" pitchFamily="34" charset="0"/>
                <a:ea typeface="Aptos" pitchFamily="34" charset="-122"/>
                <a:cs typeface="Aptos" pitchFamily="34" charset="-120"/>
              </a:rPr>
              <a:t>−1</a:t>
            </a:r>
            <a:endParaRPr lang="en-US" sz="1700" dirty="0"/>
          </a:p>
        </p:txBody>
      </p:sp>
      <p:sp>
        <p:nvSpPr>
          <p:cNvPr id="49" name="Shape 47"/>
          <p:cNvSpPr/>
          <p:nvPr/>
        </p:nvSpPr>
        <p:spPr>
          <a:xfrm>
            <a:off x="10195560" y="2697480"/>
            <a:ext cx="1408176" cy="393192"/>
          </a:xfrm>
          <a:prstGeom prst="rect">
            <a:avLst/>
          </a:prstGeom>
          <a:solidFill>
            <a:srgbClr val="FFFFFF"/>
          </a:solidFill>
          <a:ln w="6350">
            <a:solidFill>
              <a:srgbClr val="FFFFFF"/>
            </a:solidFill>
            <a:prstDash val="solid"/>
          </a:ln>
        </p:spPr>
      </p:sp>
      <p:sp>
        <p:nvSpPr>
          <p:cNvPr id="50" name="Text 48"/>
          <p:cNvSpPr/>
          <p:nvPr/>
        </p:nvSpPr>
        <p:spPr>
          <a:xfrm>
            <a:off x="10323576" y="2752344"/>
            <a:ext cx="1152144"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51" name="Shape 49"/>
          <p:cNvSpPr/>
          <p:nvPr/>
        </p:nvSpPr>
        <p:spPr>
          <a:xfrm>
            <a:off x="5632704" y="3108960"/>
            <a:ext cx="1399032" cy="393192"/>
          </a:xfrm>
          <a:prstGeom prst="rect">
            <a:avLst/>
          </a:prstGeom>
          <a:solidFill>
            <a:srgbClr val="FFFFFF"/>
          </a:solidFill>
          <a:ln w="6350">
            <a:solidFill>
              <a:srgbClr val="FFFFFF"/>
            </a:solidFill>
            <a:prstDash val="solid"/>
          </a:ln>
        </p:spPr>
      </p:sp>
      <p:sp>
        <p:nvSpPr>
          <p:cNvPr id="52" name="Text 50"/>
          <p:cNvSpPr/>
          <p:nvPr/>
        </p:nvSpPr>
        <p:spPr>
          <a:xfrm>
            <a:off x="5760720" y="3163824"/>
            <a:ext cx="1143000"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53" name="Shape 51"/>
          <p:cNvSpPr/>
          <p:nvPr/>
        </p:nvSpPr>
        <p:spPr>
          <a:xfrm>
            <a:off x="7050024" y="3108960"/>
            <a:ext cx="1399032" cy="393192"/>
          </a:xfrm>
          <a:prstGeom prst="rect">
            <a:avLst/>
          </a:prstGeom>
          <a:solidFill>
            <a:srgbClr val="FFFFFF"/>
          </a:solidFill>
          <a:ln w="6350">
            <a:solidFill>
              <a:srgbClr val="FFFFFF"/>
            </a:solidFill>
            <a:prstDash val="solid"/>
          </a:ln>
        </p:spPr>
      </p:sp>
      <p:sp>
        <p:nvSpPr>
          <p:cNvPr id="54" name="Text 52"/>
          <p:cNvSpPr/>
          <p:nvPr/>
        </p:nvSpPr>
        <p:spPr>
          <a:xfrm>
            <a:off x="7178040" y="3163824"/>
            <a:ext cx="1143000"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55" name="Shape 53"/>
          <p:cNvSpPr/>
          <p:nvPr/>
        </p:nvSpPr>
        <p:spPr>
          <a:xfrm>
            <a:off x="8467344" y="3108960"/>
            <a:ext cx="1709928" cy="393192"/>
          </a:xfrm>
          <a:prstGeom prst="rect">
            <a:avLst/>
          </a:prstGeom>
          <a:solidFill>
            <a:srgbClr val="E7F4F2"/>
          </a:solidFill>
          <a:ln w="6350">
            <a:solidFill>
              <a:srgbClr val="E7F4F2"/>
            </a:solidFill>
            <a:prstDash val="solid"/>
          </a:ln>
        </p:spPr>
      </p:sp>
      <p:sp>
        <p:nvSpPr>
          <p:cNvPr id="56" name="Text 54"/>
          <p:cNvSpPr/>
          <p:nvPr/>
        </p:nvSpPr>
        <p:spPr>
          <a:xfrm>
            <a:off x="8595360" y="3163824"/>
            <a:ext cx="1453896" cy="283464"/>
          </a:xfrm>
          <a:prstGeom prst="rect">
            <a:avLst/>
          </a:prstGeom>
          <a:noFill/>
          <a:ln/>
        </p:spPr>
        <p:txBody>
          <a:bodyPr wrap="square" lIns="0" tIns="0" rIns="0" bIns="0" rtlCol="0" anchor="ctr">
            <a:spAutoFit/>
          </a:bodyPr>
          <a:lstStyle/>
          <a:p>
            <a:pPr marL="0" indent="0" algn="ctr">
              <a:buNone/>
            </a:pPr>
            <a:r>
              <a:rPr lang="en-US" sz="1700" b="1" dirty="0">
                <a:solidFill>
                  <a:srgbClr val="14263D"/>
                </a:solidFill>
                <a:latin typeface="Aptos" pitchFamily="34" charset="0"/>
                <a:ea typeface="Aptos" pitchFamily="34" charset="-122"/>
                <a:cs typeface="Aptos" pitchFamily="34" charset="-120"/>
              </a:rPr>
              <a:t>−1</a:t>
            </a:r>
            <a:endParaRPr lang="en-US" sz="1700" dirty="0"/>
          </a:p>
        </p:txBody>
      </p:sp>
      <p:sp>
        <p:nvSpPr>
          <p:cNvPr id="57" name="Shape 55"/>
          <p:cNvSpPr/>
          <p:nvPr/>
        </p:nvSpPr>
        <p:spPr>
          <a:xfrm>
            <a:off x="10195560" y="3108960"/>
            <a:ext cx="1408176" cy="393192"/>
          </a:xfrm>
          <a:prstGeom prst="rect">
            <a:avLst/>
          </a:prstGeom>
          <a:solidFill>
            <a:srgbClr val="FFFFFF"/>
          </a:solidFill>
          <a:ln w="6350">
            <a:solidFill>
              <a:srgbClr val="FFFFFF"/>
            </a:solidFill>
            <a:prstDash val="solid"/>
          </a:ln>
        </p:spPr>
      </p:sp>
      <p:sp>
        <p:nvSpPr>
          <p:cNvPr id="58" name="Text 56"/>
          <p:cNvSpPr/>
          <p:nvPr/>
        </p:nvSpPr>
        <p:spPr>
          <a:xfrm>
            <a:off x="10323576" y="3163824"/>
            <a:ext cx="1152144"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59" name="Shape 57"/>
          <p:cNvSpPr/>
          <p:nvPr/>
        </p:nvSpPr>
        <p:spPr>
          <a:xfrm>
            <a:off x="5632704" y="3520440"/>
            <a:ext cx="1399032" cy="393192"/>
          </a:xfrm>
          <a:prstGeom prst="rect">
            <a:avLst/>
          </a:prstGeom>
          <a:solidFill>
            <a:srgbClr val="FFFFFF"/>
          </a:solidFill>
          <a:ln w="6350">
            <a:solidFill>
              <a:srgbClr val="FFFFFF"/>
            </a:solidFill>
            <a:prstDash val="solid"/>
          </a:ln>
        </p:spPr>
      </p:sp>
      <p:sp>
        <p:nvSpPr>
          <p:cNvPr id="60" name="Text 58"/>
          <p:cNvSpPr/>
          <p:nvPr/>
        </p:nvSpPr>
        <p:spPr>
          <a:xfrm>
            <a:off x="5760720" y="3575304"/>
            <a:ext cx="1143000"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61" name="Shape 59"/>
          <p:cNvSpPr/>
          <p:nvPr/>
        </p:nvSpPr>
        <p:spPr>
          <a:xfrm>
            <a:off x="7050024" y="3520440"/>
            <a:ext cx="1399032" cy="393192"/>
          </a:xfrm>
          <a:prstGeom prst="rect">
            <a:avLst/>
          </a:prstGeom>
          <a:solidFill>
            <a:srgbClr val="FFFFFF"/>
          </a:solidFill>
          <a:ln w="6350">
            <a:solidFill>
              <a:srgbClr val="FFFFFF"/>
            </a:solidFill>
            <a:prstDash val="solid"/>
          </a:ln>
        </p:spPr>
      </p:sp>
      <p:sp>
        <p:nvSpPr>
          <p:cNvPr id="62" name="Text 60"/>
          <p:cNvSpPr/>
          <p:nvPr/>
        </p:nvSpPr>
        <p:spPr>
          <a:xfrm>
            <a:off x="7178040" y="3575304"/>
            <a:ext cx="1143000"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+1</a:t>
            </a:r>
            <a:endParaRPr lang="en-US" sz="1700" dirty="0"/>
          </a:p>
        </p:txBody>
      </p:sp>
      <p:sp>
        <p:nvSpPr>
          <p:cNvPr id="63" name="Shape 61"/>
          <p:cNvSpPr/>
          <p:nvPr/>
        </p:nvSpPr>
        <p:spPr>
          <a:xfrm>
            <a:off x="8467344" y="3520440"/>
            <a:ext cx="1709928" cy="393192"/>
          </a:xfrm>
          <a:prstGeom prst="rect">
            <a:avLst/>
          </a:prstGeom>
          <a:solidFill>
            <a:srgbClr val="E7F4F2"/>
          </a:solidFill>
          <a:ln w="6350">
            <a:solidFill>
              <a:srgbClr val="E7F4F2"/>
            </a:solidFill>
            <a:prstDash val="solid"/>
          </a:ln>
        </p:spPr>
      </p:sp>
      <p:sp>
        <p:nvSpPr>
          <p:cNvPr id="64" name="Text 62"/>
          <p:cNvSpPr/>
          <p:nvPr/>
        </p:nvSpPr>
        <p:spPr>
          <a:xfrm>
            <a:off x="8595360" y="3575304"/>
            <a:ext cx="1453896" cy="283464"/>
          </a:xfrm>
          <a:prstGeom prst="rect">
            <a:avLst/>
          </a:prstGeom>
          <a:noFill/>
          <a:ln/>
        </p:spPr>
        <p:txBody>
          <a:bodyPr wrap="square" lIns="0" tIns="0" rIns="0" bIns="0" rtlCol="0" anchor="ctr">
            <a:spAutoFit/>
          </a:bodyPr>
          <a:lstStyle/>
          <a:p>
            <a:pPr marL="0" indent="0" algn="ctr">
              <a:buNone/>
            </a:pPr>
            <a:r>
              <a:rPr lang="en-US" sz="1700" b="1" dirty="0">
                <a:solidFill>
                  <a:srgbClr val="14263D"/>
                </a:solidFill>
                <a:latin typeface="Aptos" pitchFamily="34" charset="0"/>
                <a:ea typeface="Aptos" pitchFamily="34" charset="-122"/>
                <a:cs typeface="Aptos" pitchFamily="34" charset="-120"/>
              </a:rPr>
              <a:t>+1</a:t>
            </a:r>
            <a:endParaRPr lang="en-US" sz="1700" dirty="0"/>
          </a:p>
        </p:txBody>
      </p:sp>
      <p:sp>
        <p:nvSpPr>
          <p:cNvPr id="65" name="Shape 63"/>
          <p:cNvSpPr/>
          <p:nvPr/>
        </p:nvSpPr>
        <p:spPr>
          <a:xfrm>
            <a:off x="10195560" y="3520440"/>
            <a:ext cx="1408176" cy="393192"/>
          </a:xfrm>
          <a:prstGeom prst="rect">
            <a:avLst/>
          </a:prstGeom>
          <a:solidFill>
            <a:srgbClr val="FFFFFF"/>
          </a:solidFill>
          <a:ln w="6350">
            <a:solidFill>
              <a:srgbClr val="FFFFFF"/>
            </a:solidFill>
            <a:prstDash val="solid"/>
          </a:ln>
        </p:spPr>
      </p:sp>
      <p:sp>
        <p:nvSpPr>
          <p:cNvPr id="66" name="Text 64"/>
          <p:cNvSpPr/>
          <p:nvPr/>
        </p:nvSpPr>
        <p:spPr>
          <a:xfrm>
            <a:off x="10323576" y="3575304"/>
            <a:ext cx="1152144" cy="283464"/>
          </a:xfrm>
          <a:prstGeom prst="rect">
            <a:avLst/>
          </a:prstGeom>
          <a:noFill/>
          <a:ln/>
        </p:spPr>
        <p:txBody>
          <a:bodyPr wrap="square" lIns="0" tIns="0" rIns="0" bIns="0" rtlCol="0" anchor="ctr">
            <a:spAutoFit/>
          </a:bodyPr>
          <a:lstStyle/>
          <a:p>
            <a:pPr marL="0" indent="0" algn="ctr">
              <a:buNone/>
            </a:pPr>
            <a:r>
              <a:rPr lang="en-US" sz="1700" dirty="0">
                <a:solidFill>
                  <a:srgbClr val="14263D"/>
                </a:solidFill>
                <a:latin typeface="Aptos" pitchFamily="34" charset="0"/>
                <a:ea typeface="Aptos" pitchFamily="34" charset="-122"/>
                <a:cs typeface="Aptos" pitchFamily="34" charset="-120"/>
              </a:rPr>
              <a:t>0</a:t>
            </a:r>
            <a:endParaRPr lang="en-US" sz="1700" dirty="0"/>
          </a:p>
        </p:txBody>
      </p:sp>
      <p:pic>
        <p:nvPicPr>
          <p:cNvPr id="6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8424" y="4288536"/>
            <a:ext cx="3961758" cy="448056"/>
          </a:xfrm>
          <a:prstGeom prst="rect">
            <a:avLst/>
          </a:prstGeom>
        </p:spPr>
      </p:pic>
      <p:pic>
        <p:nvPicPr>
          <p:cNvPr id="6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78424" y="4983480"/>
            <a:ext cx="2816352" cy="448056"/>
          </a:xfrm>
          <a:prstGeom prst="rect">
            <a:avLst/>
          </a:prstGeom>
        </p:spPr>
      </p:pic>
      <p:sp>
        <p:nvSpPr>
          <p:cNvPr id="69" name="Text 65"/>
          <p:cNvSpPr/>
          <p:nvPr/>
        </p:nvSpPr>
        <p:spPr>
          <a:xfrm>
            <a:off x="5687568" y="5632704"/>
            <a:ext cx="5650992" cy="502920"/>
          </a:xfrm>
          <a:prstGeom prst="rect">
            <a:avLst/>
          </a:prstGeom>
          <a:noFill/>
          <a:ln/>
        </p:spPr>
        <p:txBody>
          <a:bodyPr wrap="square" lIns="0" tIns="0" rIns="0" bIns="0" rtlCol="0" anchor="ctr">
            <a:spAutoFit/>
          </a:bodyPr>
          <a:lstStyle/>
          <a:p>
            <a:pPr marL="0" indent="0">
              <a:buNone/>
            </a:pPr>
            <a:r>
              <a:rPr lang="en-US" sz="1750" b="1" dirty="0">
                <a:solidFill>
                  <a:srgbClr val="087F82"/>
                </a:solidFill>
                <a:latin typeface="Aptos" pitchFamily="34" charset="0"/>
                <a:ea typeface="Aptos" pitchFamily="34" charset="-122"/>
                <a:cs typeface="Aptos" pitchFamily="34" charset="-120"/>
              </a:rPr>
              <a:t>Opposite signs → positive score → class 1.</a:t>
            </a:r>
            <a:endParaRPr lang="en-US" sz="1750" dirty="0"/>
          </a:p>
          <a:p>
            <a:pPr marL="0" indent="0">
              <a:buNone/>
            </a:pPr>
            <a:r>
              <a:rPr lang="en-US" sz="1750" b="1" dirty="0">
                <a:solidFill>
                  <a:srgbClr val="087F82"/>
                </a:solidFill>
                <a:latin typeface="Aptos" pitchFamily="34" charset="0"/>
                <a:ea typeface="Aptos" pitchFamily="34" charset="-122"/>
                <a:cs typeface="Aptos" pitchFamily="34" charset="-120"/>
              </a:rPr>
              <a:t>Linear in the new features; nonlinear in the original inputs.</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16:45–17:45</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RETRIEVE BEFORE LOOKING</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One-minute check: true or false?</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L2 · Firner L4 · Firner L6 | Original practice statements</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13 / 15</a:t>
            </a:r>
            <a:endParaRPr lang="en-US" sz="1050" dirty="0"/>
          </a:p>
        </p:txBody>
      </p:sp>
      <p:sp>
        <p:nvSpPr>
          <p:cNvPr id="10" name="Shape 8"/>
          <p:cNvSpPr/>
          <p:nvPr/>
        </p:nvSpPr>
        <p:spPr>
          <a:xfrm>
            <a:off x="603504" y="1856232"/>
            <a:ext cx="11000232" cy="777240"/>
          </a:xfrm>
          <a:prstGeom prst="rect">
            <a:avLst/>
          </a:prstGeom>
          <a:solidFill>
            <a:srgbClr val="FFFFFF"/>
          </a:solidFill>
          <a:ln w="6350">
            <a:solidFill>
              <a:srgbClr val="FFFFFF"/>
            </a:solidFill>
            <a:prstDash val="solid"/>
          </a:ln>
        </p:spPr>
      </p:sp>
      <p:sp>
        <p:nvSpPr>
          <p:cNvPr id="11" name="Shape 9"/>
          <p:cNvSpPr/>
          <p:nvPr/>
        </p:nvSpPr>
        <p:spPr>
          <a:xfrm>
            <a:off x="822960" y="2084832"/>
            <a:ext cx="384048" cy="292608"/>
          </a:xfrm>
          <a:prstGeom prst="rect">
            <a:avLst/>
          </a:prstGeom>
          <a:solidFill>
            <a:srgbClr val="EBF1F9"/>
          </a:solidFill>
          <a:ln w="6350">
            <a:solidFill>
              <a:srgbClr val="EBF1F9"/>
            </a:solidFill>
            <a:prstDash val="solid"/>
          </a:ln>
        </p:spPr>
      </p:sp>
      <p:sp>
        <p:nvSpPr>
          <p:cNvPr id="12" name="Text 10"/>
          <p:cNvSpPr/>
          <p:nvPr/>
        </p:nvSpPr>
        <p:spPr>
          <a:xfrm>
            <a:off x="896112" y="2098548"/>
            <a:ext cx="237744" cy="256032"/>
          </a:xfrm>
          <a:prstGeom prst="rect">
            <a:avLst/>
          </a:prstGeom>
          <a:noFill/>
          <a:ln/>
        </p:spPr>
        <p:txBody>
          <a:bodyPr wrap="square" lIns="0" tIns="0" rIns="0" bIns="0" rtlCol="0" anchor="ctr">
            <a:spAutoFit/>
          </a:bodyPr>
          <a:lstStyle/>
          <a:p>
            <a:pPr marL="0" indent="0">
              <a:buNone/>
            </a:pPr>
            <a:r>
              <a:rPr lang="en-US" sz="1150" b="1" dirty="0">
                <a:solidFill>
                  <a:srgbClr val="245B87"/>
                </a:solidFill>
                <a:latin typeface="Aptos" pitchFamily="34" charset="0"/>
                <a:ea typeface="Aptos" pitchFamily="34" charset="-122"/>
                <a:cs typeface="Aptos" pitchFamily="34" charset="-120"/>
              </a:rPr>
              <a:t>A</a:t>
            </a:r>
            <a:endParaRPr lang="en-US" sz="1150" dirty="0"/>
          </a:p>
        </p:txBody>
      </p:sp>
      <p:sp>
        <p:nvSpPr>
          <p:cNvPr id="13" name="Text 11"/>
          <p:cNvSpPr/>
          <p:nvPr/>
        </p:nvSpPr>
        <p:spPr>
          <a:xfrm>
            <a:off x="1481328" y="1975104"/>
            <a:ext cx="9692640" cy="521208"/>
          </a:xfrm>
          <a:prstGeom prst="rect">
            <a:avLst/>
          </a:prstGeom>
          <a:noFill/>
          <a:ln/>
        </p:spPr>
        <p:txBody>
          <a:bodyPr wrap="square" lIns="0" tIns="0" rIns="0" bIns="0" rtlCol="0" anchor="ctr">
            <a:spAutoFit/>
          </a:bodyPr>
          <a:lstStyle/>
          <a:p>
            <a:pPr marL="0" indent="0">
              <a:buNone/>
            </a:pPr>
            <a:r>
              <a:rPr lang="en-US" sz="2200" dirty="0">
                <a:solidFill>
                  <a:srgbClr val="14263D"/>
                </a:solidFill>
                <a:latin typeface="Aptos" pitchFamily="34" charset="0"/>
                <a:ea typeface="Aptos" pitchFamily="34" charset="-122"/>
                <a:cs typeface="Aptos" pitchFamily="34" charset="-120"/>
              </a:rPr>
              <a:t>An estimator with zero bias must have the smallest MSE.</a:t>
            </a:r>
            <a:endParaRPr lang="en-US" sz="2200" dirty="0"/>
          </a:p>
        </p:txBody>
      </p:sp>
      <p:sp>
        <p:nvSpPr>
          <p:cNvPr id="14" name="Shape 12"/>
          <p:cNvSpPr/>
          <p:nvPr/>
        </p:nvSpPr>
        <p:spPr>
          <a:xfrm>
            <a:off x="603504" y="2788920"/>
            <a:ext cx="11000232" cy="777240"/>
          </a:xfrm>
          <a:prstGeom prst="rect">
            <a:avLst/>
          </a:prstGeom>
          <a:solidFill>
            <a:srgbClr val="FFFFFF"/>
          </a:solidFill>
          <a:ln w="6350">
            <a:solidFill>
              <a:srgbClr val="FFFFFF"/>
            </a:solidFill>
            <a:prstDash val="solid"/>
          </a:ln>
        </p:spPr>
      </p:sp>
      <p:sp>
        <p:nvSpPr>
          <p:cNvPr id="15" name="Shape 13"/>
          <p:cNvSpPr/>
          <p:nvPr/>
        </p:nvSpPr>
        <p:spPr>
          <a:xfrm>
            <a:off x="822960" y="3017520"/>
            <a:ext cx="384048" cy="292608"/>
          </a:xfrm>
          <a:prstGeom prst="rect">
            <a:avLst/>
          </a:prstGeom>
          <a:solidFill>
            <a:srgbClr val="EBF1F9"/>
          </a:solidFill>
          <a:ln w="6350">
            <a:solidFill>
              <a:srgbClr val="EBF1F9"/>
            </a:solidFill>
            <a:prstDash val="solid"/>
          </a:ln>
        </p:spPr>
      </p:sp>
      <p:sp>
        <p:nvSpPr>
          <p:cNvPr id="16" name="Text 14"/>
          <p:cNvSpPr/>
          <p:nvPr/>
        </p:nvSpPr>
        <p:spPr>
          <a:xfrm>
            <a:off x="896112" y="3031236"/>
            <a:ext cx="237744" cy="256032"/>
          </a:xfrm>
          <a:prstGeom prst="rect">
            <a:avLst/>
          </a:prstGeom>
          <a:noFill/>
          <a:ln/>
        </p:spPr>
        <p:txBody>
          <a:bodyPr wrap="square" lIns="0" tIns="0" rIns="0" bIns="0" rtlCol="0" anchor="ctr">
            <a:spAutoFit/>
          </a:bodyPr>
          <a:lstStyle/>
          <a:p>
            <a:pPr marL="0" indent="0">
              <a:buNone/>
            </a:pPr>
            <a:r>
              <a:rPr lang="en-US" sz="1150" b="1" dirty="0">
                <a:solidFill>
                  <a:srgbClr val="245B87"/>
                </a:solidFill>
                <a:latin typeface="Aptos" pitchFamily="34" charset="0"/>
                <a:ea typeface="Aptos" pitchFamily="34" charset="-122"/>
                <a:cs typeface="Aptos" pitchFamily="34" charset="-120"/>
              </a:rPr>
              <a:t>B</a:t>
            </a:r>
            <a:endParaRPr lang="en-US" sz="1150" dirty="0"/>
          </a:p>
        </p:txBody>
      </p:sp>
      <p:sp>
        <p:nvSpPr>
          <p:cNvPr id="17" name="Text 15"/>
          <p:cNvSpPr/>
          <p:nvPr/>
        </p:nvSpPr>
        <p:spPr>
          <a:xfrm>
            <a:off x="1481328" y="2907792"/>
            <a:ext cx="9692640" cy="521208"/>
          </a:xfrm>
          <a:prstGeom prst="rect">
            <a:avLst/>
          </a:prstGeom>
          <a:noFill/>
          <a:ln/>
        </p:spPr>
        <p:txBody>
          <a:bodyPr wrap="square" lIns="0" tIns="0" rIns="0" bIns="0" rtlCol="0" anchor="ctr">
            <a:spAutoFit/>
          </a:bodyPr>
          <a:lstStyle/>
          <a:p>
            <a:pPr marL="0" indent="0">
              <a:buNone/>
            </a:pPr>
            <a:r>
              <a:rPr lang="en-US" sz="2200" dirty="0">
                <a:solidFill>
                  <a:srgbClr val="14263D"/>
                </a:solidFill>
                <a:latin typeface="Aptos" pitchFamily="34" charset="0"/>
                <a:ea typeface="Aptos" pitchFamily="34" charset="-122"/>
                <a:cs typeface="Aptos" pitchFamily="34" charset="-120"/>
              </a:rPr>
              <a:t>Multiplying all pseudocounts by 4 preserves the prior proportions.</a:t>
            </a:r>
            <a:endParaRPr lang="en-US" sz="2200" dirty="0"/>
          </a:p>
        </p:txBody>
      </p:sp>
      <p:sp>
        <p:nvSpPr>
          <p:cNvPr id="18" name="Shape 16"/>
          <p:cNvSpPr/>
          <p:nvPr/>
        </p:nvSpPr>
        <p:spPr>
          <a:xfrm>
            <a:off x="603504" y="3721608"/>
            <a:ext cx="11000232" cy="777240"/>
          </a:xfrm>
          <a:prstGeom prst="rect">
            <a:avLst/>
          </a:prstGeom>
          <a:solidFill>
            <a:srgbClr val="FFFFFF"/>
          </a:solidFill>
          <a:ln w="6350">
            <a:solidFill>
              <a:srgbClr val="FFFFFF"/>
            </a:solidFill>
            <a:prstDash val="solid"/>
          </a:ln>
        </p:spPr>
      </p:sp>
      <p:sp>
        <p:nvSpPr>
          <p:cNvPr id="19" name="Shape 17"/>
          <p:cNvSpPr/>
          <p:nvPr/>
        </p:nvSpPr>
        <p:spPr>
          <a:xfrm>
            <a:off x="822960" y="3950208"/>
            <a:ext cx="384048" cy="292608"/>
          </a:xfrm>
          <a:prstGeom prst="rect">
            <a:avLst/>
          </a:prstGeom>
          <a:solidFill>
            <a:srgbClr val="EBF1F9"/>
          </a:solidFill>
          <a:ln w="6350">
            <a:solidFill>
              <a:srgbClr val="EBF1F9"/>
            </a:solidFill>
            <a:prstDash val="solid"/>
          </a:ln>
        </p:spPr>
      </p:sp>
      <p:sp>
        <p:nvSpPr>
          <p:cNvPr id="20" name="Text 18"/>
          <p:cNvSpPr/>
          <p:nvPr/>
        </p:nvSpPr>
        <p:spPr>
          <a:xfrm>
            <a:off x="896112" y="3963924"/>
            <a:ext cx="237744" cy="256032"/>
          </a:xfrm>
          <a:prstGeom prst="rect">
            <a:avLst/>
          </a:prstGeom>
          <a:noFill/>
          <a:ln/>
        </p:spPr>
        <p:txBody>
          <a:bodyPr wrap="square" lIns="0" tIns="0" rIns="0" bIns="0" rtlCol="0" anchor="ctr">
            <a:spAutoFit/>
          </a:bodyPr>
          <a:lstStyle/>
          <a:p>
            <a:pPr marL="0" indent="0">
              <a:buNone/>
            </a:pPr>
            <a:r>
              <a:rPr lang="en-US" sz="1150" b="1" dirty="0">
                <a:solidFill>
                  <a:srgbClr val="245B87"/>
                </a:solidFill>
                <a:latin typeface="Aptos" pitchFamily="34" charset="0"/>
                <a:ea typeface="Aptos" pitchFamily="34" charset="-122"/>
                <a:cs typeface="Aptos" pitchFamily="34" charset="-120"/>
              </a:rPr>
              <a:t>C</a:t>
            </a:r>
            <a:endParaRPr lang="en-US" sz="1150" dirty="0"/>
          </a:p>
        </p:txBody>
      </p:sp>
      <p:sp>
        <p:nvSpPr>
          <p:cNvPr id="21" name="Text 19"/>
          <p:cNvSpPr/>
          <p:nvPr/>
        </p:nvSpPr>
        <p:spPr>
          <a:xfrm>
            <a:off x="1481328" y="3840480"/>
            <a:ext cx="9692640" cy="521208"/>
          </a:xfrm>
          <a:prstGeom prst="rect">
            <a:avLst/>
          </a:prstGeom>
          <a:noFill/>
          <a:ln/>
        </p:spPr>
        <p:txBody>
          <a:bodyPr wrap="square" lIns="0" tIns="0" rIns="0" bIns="0" rtlCol="0" anchor="ctr">
            <a:spAutoFit/>
          </a:bodyPr>
          <a:lstStyle/>
          <a:p>
            <a:pPr marL="0" indent="0">
              <a:buNone/>
            </a:pPr>
            <a:r>
              <a:rPr lang="en-US" sz="2200" dirty="0">
                <a:solidFill>
                  <a:srgbClr val="14263D"/>
                </a:solidFill>
                <a:latin typeface="Aptos" pitchFamily="34" charset="0"/>
                <a:ea typeface="Aptos" pitchFamily="34" charset="-122"/>
                <a:cs typeface="Aptos" pitchFamily="34" charset="-120"/>
              </a:rPr>
              <a:t>Naive Bayes assumes feature independence conditional on the class.</a:t>
            </a:r>
            <a:endParaRPr lang="en-US" sz="2200" dirty="0"/>
          </a:p>
        </p:txBody>
      </p:sp>
      <p:sp>
        <p:nvSpPr>
          <p:cNvPr id="22" name="Shape 20"/>
          <p:cNvSpPr/>
          <p:nvPr/>
        </p:nvSpPr>
        <p:spPr>
          <a:xfrm>
            <a:off x="603504" y="4654296"/>
            <a:ext cx="11000232" cy="777240"/>
          </a:xfrm>
          <a:prstGeom prst="rect">
            <a:avLst/>
          </a:prstGeom>
          <a:solidFill>
            <a:srgbClr val="FFFFFF"/>
          </a:solidFill>
          <a:ln w="6350">
            <a:solidFill>
              <a:srgbClr val="FFFFFF"/>
            </a:solidFill>
            <a:prstDash val="solid"/>
          </a:ln>
        </p:spPr>
      </p:sp>
      <p:sp>
        <p:nvSpPr>
          <p:cNvPr id="23" name="Shape 21"/>
          <p:cNvSpPr/>
          <p:nvPr/>
        </p:nvSpPr>
        <p:spPr>
          <a:xfrm>
            <a:off x="822960" y="4882896"/>
            <a:ext cx="384048" cy="292608"/>
          </a:xfrm>
          <a:prstGeom prst="rect">
            <a:avLst/>
          </a:prstGeom>
          <a:solidFill>
            <a:srgbClr val="EBF1F9"/>
          </a:solidFill>
          <a:ln w="6350">
            <a:solidFill>
              <a:srgbClr val="EBF1F9"/>
            </a:solidFill>
            <a:prstDash val="solid"/>
          </a:ln>
        </p:spPr>
      </p:sp>
      <p:sp>
        <p:nvSpPr>
          <p:cNvPr id="24" name="Text 22"/>
          <p:cNvSpPr/>
          <p:nvPr/>
        </p:nvSpPr>
        <p:spPr>
          <a:xfrm>
            <a:off x="896112" y="4896612"/>
            <a:ext cx="237744" cy="256032"/>
          </a:xfrm>
          <a:prstGeom prst="rect">
            <a:avLst/>
          </a:prstGeom>
          <a:noFill/>
          <a:ln/>
        </p:spPr>
        <p:txBody>
          <a:bodyPr wrap="square" lIns="0" tIns="0" rIns="0" bIns="0" rtlCol="0" anchor="ctr">
            <a:spAutoFit/>
          </a:bodyPr>
          <a:lstStyle/>
          <a:p>
            <a:pPr marL="0" indent="0">
              <a:buNone/>
            </a:pPr>
            <a:r>
              <a:rPr lang="en-US" sz="1150" b="1" dirty="0">
                <a:solidFill>
                  <a:srgbClr val="245B87"/>
                </a:solidFill>
                <a:latin typeface="Aptos" pitchFamily="34" charset="0"/>
                <a:ea typeface="Aptos" pitchFamily="34" charset="-122"/>
                <a:cs typeface="Aptos" pitchFamily="34" charset="-120"/>
              </a:rPr>
              <a:t>D</a:t>
            </a:r>
            <a:endParaRPr lang="en-US" sz="1150" dirty="0"/>
          </a:p>
        </p:txBody>
      </p:sp>
      <p:sp>
        <p:nvSpPr>
          <p:cNvPr id="25" name="Text 23"/>
          <p:cNvSpPr/>
          <p:nvPr/>
        </p:nvSpPr>
        <p:spPr>
          <a:xfrm>
            <a:off x="1481328" y="4773168"/>
            <a:ext cx="9692640" cy="521208"/>
          </a:xfrm>
          <a:prstGeom prst="rect">
            <a:avLst/>
          </a:prstGeom>
          <a:noFill/>
          <a:ln/>
        </p:spPr>
        <p:txBody>
          <a:bodyPr wrap="square" lIns="0" tIns="0" rIns="0" bIns="0" rtlCol="0" anchor="ctr">
            <a:spAutoFit/>
          </a:bodyPr>
          <a:lstStyle/>
          <a:p>
            <a:pPr marL="0" indent="0">
              <a:buNone/>
            </a:pPr>
            <a:r>
              <a:rPr lang="en-US" sz="2200" dirty="0">
                <a:solidFill>
                  <a:srgbClr val="14263D"/>
                </a:solidFill>
                <a:latin typeface="Aptos" pitchFamily="34" charset="0"/>
                <a:ea typeface="Aptos" pitchFamily="34" charset="-122"/>
                <a:cs typeface="Aptos" pitchFamily="34" charset="-120"/>
              </a:rPr>
              <a:t>An L2 penalty requires predicted probabilities to approach zero.</a:t>
            </a:r>
            <a:endParaRPr lang="en-US" sz="2200" dirty="0"/>
          </a:p>
        </p:txBody>
      </p:sp>
      <p:sp>
        <p:nvSpPr>
          <p:cNvPr id="26" name="Shape 24"/>
          <p:cNvSpPr/>
          <p:nvPr/>
        </p:nvSpPr>
        <p:spPr>
          <a:xfrm>
            <a:off x="566928" y="5852160"/>
            <a:ext cx="11045952" cy="457200"/>
          </a:xfrm>
          <a:prstGeom prst="rect">
            <a:avLst/>
          </a:prstGeom>
          <a:solidFill>
            <a:srgbClr val="E7F4F2"/>
          </a:solidFill>
          <a:ln w="6350">
            <a:solidFill>
              <a:srgbClr val="E7F4F2"/>
            </a:solidFill>
            <a:prstDash val="solid"/>
          </a:ln>
        </p:spPr>
      </p:sp>
      <p:sp>
        <p:nvSpPr>
          <p:cNvPr id="27" name="Text 25"/>
          <p:cNvSpPr/>
          <p:nvPr/>
        </p:nvSpPr>
        <p:spPr>
          <a:xfrm>
            <a:off x="758952" y="5888736"/>
            <a:ext cx="10671048" cy="365760"/>
          </a:xfrm>
          <a:prstGeom prst="rect">
            <a:avLst/>
          </a:prstGeom>
          <a:noFill/>
          <a:ln/>
        </p:spPr>
        <p:txBody>
          <a:bodyPr wrap="square" lIns="0" tIns="0" rIns="0" bIns="0" rtlCol="0" anchor="ctr">
            <a:spAutoFit/>
          </a:bodyPr>
          <a:lstStyle/>
          <a:p>
            <a:pPr marL="0" indent="0">
              <a:buNone/>
            </a:pPr>
            <a:r>
              <a:rPr lang="en-US" sz="2000" b="1" dirty="0">
                <a:solidFill>
                  <a:srgbClr val="087F82"/>
                </a:solidFill>
                <a:latin typeface="Aptos" pitchFamily="34" charset="0"/>
                <a:ea typeface="Aptos" pitchFamily="34" charset="-122"/>
                <a:cs typeface="Aptos" pitchFamily="34" charset="-120"/>
              </a:rPr>
              <a:t>Give a verdict—and one sentence explaining why.</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17:45–19:15</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CHECK YOUR REASONING</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Answers: use the distinction, not a slogan</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L2 · Firner L4 · Firner L6 | Explanations</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14 / 15</a:t>
            </a:r>
            <a:endParaRPr lang="en-US" sz="1050" dirty="0"/>
          </a:p>
        </p:txBody>
      </p:sp>
      <p:sp>
        <p:nvSpPr>
          <p:cNvPr id="10" name="Shape 8"/>
          <p:cNvSpPr/>
          <p:nvPr/>
        </p:nvSpPr>
        <p:spPr>
          <a:xfrm>
            <a:off x="603504" y="1856232"/>
            <a:ext cx="11000232" cy="786384"/>
          </a:xfrm>
          <a:prstGeom prst="rect">
            <a:avLst/>
          </a:prstGeom>
          <a:solidFill>
            <a:srgbClr val="FFFFFF"/>
          </a:solidFill>
          <a:ln w="6350">
            <a:solidFill>
              <a:srgbClr val="FFFFFF"/>
            </a:solidFill>
            <a:prstDash val="solid"/>
          </a:ln>
        </p:spPr>
      </p:sp>
      <p:sp>
        <p:nvSpPr>
          <p:cNvPr id="11" name="Text 9"/>
          <p:cNvSpPr/>
          <p:nvPr/>
        </p:nvSpPr>
        <p:spPr>
          <a:xfrm>
            <a:off x="841248" y="2075688"/>
            <a:ext cx="374904" cy="283464"/>
          </a:xfrm>
          <a:prstGeom prst="rect">
            <a:avLst/>
          </a:prstGeom>
          <a:noFill/>
          <a:ln/>
        </p:spPr>
        <p:txBody>
          <a:bodyPr wrap="square" lIns="0" tIns="0" rIns="0" bIns="0" rtlCol="0" anchor="ctr">
            <a:spAutoFit/>
          </a:bodyPr>
          <a:lstStyle/>
          <a:p>
            <a:pPr marL="0" indent="0">
              <a:buNone/>
            </a:pPr>
            <a:r>
              <a:rPr lang="en-US" sz="1900" b="1" dirty="0">
                <a:solidFill>
                  <a:srgbClr val="14263D"/>
                </a:solidFill>
                <a:latin typeface="Aptos" pitchFamily="34" charset="0"/>
                <a:ea typeface="Aptos" pitchFamily="34" charset="-122"/>
                <a:cs typeface="Aptos" pitchFamily="34" charset="-120"/>
              </a:rPr>
              <a:t>A</a:t>
            </a:r>
            <a:endParaRPr lang="en-US" sz="1900" dirty="0"/>
          </a:p>
        </p:txBody>
      </p:sp>
      <p:sp>
        <p:nvSpPr>
          <p:cNvPr id="12" name="Shape 10"/>
          <p:cNvSpPr/>
          <p:nvPr/>
        </p:nvSpPr>
        <p:spPr>
          <a:xfrm>
            <a:off x="1499616" y="2084832"/>
            <a:ext cx="941832" cy="292608"/>
          </a:xfrm>
          <a:prstGeom prst="rect">
            <a:avLst/>
          </a:prstGeom>
          <a:solidFill>
            <a:srgbClr val="FFF2DF"/>
          </a:solidFill>
          <a:ln w="6350">
            <a:solidFill>
              <a:srgbClr val="FFF2DF"/>
            </a:solidFill>
            <a:prstDash val="solid"/>
          </a:ln>
        </p:spPr>
      </p:sp>
      <p:sp>
        <p:nvSpPr>
          <p:cNvPr id="13" name="Text 11"/>
          <p:cNvSpPr/>
          <p:nvPr/>
        </p:nvSpPr>
        <p:spPr>
          <a:xfrm>
            <a:off x="1572768" y="2098548"/>
            <a:ext cx="795528" cy="256032"/>
          </a:xfrm>
          <a:prstGeom prst="rect">
            <a:avLst/>
          </a:prstGeom>
          <a:noFill/>
          <a:ln/>
        </p:spPr>
        <p:txBody>
          <a:bodyPr wrap="square" lIns="0" tIns="0" rIns="0" bIns="0" rtlCol="0" anchor="ctr">
            <a:spAutoFit/>
          </a:bodyPr>
          <a:lstStyle/>
          <a:p>
            <a:pPr marL="0" indent="0">
              <a:buNone/>
            </a:pPr>
            <a:r>
              <a:rPr lang="en-US" sz="1150" b="1" dirty="0">
                <a:solidFill>
                  <a:srgbClr val="AF651D"/>
                </a:solidFill>
                <a:latin typeface="Aptos" pitchFamily="34" charset="0"/>
                <a:ea typeface="Aptos" pitchFamily="34" charset="-122"/>
                <a:cs typeface="Aptos" pitchFamily="34" charset="-120"/>
              </a:rPr>
              <a:t>FALSE</a:t>
            </a:r>
            <a:endParaRPr lang="en-US" sz="1150" dirty="0"/>
          </a:p>
        </p:txBody>
      </p:sp>
      <p:sp>
        <p:nvSpPr>
          <p:cNvPr id="14" name="Text 12"/>
          <p:cNvSpPr/>
          <p:nvPr/>
        </p:nvSpPr>
        <p:spPr>
          <a:xfrm>
            <a:off x="2724912" y="1975104"/>
            <a:ext cx="8549640" cy="521208"/>
          </a:xfrm>
          <a:prstGeom prst="rect">
            <a:avLst/>
          </a:prstGeom>
          <a:noFill/>
          <a:ln/>
        </p:spPr>
        <p:txBody>
          <a:bodyPr wrap="square" lIns="0" tIns="0" rIns="0" bIns="0" rtlCol="0" anchor="ctr">
            <a:spAutoFit/>
          </a:bodyPr>
          <a:lstStyle/>
          <a:p>
            <a:pPr marL="0" indent="0">
              <a:buNone/>
            </a:pPr>
            <a:r>
              <a:rPr lang="en-US" sz="2100" dirty="0">
                <a:solidFill>
                  <a:srgbClr val="14263D"/>
                </a:solidFill>
                <a:latin typeface="Aptos" pitchFamily="34" charset="0"/>
                <a:ea typeface="Aptos" pitchFamily="34" charset="-122"/>
                <a:cs typeface="Aptos" pitchFamily="34" charset="-120"/>
              </a:rPr>
              <a:t>MSE depends on both squared bias and variance.</a:t>
            </a:r>
            <a:endParaRPr lang="en-US" sz="2100" dirty="0"/>
          </a:p>
        </p:txBody>
      </p:sp>
      <p:sp>
        <p:nvSpPr>
          <p:cNvPr id="15" name="Shape 13"/>
          <p:cNvSpPr/>
          <p:nvPr/>
        </p:nvSpPr>
        <p:spPr>
          <a:xfrm>
            <a:off x="603504" y="2788920"/>
            <a:ext cx="11000232" cy="786384"/>
          </a:xfrm>
          <a:prstGeom prst="rect">
            <a:avLst/>
          </a:prstGeom>
          <a:solidFill>
            <a:srgbClr val="FFFFFF"/>
          </a:solidFill>
          <a:ln w="6350">
            <a:solidFill>
              <a:srgbClr val="FFFFFF"/>
            </a:solidFill>
            <a:prstDash val="solid"/>
          </a:ln>
        </p:spPr>
      </p:sp>
      <p:sp>
        <p:nvSpPr>
          <p:cNvPr id="16" name="Text 14"/>
          <p:cNvSpPr/>
          <p:nvPr/>
        </p:nvSpPr>
        <p:spPr>
          <a:xfrm>
            <a:off x="841248" y="3008376"/>
            <a:ext cx="374904" cy="283464"/>
          </a:xfrm>
          <a:prstGeom prst="rect">
            <a:avLst/>
          </a:prstGeom>
          <a:noFill/>
          <a:ln/>
        </p:spPr>
        <p:txBody>
          <a:bodyPr wrap="square" lIns="0" tIns="0" rIns="0" bIns="0" rtlCol="0" anchor="ctr">
            <a:spAutoFit/>
          </a:bodyPr>
          <a:lstStyle/>
          <a:p>
            <a:pPr marL="0" indent="0">
              <a:buNone/>
            </a:pPr>
            <a:r>
              <a:rPr lang="en-US" sz="1900" b="1" dirty="0">
                <a:solidFill>
                  <a:srgbClr val="14263D"/>
                </a:solidFill>
                <a:latin typeface="Aptos" pitchFamily="34" charset="0"/>
                <a:ea typeface="Aptos" pitchFamily="34" charset="-122"/>
                <a:cs typeface="Aptos" pitchFamily="34" charset="-120"/>
              </a:rPr>
              <a:t>B</a:t>
            </a:r>
            <a:endParaRPr lang="en-US" sz="1900" dirty="0"/>
          </a:p>
        </p:txBody>
      </p:sp>
      <p:sp>
        <p:nvSpPr>
          <p:cNvPr id="17" name="Shape 15"/>
          <p:cNvSpPr/>
          <p:nvPr/>
        </p:nvSpPr>
        <p:spPr>
          <a:xfrm>
            <a:off x="1499616" y="3017520"/>
            <a:ext cx="941832" cy="292608"/>
          </a:xfrm>
          <a:prstGeom prst="rect">
            <a:avLst/>
          </a:prstGeom>
          <a:solidFill>
            <a:srgbClr val="E7F4F2"/>
          </a:solidFill>
          <a:ln w="6350">
            <a:solidFill>
              <a:srgbClr val="E7F4F2"/>
            </a:solidFill>
            <a:prstDash val="solid"/>
          </a:ln>
        </p:spPr>
      </p:sp>
      <p:sp>
        <p:nvSpPr>
          <p:cNvPr id="18" name="Text 16"/>
          <p:cNvSpPr/>
          <p:nvPr/>
        </p:nvSpPr>
        <p:spPr>
          <a:xfrm>
            <a:off x="1572768" y="3031236"/>
            <a:ext cx="795528" cy="256032"/>
          </a:xfrm>
          <a:prstGeom prst="rect">
            <a:avLst/>
          </a:prstGeom>
          <a:noFill/>
          <a:ln/>
        </p:spPr>
        <p:txBody>
          <a:bodyPr wrap="square" lIns="0" tIns="0" rIns="0" bIns="0" rtlCol="0" anchor="ctr">
            <a:spAutoFit/>
          </a:bodyPr>
          <a:lstStyle/>
          <a:p>
            <a:pPr marL="0" indent="0">
              <a:buNone/>
            </a:pPr>
            <a:r>
              <a:rPr lang="en-US" sz="1150" b="1" dirty="0">
                <a:solidFill>
                  <a:srgbClr val="087F82"/>
                </a:solidFill>
                <a:latin typeface="Aptos" pitchFamily="34" charset="0"/>
                <a:ea typeface="Aptos" pitchFamily="34" charset="-122"/>
                <a:cs typeface="Aptos" pitchFamily="34" charset="-120"/>
              </a:rPr>
              <a:t>TRUE</a:t>
            </a:r>
            <a:endParaRPr lang="en-US" sz="1150" dirty="0"/>
          </a:p>
        </p:txBody>
      </p:sp>
      <p:sp>
        <p:nvSpPr>
          <p:cNvPr id="19" name="Text 17"/>
          <p:cNvSpPr/>
          <p:nvPr/>
        </p:nvSpPr>
        <p:spPr>
          <a:xfrm>
            <a:off x="2724912" y="2907792"/>
            <a:ext cx="8549640" cy="521208"/>
          </a:xfrm>
          <a:prstGeom prst="rect">
            <a:avLst/>
          </a:prstGeom>
          <a:noFill/>
          <a:ln/>
        </p:spPr>
        <p:txBody>
          <a:bodyPr wrap="square" lIns="0" tIns="0" rIns="0" bIns="0" rtlCol="0" anchor="ctr">
            <a:spAutoFit/>
          </a:bodyPr>
          <a:lstStyle/>
          <a:p>
            <a:pPr marL="0" indent="0">
              <a:buNone/>
            </a:pPr>
            <a:r>
              <a:rPr lang="en-US" sz="2100" dirty="0">
                <a:solidFill>
                  <a:srgbClr val="14263D"/>
                </a:solidFill>
                <a:latin typeface="Aptos" pitchFamily="34" charset="0"/>
                <a:ea typeface="Aptos" pitchFamily="34" charset="-122"/>
                <a:cs typeface="Aptos" pitchFamily="34" charset="-120"/>
              </a:rPr>
              <a:t>The ratios stay the same; the prior becomes stronger.</a:t>
            </a:r>
            <a:endParaRPr lang="en-US" sz="2100" dirty="0"/>
          </a:p>
        </p:txBody>
      </p:sp>
      <p:sp>
        <p:nvSpPr>
          <p:cNvPr id="20" name="Shape 18"/>
          <p:cNvSpPr/>
          <p:nvPr/>
        </p:nvSpPr>
        <p:spPr>
          <a:xfrm>
            <a:off x="603504" y="3721608"/>
            <a:ext cx="11000232" cy="786384"/>
          </a:xfrm>
          <a:prstGeom prst="rect">
            <a:avLst/>
          </a:prstGeom>
          <a:solidFill>
            <a:srgbClr val="FFFFFF"/>
          </a:solidFill>
          <a:ln w="6350">
            <a:solidFill>
              <a:srgbClr val="FFFFFF"/>
            </a:solidFill>
            <a:prstDash val="solid"/>
          </a:ln>
        </p:spPr>
      </p:sp>
      <p:sp>
        <p:nvSpPr>
          <p:cNvPr id="21" name="Text 19"/>
          <p:cNvSpPr/>
          <p:nvPr/>
        </p:nvSpPr>
        <p:spPr>
          <a:xfrm>
            <a:off x="841248" y="3941064"/>
            <a:ext cx="374904" cy="283464"/>
          </a:xfrm>
          <a:prstGeom prst="rect">
            <a:avLst/>
          </a:prstGeom>
          <a:noFill/>
          <a:ln/>
        </p:spPr>
        <p:txBody>
          <a:bodyPr wrap="square" lIns="0" tIns="0" rIns="0" bIns="0" rtlCol="0" anchor="ctr">
            <a:spAutoFit/>
          </a:bodyPr>
          <a:lstStyle/>
          <a:p>
            <a:pPr marL="0" indent="0">
              <a:buNone/>
            </a:pPr>
            <a:r>
              <a:rPr lang="en-US" sz="1900" b="1" dirty="0">
                <a:solidFill>
                  <a:srgbClr val="14263D"/>
                </a:solidFill>
                <a:latin typeface="Aptos" pitchFamily="34" charset="0"/>
                <a:ea typeface="Aptos" pitchFamily="34" charset="-122"/>
                <a:cs typeface="Aptos" pitchFamily="34" charset="-120"/>
              </a:rPr>
              <a:t>C</a:t>
            </a:r>
            <a:endParaRPr lang="en-US" sz="1900" dirty="0"/>
          </a:p>
        </p:txBody>
      </p:sp>
      <p:sp>
        <p:nvSpPr>
          <p:cNvPr id="22" name="Shape 20"/>
          <p:cNvSpPr/>
          <p:nvPr/>
        </p:nvSpPr>
        <p:spPr>
          <a:xfrm>
            <a:off x="1499616" y="3950208"/>
            <a:ext cx="941832" cy="292608"/>
          </a:xfrm>
          <a:prstGeom prst="rect">
            <a:avLst/>
          </a:prstGeom>
          <a:solidFill>
            <a:srgbClr val="E7F4F2"/>
          </a:solidFill>
          <a:ln w="6350">
            <a:solidFill>
              <a:srgbClr val="E7F4F2"/>
            </a:solidFill>
            <a:prstDash val="solid"/>
          </a:ln>
        </p:spPr>
      </p:sp>
      <p:sp>
        <p:nvSpPr>
          <p:cNvPr id="23" name="Text 21"/>
          <p:cNvSpPr/>
          <p:nvPr/>
        </p:nvSpPr>
        <p:spPr>
          <a:xfrm>
            <a:off x="1572768" y="3963924"/>
            <a:ext cx="795528" cy="256032"/>
          </a:xfrm>
          <a:prstGeom prst="rect">
            <a:avLst/>
          </a:prstGeom>
          <a:noFill/>
          <a:ln/>
        </p:spPr>
        <p:txBody>
          <a:bodyPr wrap="square" lIns="0" tIns="0" rIns="0" bIns="0" rtlCol="0" anchor="ctr">
            <a:spAutoFit/>
          </a:bodyPr>
          <a:lstStyle/>
          <a:p>
            <a:pPr marL="0" indent="0">
              <a:buNone/>
            </a:pPr>
            <a:r>
              <a:rPr lang="en-US" sz="1150" b="1" dirty="0">
                <a:solidFill>
                  <a:srgbClr val="087F82"/>
                </a:solidFill>
                <a:latin typeface="Aptos" pitchFamily="34" charset="0"/>
                <a:ea typeface="Aptos" pitchFamily="34" charset="-122"/>
                <a:cs typeface="Aptos" pitchFamily="34" charset="-120"/>
              </a:rPr>
              <a:t>TRUE</a:t>
            </a:r>
            <a:endParaRPr lang="en-US" sz="1150" dirty="0"/>
          </a:p>
        </p:txBody>
      </p:sp>
      <p:sp>
        <p:nvSpPr>
          <p:cNvPr id="24" name="Text 22"/>
          <p:cNvSpPr/>
          <p:nvPr/>
        </p:nvSpPr>
        <p:spPr>
          <a:xfrm>
            <a:off x="2724912" y="3840480"/>
            <a:ext cx="8549640" cy="521208"/>
          </a:xfrm>
          <a:prstGeom prst="rect">
            <a:avLst/>
          </a:prstGeom>
          <a:noFill/>
          <a:ln/>
        </p:spPr>
        <p:txBody>
          <a:bodyPr wrap="square" lIns="0" tIns="0" rIns="0" bIns="0" rtlCol="0" anchor="ctr">
            <a:spAutoFit/>
          </a:bodyPr>
          <a:lstStyle/>
          <a:p>
            <a:pPr marL="0" indent="0">
              <a:buNone/>
            </a:pPr>
            <a:r>
              <a:rPr lang="en-US" sz="2100" dirty="0">
                <a:solidFill>
                  <a:srgbClr val="14263D"/>
                </a:solidFill>
                <a:latin typeface="Aptos" pitchFamily="34" charset="0"/>
                <a:ea typeface="Aptos" pitchFamily="34" charset="-122"/>
                <a:cs typeface="Aptos" pitchFamily="34" charset="-120"/>
              </a:rPr>
              <a:t>The independence assumption is given y, not unconditional.</a:t>
            </a:r>
            <a:endParaRPr lang="en-US" sz="2100" dirty="0"/>
          </a:p>
        </p:txBody>
      </p:sp>
      <p:sp>
        <p:nvSpPr>
          <p:cNvPr id="25" name="Shape 23"/>
          <p:cNvSpPr/>
          <p:nvPr/>
        </p:nvSpPr>
        <p:spPr>
          <a:xfrm>
            <a:off x="603504" y="4654296"/>
            <a:ext cx="11000232" cy="786384"/>
          </a:xfrm>
          <a:prstGeom prst="rect">
            <a:avLst/>
          </a:prstGeom>
          <a:solidFill>
            <a:srgbClr val="FFFFFF"/>
          </a:solidFill>
          <a:ln w="6350">
            <a:solidFill>
              <a:srgbClr val="FFFFFF"/>
            </a:solidFill>
            <a:prstDash val="solid"/>
          </a:ln>
        </p:spPr>
      </p:sp>
      <p:sp>
        <p:nvSpPr>
          <p:cNvPr id="26" name="Text 24"/>
          <p:cNvSpPr/>
          <p:nvPr/>
        </p:nvSpPr>
        <p:spPr>
          <a:xfrm>
            <a:off x="841248" y="4873752"/>
            <a:ext cx="374904" cy="283464"/>
          </a:xfrm>
          <a:prstGeom prst="rect">
            <a:avLst/>
          </a:prstGeom>
          <a:noFill/>
          <a:ln/>
        </p:spPr>
        <p:txBody>
          <a:bodyPr wrap="square" lIns="0" tIns="0" rIns="0" bIns="0" rtlCol="0" anchor="ctr">
            <a:spAutoFit/>
          </a:bodyPr>
          <a:lstStyle/>
          <a:p>
            <a:pPr marL="0" indent="0">
              <a:buNone/>
            </a:pPr>
            <a:r>
              <a:rPr lang="en-US" sz="1900" b="1" dirty="0">
                <a:solidFill>
                  <a:srgbClr val="14263D"/>
                </a:solidFill>
                <a:latin typeface="Aptos" pitchFamily="34" charset="0"/>
                <a:ea typeface="Aptos" pitchFamily="34" charset="-122"/>
                <a:cs typeface="Aptos" pitchFamily="34" charset="-120"/>
              </a:rPr>
              <a:t>D</a:t>
            </a:r>
            <a:endParaRPr lang="en-US" sz="1900" dirty="0"/>
          </a:p>
        </p:txBody>
      </p:sp>
      <p:sp>
        <p:nvSpPr>
          <p:cNvPr id="27" name="Shape 25"/>
          <p:cNvSpPr/>
          <p:nvPr/>
        </p:nvSpPr>
        <p:spPr>
          <a:xfrm>
            <a:off x="1499616" y="4882896"/>
            <a:ext cx="941832" cy="292608"/>
          </a:xfrm>
          <a:prstGeom prst="rect">
            <a:avLst/>
          </a:prstGeom>
          <a:solidFill>
            <a:srgbClr val="FFF2DF"/>
          </a:solidFill>
          <a:ln w="6350">
            <a:solidFill>
              <a:srgbClr val="FFF2DF"/>
            </a:solidFill>
            <a:prstDash val="solid"/>
          </a:ln>
        </p:spPr>
      </p:sp>
      <p:sp>
        <p:nvSpPr>
          <p:cNvPr id="28" name="Text 26"/>
          <p:cNvSpPr/>
          <p:nvPr/>
        </p:nvSpPr>
        <p:spPr>
          <a:xfrm>
            <a:off x="1572768" y="4896612"/>
            <a:ext cx="795528" cy="256032"/>
          </a:xfrm>
          <a:prstGeom prst="rect">
            <a:avLst/>
          </a:prstGeom>
          <a:noFill/>
          <a:ln/>
        </p:spPr>
        <p:txBody>
          <a:bodyPr wrap="square" lIns="0" tIns="0" rIns="0" bIns="0" rtlCol="0" anchor="ctr">
            <a:spAutoFit/>
          </a:bodyPr>
          <a:lstStyle/>
          <a:p>
            <a:pPr marL="0" indent="0">
              <a:buNone/>
            </a:pPr>
            <a:r>
              <a:rPr lang="en-US" sz="1150" b="1" dirty="0">
                <a:solidFill>
                  <a:srgbClr val="AF651D"/>
                </a:solidFill>
                <a:latin typeface="Aptos" pitchFamily="34" charset="0"/>
                <a:ea typeface="Aptos" pitchFamily="34" charset="-122"/>
                <a:cs typeface="Aptos" pitchFamily="34" charset="-120"/>
              </a:rPr>
              <a:t>FALSE</a:t>
            </a:r>
            <a:endParaRPr lang="en-US" sz="1150" dirty="0"/>
          </a:p>
        </p:txBody>
      </p:sp>
      <p:sp>
        <p:nvSpPr>
          <p:cNvPr id="29" name="Text 27"/>
          <p:cNvSpPr/>
          <p:nvPr/>
        </p:nvSpPr>
        <p:spPr>
          <a:xfrm>
            <a:off x="2724912" y="4773168"/>
            <a:ext cx="8549640" cy="521208"/>
          </a:xfrm>
          <a:prstGeom prst="rect">
            <a:avLst/>
          </a:prstGeom>
          <a:noFill/>
          <a:ln/>
        </p:spPr>
        <p:txBody>
          <a:bodyPr wrap="square" lIns="0" tIns="0" rIns="0" bIns="0" rtlCol="0" anchor="ctr">
            <a:spAutoFit/>
          </a:bodyPr>
          <a:lstStyle/>
          <a:p>
            <a:pPr marL="0" indent="0">
              <a:buNone/>
            </a:pPr>
            <a:r>
              <a:rPr lang="en-US" sz="2100" dirty="0">
                <a:solidFill>
                  <a:srgbClr val="14263D"/>
                </a:solidFill>
                <a:latin typeface="Aptos" pitchFamily="34" charset="0"/>
                <a:ea typeface="Aptos" pitchFamily="34" charset="-122"/>
                <a:cs typeface="Aptos" pitchFamily="34" charset="-120"/>
              </a:rPr>
              <a:t>The penalty targets weights, not the predicted probability.</a:t>
            </a:r>
            <a:endParaRPr lang="en-US" sz="2100" dirty="0"/>
          </a:p>
        </p:txBody>
      </p:sp>
      <p:sp>
        <p:nvSpPr>
          <p:cNvPr id="30" name="Shape 28"/>
          <p:cNvSpPr/>
          <p:nvPr/>
        </p:nvSpPr>
        <p:spPr>
          <a:xfrm>
            <a:off x="566928" y="5852160"/>
            <a:ext cx="11045952" cy="457200"/>
          </a:xfrm>
          <a:prstGeom prst="rect">
            <a:avLst/>
          </a:prstGeom>
          <a:solidFill>
            <a:srgbClr val="EBF1F9"/>
          </a:solidFill>
          <a:ln w="6350">
            <a:solidFill>
              <a:srgbClr val="EBF1F9"/>
            </a:solidFill>
            <a:prstDash val="solid"/>
          </a:ln>
        </p:spPr>
      </p:sp>
      <p:sp>
        <p:nvSpPr>
          <p:cNvPr id="31" name="Text 29"/>
          <p:cNvSpPr/>
          <p:nvPr/>
        </p:nvSpPr>
        <p:spPr>
          <a:xfrm>
            <a:off x="758952" y="5888736"/>
            <a:ext cx="10671048" cy="365760"/>
          </a:xfrm>
          <a:prstGeom prst="rect">
            <a:avLst/>
          </a:prstGeom>
          <a:noFill/>
          <a:ln/>
        </p:spPr>
        <p:txBody>
          <a:bodyPr wrap="square" lIns="0" tIns="0" rIns="0" bIns="0" rtlCol="0" anchor="ctr">
            <a:spAutoFit/>
          </a:bodyPr>
          <a:lstStyle/>
          <a:p>
            <a:pPr marL="0" indent="0">
              <a:buNone/>
            </a:pPr>
            <a:r>
              <a:rPr lang="en-US" sz="1900" b="1" dirty="0">
                <a:solidFill>
                  <a:srgbClr val="245B87"/>
                </a:solidFill>
                <a:latin typeface="Aptos" pitchFamily="34" charset="0"/>
                <a:ea typeface="Aptos" pitchFamily="34" charset="-122"/>
                <a:cs typeface="Aptos" pitchFamily="34" charset="-120"/>
              </a:rPr>
              <a:t>For a fixed prior, MAP’s relative prior influence fades as the dataset grows.</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CC0033"/>
          </a:solidFill>
          <a:ln w="6350">
            <a:solidFill>
              <a:srgbClr val="CC0033"/>
            </a:solidFill>
            <a:prstDash val="solid"/>
          </a:ln>
        </p:spPr>
      </p:sp>
      <p:sp>
        <p:nvSpPr>
          <p:cNvPr id="3" name="Text 1"/>
          <p:cNvSpPr/>
          <p:nvPr/>
        </p:nvSpPr>
        <p:spPr>
          <a:xfrm>
            <a:off x="566928" y="265176"/>
            <a:ext cx="7132320" cy="210312"/>
          </a:xfrm>
          <a:prstGeom prst="rect">
            <a:avLst/>
          </a:prstGeom>
          <a:noFill/>
          <a:ln/>
        </p:spPr>
        <p:txBody>
          <a:bodyPr wrap="square" lIns="0" tIns="0" rIns="0" bIns="0" rtlCol="0" anchor="ctr">
            <a:spAutoFit/>
          </a:bodyPr>
          <a:lstStyle/>
          <a:p>
            <a:pPr marL="0" indent="0">
              <a:buNone/>
            </a:pPr>
            <a:r>
              <a:rPr lang="en-US" sz="1100" b="1" kern="0" spc="130" dirty="0">
                <a:solidFill>
                  <a:srgbClr val="5E6E80"/>
                </a:solidFill>
                <a:latin typeface="Aptos" pitchFamily="34" charset="0"/>
                <a:ea typeface="Aptos" pitchFamily="34" charset="-122"/>
                <a:cs typeface="Aptos" pitchFamily="34" charset="-120"/>
              </a:rPr>
              <a:t>CS461  /  MACHINE LEARNING PRINCIPLES</a:t>
            </a:r>
            <a:endParaRPr lang="en-US" sz="1100" dirty="0"/>
          </a:p>
        </p:txBody>
      </p:sp>
      <p:sp>
        <p:nvSpPr>
          <p:cNvPr id="4" name="Text 2"/>
          <p:cNvSpPr/>
          <p:nvPr/>
        </p:nvSpPr>
        <p:spPr>
          <a:xfrm>
            <a:off x="9144000" y="246888"/>
            <a:ext cx="2487168" cy="274320"/>
          </a:xfrm>
          <a:prstGeom prst="rect">
            <a:avLst/>
          </a:prstGeom>
          <a:noFill/>
          <a:ln/>
        </p:spPr>
        <p:txBody>
          <a:bodyPr wrap="square" lIns="0" tIns="0" rIns="0" bIns="0" rtlCol="0" anchor="ctr">
            <a:spAutoFit/>
          </a:bodyPr>
          <a:lstStyle/>
          <a:p>
            <a:pPr marL="0" indent="0" algn="r">
              <a:buNone/>
            </a:pPr>
            <a:r>
              <a:rPr lang="en-US" sz="1200" b="1" dirty="0">
                <a:solidFill>
                  <a:srgbClr val="087F82"/>
                </a:solidFill>
                <a:latin typeface="Aptos" pitchFamily="34" charset="0"/>
                <a:ea typeface="Aptos" pitchFamily="34" charset="-122"/>
                <a:cs typeface="Aptos" pitchFamily="34" charset="-120"/>
              </a:rPr>
              <a:t>19:15–20:00</a:t>
            </a:r>
            <a:endParaRPr lang="en-US" sz="1200" dirty="0"/>
          </a:p>
        </p:txBody>
      </p:sp>
      <p:sp>
        <p:nvSpPr>
          <p:cNvPr id="5" name="Text 3"/>
          <p:cNvSpPr/>
          <p:nvPr/>
        </p:nvSpPr>
        <p:spPr>
          <a:xfrm>
            <a:off x="566928" y="658368"/>
            <a:ext cx="10789920" cy="237744"/>
          </a:xfrm>
          <a:prstGeom prst="rect">
            <a:avLst/>
          </a:prstGeom>
          <a:noFill/>
          <a:ln/>
        </p:spPr>
        <p:txBody>
          <a:bodyPr wrap="square" lIns="0" tIns="0" rIns="0" bIns="0" rtlCol="0" anchor="ctr">
            <a:spAutoFit/>
          </a:bodyPr>
          <a:lstStyle/>
          <a:p>
            <a:pPr marL="0" indent="0">
              <a:buNone/>
            </a:pPr>
            <a:r>
              <a:rPr lang="en-US" sz="1150" b="1" kern="0" spc="110" dirty="0">
                <a:solidFill>
                  <a:srgbClr val="087F82"/>
                </a:solidFill>
                <a:latin typeface="Aptos" pitchFamily="34" charset="0"/>
                <a:ea typeface="Aptos" pitchFamily="34" charset="-122"/>
                <a:cs typeface="Aptos" pitchFamily="34" charset="-120"/>
              </a:rPr>
              <a:t>FINISH THE REVIEW HERE</a:t>
            </a:r>
            <a:endParaRPr lang="en-US" sz="1150" dirty="0"/>
          </a:p>
        </p:txBody>
      </p:sp>
      <p:sp>
        <p:nvSpPr>
          <p:cNvPr id="6" name="Text 4"/>
          <p:cNvSpPr/>
          <p:nvPr/>
        </p:nvSpPr>
        <p:spPr>
          <a:xfrm>
            <a:off x="548640" y="987552"/>
            <a:ext cx="11045952" cy="585216"/>
          </a:xfrm>
          <a:prstGeom prst="rect">
            <a:avLst/>
          </a:prstGeom>
          <a:noFill/>
          <a:ln/>
        </p:spPr>
        <p:txBody>
          <a:bodyPr wrap="square" lIns="0" tIns="0" rIns="0" bIns="0" rtlCol="0" anchor="ctr">
            <a:spAutoFit/>
          </a:bodyPr>
          <a:lstStyle/>
          <a:p>
            <a:pPr marL="0" indent="0">
              <a:buNone/>
            </a:pPr>
            <a:r>
              <a:rPr lang="en-US" sz="3150" b="1" dirty="0">
                <a:solidFill>
                  <a:srgbClr val="14263D"/>
                </a:solidFill>
                <a:latin typeface="Aptos Display" pitchFamily="34" charset="0"/>
                <a:ea typeface="Aptos Display" pitchFamily="34" charset="-122"/>
                <a:cs typeface="Aptos Display" pitchFamily="34" charset="-120"/>
              </a:rPr>
              <a:t>The four things to keep</a:t>
            </a:r>
            <a:endParaRPr lang="en-US" sz="3150" dirty="0"/>
          </a:p>
        </p:txBody>
      </p:sp>
      <p:sp>
        <p:nvSpPr>
          <p:cNvPr id="7" name="Shape 5"/>
          <p:cNvSpPr/>
          <p:nvPr/>
        </p:nvSpPr>
        <p:spPr>
          <a:xfrm>
            <a:off x="566928" y="6382512"/>
            <a:ext cx="11055096" cy="0"/>
          </a:xfrm>
          <a:prstGeom prst="line">
            <a:avLst/>
          </a:prstGeom>
          <a:noFill/>
          <a:ln w="12700">
            <a:solidFill>
              <a:srgbClr val="DAE2EB"/>
            </a:solidFill>
            <a:prstDash val="solid"/>
          </a:ln>
        </p:spPr>
      </p:sp>
      <p:sp>
        <p:nvSpPr>
          <p:cNvPr id="8" name="Text 6"/>
          <p:cNvSpPr/>
          <p:nvPr/>
        </p:nvSpPr>
        <p:spPr>
          <a:xfrm>
            <a:off x="576072" y="6483096"/>
            <a:ext cx="9784080" cy="173736"/>
          </a:xfrm>
          <a:prstGeom prst="rect">
            <a:avLst/>
          </a:prstGeom>
          <a:noFill/>
          <a:ln/>
        </p:spPr>
        <p:txBody>
          <a:bodyPr wrap="square" lIns="0" tIns="0" rIns="0" bIns="0" rtlCol="0" anchor="ctr">
            <a:spAutoFit/>
          </a:bodyPr>
          <a:lstStyle/>
          <a:p>
            <a:pPr marL="0" indent="0">
              <a:buNone/>
            </a:pPr>
            <a:r>
              <a:rPr lang="en-US" sz="950" dirty="0">
                <a:solidFill>
                  <a:srgbClr val="5E6E80"/>
                </a:solidFill>
                <a:latin typeface="Aptos" pitchFamily="34" charset="0"/>
                <a:ea typeface="Aptos" pitchFamily="34" charset="-122"/>
                <a:cs typeface="Aptos" pitchFamily="34" charset="-120"/>
              </a:rPr>
              <a:t>Firner L2 · Firner L3 · Firner L4 · Firner L6 | Core recap</a:t>
            </a:r>
            <a:endParaRPr lang="en-US" sz="950" dirty="0"/>
          </a:p>
        </p:txBody>
      </p:sp>
      <p:sp>
        <p:nvSpPr>
          <p:cNvPr id="9" name="Text 7"/>
          <p:cNvSpPr/>
          <p:nvPr/>
        </p:nvSpPr>
        <p:spPr>
          <a:xfrm>
            <a:off x="10671048" y="6464808"/>
            <a:ext cx="950976" cy="219456"/>
          </a:xfrm>
          <a:prstGeom prst="rect">
            <a:avLst/>
          </a:prstGeom>
          <a:noFill/>
          <a:ln/>
        </p:spPr>
        <p:txBody>
          <a:bodyPr wrap="square" lIns="0" tIns="0" rIns="0" bIns="0" rtlCol="0" anchor="ctr">
            <a:spAutoFit/>
          </a:bodyPr>
          <a:lstStyle/>
          <a:p>
            <a:pPr marL="0" indent="0" algn="r">
              <a:buNone/>
            </a:pPr>
            <a:r>
              <a:rPr lang="en-US" sz="1050" b="1" dirty="0">
                <a:solidFill>
                  <a:srgbClr val="5E6E80"/>
                </a:solidFill>
                <a:latin typeface="Aptos" pitchFamily="34" charset="0"/>
                <a:ea typeface="Aptos" pitchFamily="34" charset="-122"/>
                <a:cs typeface="Aptos" pitchFamily="34" charset="-120"/>
              </a:rPr>
              <a:t>15 / 15</a:t>
            </a:r>
            <a:endParaRPr lang="en-US" sz="1050" dirty="0"/>
          </a:p>
        </p:txBody>
      </p:sp>
      <p:sp>
        <p:nvSpPr>
          <p:cNvPr id="10" name="Shape 8"/>
          <p:cNvSpPr/>
          <p:nvPr/>
        </p:nvSpPr>
        <p:spPr>
          <a:xfrm>
            <a:off x="594360" y="1874520"/>
            <a:ext cx="5394960" cy="1536192"/>
          </a:xfrm>
          <a:prstGeom prst="rect">
            <a:avLst/>
          </a:prstGeom>
          <a:solidFill>
            <a:srgbClr val="FFFFFF"/>
          </a:solidFill>
          <a:ln w="6350">
            <a:solidFill>
              <a:srgbClr val="FFFFFF"/>
            </a:solidFill>
            <a:prstDash val="solid"/>
          </a:ln>
        </p:spPr>
      </p:sp>
      <p:sp>
        <p:nvSpPr>
          <p:cNvPr id="11" name="Text 9"/>
          <p:cNvSpPr/>
          <p:nvPr/>
        </p:nvSpPr>
        <p:spPr>
          <a:xfrm>
            <a:off x="813816" y="2057400"/>
            <a:ext cx="4937760" cy="228600"/>
          </a:xfrm>
          <a:prstGeom prst="rect">
            <a:avLst/>
          </a:prstGeom>
          <a:noFill/>
          <a:ln/>
        </p:spPr>
        <p:txBody>
          <a:bodyPr wrap="square" lIns="0" tIns="0" rIns="0" bIns="0" rtlCol="0" anchor="ctr">
            <a:spAutoFit/>
          </a:bodyPr>
          <a:lstStyle/>
          <a:p>
            <a:pPr marL="0" indent="0">
              <a:buNone/>
            </a:pPr>
            <a:r>
              <a:rPr lang="en-US" sz="1200" b="1" dirty="0">
                <a:solidFill>
                  <a:srgbClr val="087F82"/>
                </a:solidFill>
                <a:latin typeface="Aptos" pitchFamily="34" charset="0"/>
                <a:ea typeface="Aptos" pitchFamily="34" charset="-122"/>
                <a:cs typeface="Aptos" pitchFamily="34" charset="-120"/>
              </a:rPr>
              <a:t>COUNT</a:t>
            </a:r>
            <a:endParaRPr lang="en-US" sz="1200" dirty="0"/>
          </a:p>
        </p:txBody>
      </p:sp>
      <p:sp>
        <p:nvSpPr>
          <p:cNvPr id="12" name="Text 10"/>
          <p:cNvSpPr/>
          <p:nvPr/>
        </p:nvSpPr>
        <p:spPr>
          <a:xfrm>
            <a:off x="813816" y="2459736"/>
            <a:ext cx="4956048" cy="320040"/>
          </a:xfrm>
          <a:prstGeom prst="rect">
            <a:avLst/>
          </a:prstGeom>
          <a:noFill/>
          <a:ln/>
        </p:spPr>
        <p:txBody>
          <a:bodyPr wrap="square" lIns="0" tIns="0" rIns="0" bIns="0" rtlCol="0" anchor="ctr">
            <a:spAutoFit/>
          </a:bodyPr>
          <a:lstStyle/>
          <a:p>
            <a:pPr marL="0" indent="0">
              <a:buNone/>
            </a:pPr>
            <a:r>
              <a:rPr lang="en-US" sz="1950" b="1" dirty="0">
                <a:solidFill>
                  <a:srgbClr val="14263D"/>
                </a:solidFill>
                <a:latin typeface="Aptos" pitchFamily="34" charset="0"/>
                <a:ea typeface="Aptos" pitchFamily="34" charset="-122"/>
                <a:cs typeface="Aptos" pitchFamily="34" charset="-120"/>
              </a:rPr>
              <a:t>Estimate = counts / total counts</a:t>
            </a:r>
            <a:endParaRPr lang="en-US" sz="1950"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2960" y="2926080"/>
            <a:ext cx="934695" cy="301752"/>
          </a:xfrm>
          <a:prstGeom prst="rect">
            <a:avLst/>
          </a:prstGeom>
        </p:spPr>
      </p:pic>
      <p:sp>
        <p:nvSpPr>
          <p:cNvPr id="14" name="Shape 11"/>
          <p:cNvSpPr/>
          <p:nvPr/>
        </p:nvSpPr>
        <p:spPr>
          <a:xfrm>
            <a:off x="6217920" y="1874520"/>
            <a:ext cx="5394960" cy="1536192"/>
          </a:xfrm>
          <a:prstGeom prst="rect">
            <a:avLst/>
          </a:prstGeom>
          <a:solidFill>
            <a:srgbClr val="FFFFFF"/>
          </a:solidFill>
          <a:ln w="6350">
            <a:solidFill>
              <a:srgbClr val="FFFFFF"/>
            </a:solidFill>
            <a:prstDash val="solid"/>
          </a:ln>
        </p:spPr>
      </p:sp>
      <p:sp>
        <p:nvSpPr>
          <p:cNvPr id="15" name="Text 12"/>
          <p:cNvSpPr/>
          <p:nvPr/>
        </p:nvSpPr>
        <p:spPr>
          <a:xfrm>
            <a:off x="6437376" y="2057400"/>
            <a:ext cx="4937760" cy="228600"/>
          </a:xfrm>
          <a:prstGeom prst="rect">
            <a:avLst/>
          </a:prstGeom>
          <a:noFill/>
          <a:ln/>
        </p:spPr>
        <p:txBody>
          <a:bodyPr wrap="square" lIns="0" tIns="0" rIns="0" bIns="0" rtlCol="0" anchor="ctr">
            <a:spAutoFit/>
          </a:bodyPr>
          <a:lstStyle/>
          <a:p>
            <a:pPr marL="0" indent="0">
              <a:buNone/>
            </a:pPr>
            <a:r>
              <a:rPr lang="en-US" sz="1200" b="1" dirty="0">
                <a:solidFill>
                  <a:srgbClr val="087F82"/>
                </a:solidFill>
                <a:latin typeface="Aptos" pitchFamily="34" charset="0"/>
                <a:ea typeface="Aptos" pitchFamily="34" charset="-122"/>
                <a:cs typeface="Aptos" pitchFamily="34" charset="-120"/>
              </a:rPr>
              <a:t>COMPARE</a:t>
            </a:r>
            <a:endParaRPr lang="en-US" sz="1200" dirty="0"/>
          </a:p>
        </p:txBody>
      </p:sp>
      <p:sp>
        <p:nvSpPr>
          <p:cNvPr id="16" name="Text 13"/>
          <p:cNvSpPr/>
          <p:nvPr/>
        </p:nvSpPr>
        <p:spPr>
          <a:xfrm>
            <a:off x="6437376" y="2459736"/>
            <a:ext cx="4956048" cy="320040"/>
          </a:xfrm>
          <a:prstGeom prst="rect">
            <a:avLst/>
          </a:prstGeom>
          <a:noFill/>
          <a:ln/>
        </p:spPr>
        <p:txBody>
          <a:bodyPr wrap="square" lIns="0" tIns="0" rIns="0" bIns="0" rtlCol="0" anchor="ctr">
            <a:spAutoFit/>
          </a:bodyPr>
          <a:lstStyle/>
          <a:p>
            <a:pPr marL="0" indent="0">
              <a:buNone/>
            </a:pPr>
            <a:r>
              <a:rPr lang="en-US" sz="1950" b="1" dirty="0">
                <a:solidFill>
                  <a:srgbClr val="14263D"/>
                </a:solidFill>
                <a:latin typeface="Aptos" pitchFamily="34" charset="0"/>
                <a:ea typeface="Aptos" pitchFamily="34" charset="-122"/>
                <a:cs typeface="Aptos" pitchFamily="34" charset="-120"/>
              </a:rPr>
              <a:t>Zero bias is not the whole objective</a:t>
            </a:r>
            <a:endParaRPr lang="en-US" sz="1950"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46520" y="2926080"/>
            <a:ext cx="3319272" cy="301752"/>
          </a:xfrm>
          <a:prstGeom prst="rect">
            <a:avLst/>
          </a:prstGeom>
        </p:spPr>
      </p:pic>
      <p:sp>
        <p:nvSpPr>
          <p:cNvPr id="18" name="Shape 14"/>
          <p:cNvSpPr/>
          <p:nvPr/>
        </p:nvSpPr>
        <p:spPr>
          <a:xfrm>
            <a:off x="594360" y="3639312"/>
            <a:ext cx="5394960" cy="1536192"/>
          </a:xfrm>
          <a:prstGeom prst="rect">
            <a:avLst/>
          </a:prstGeom>
          <a:solidFill>
            <a:srgbClr val="FFFFFF"/>
          </a:solidFill>
          <a:ln w="6350">
            <a:solidFill>
              <a:srgbClr val="FFFFFF"/>
            </a:solidFill>
            <a:prstDash val="solid"/>
          </a:ln>
        </p:spPr>
      </p:sp>
      <p:sp>
        <p:nvSpPr>
          <p:cNvPr id="19" name="Text 15"/>
          <p:cNvSpPr/>
          <p:nvPr/>
        </p:nvSpPr>
        <p:spPr>
          <a:xfrm>
            <a:off x="813816" y="3822192"/>
            <a:ext cx="4937760" cy="228600"/>
          </a:xfrm>
          <a:prstGeom prst="rect">
            <a:avLst/>
          </a:prstGeom>
          <a:noFill/>
          <a:ln/>
        </p:spPr>
        <p:txBody>
          <a:bodyPr wrap="square" lIns="0" tIns="0" rIns="0" bIns="0" rtlCol="0" anchor="ctr">
            <a:spAutoFit/>
          </a:bodyPr>
          <a:lstStyle/>
          <a:p>
            <a:pPr marL="0" indent="0">
              <a:buNone/>
            </a:pPr>
            <a:r>
              <a:rPr lang="en-US" sz="1200" b="1" dirty="0">
                <a:solidFill>
                  <a:srgbClr val="087F82"/>
                </a:solidFill>
                <a:latin typeface="Aptos" pitchFamily="34" charset="0"/>
                <a:ea typeface="Aptos" pitchFamily="34" charset="-122"/>
                <a:cs typeface="Aptos" pitchFamily="34" charset="-120"/>
              </a:rPr>
              <a:t>DISTINGUISH</a:t>
            </a:r>
            <a:endParaRPr lang="en-US" sz="1200" dirty="0"/>
          </a:p>
        </p:txBody>
      </p:sp>
      <p:sp>
        <p:nvSpPr>
          <p:cNvPr id="20" name="Text 16"/>
          <p:cNvSpPr/>
          <p:nvPr/>
        </p:nvSpPr>
        <p:spPr>
          <a:xfrm>
            <a:off x="813816" y="4224528"/>
            <a:ext cx="4956048" cy="320040"/>
          </a:xfrm>
          <a:prstGeom prst="rect">
            <a:avLst/>
          </a:prstGeom>
          <a:noFill/>
          <a:ln/>
        </p:spPr>
        <p:txBody>
          <a:bodyPr wrap="square" lIns="0" tIns="0" rIns="0" bIns="0" rtlCol="0" anchor="ctr">
            <a:spAutoFit/>
          </a:bodyPr>
          <a:lstStyle/>
          <a:p>
            <a:pPr marL="0" indent="0">
              <a:buNone/>
            </a:pPr>
            <a:r>
              <a:rPr lang="en-US" sz="1950" b="1" dirty="0">
                <a:solidFill>
                  <a:srgbClr val="14263D"/>
                </a:solidFill>
                <a:latin typeface="Aptos" pitchFamily="34" charset="0"/>
                <a:ea typeface="Aptos" pitchFamily="34" charset="-122"/>
                <a:cs typeface="Aptos" pitchFamily="34" charset="-120"/>
              </a:rPr>
              <a:t>What is learned? What is penalized?</a:t>
            </a:r>
            <a:endParaRPr lang="en-US" sz="1950"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960" y="4690872"/>
            <a:ext cx="4621570" cy="301752"/>
          </a:xfrm>
          <a:prstGeom prst="rect">
            <a:avLst/>
          </a:prstGeom>
        </p:spPr>
      </p:pic>
      <p:sp>
        <p:nvSpPr>
          <p:cNvPr id="22" name="Shape 17"/>
          <p:cNvSpPr/>
          <p:nvPr/>
        </p:nvSpPr>
        <p:spPr>
          <a:xfrm>
            <a:off x="6217920" y="3639312"/>
            <a:ext cx="5394960" cy="1536192"/>
          </a:xfrm>
          <a:prstGeom prst="rect">
            <a:avLst/>
          </a:prstGeom>
          <a:solidFill>
            <a:srgbClr val="FFFFFF"/>
          </a:solidFill>
          <a:ln w="6350">
            <a:solidFill>
              <a:srgbClr val="FFFFFF"/>
            </a:solidFill>
            <a:prstDash val="solid"/>
          </a:ln>
        </p:spPr>
      </p:sp>
      <p:sp>
        <p:nvSpPr>
          <p:cNvPr id="23" name="Text 18"/>
          <p:cNvSpPr/>
          <p:nvPr/>
        </p:nvSpPr>
        <p:spPr>
          <a:xfrm>
            <a:off x="6437376" y="3822192"/>
            <a:ext cx="4937760" cy="228600"/>
          </a:xfrm>
          <a:prstGeom prst="rect">
            <a:avLst/>
          </a:prstGeom>
          <a:noFill/>
          <a:ln/>
        </p:spPr>
        <p:txBody>
          <a:bodyPr wrap="square" lIns="0" tIns="0" rIns="0" bIns="0" rtlCol="0" anchor="ctr">
            <a:spAutoFit/>
          </a:bodyPr>
          <a:lstStyle/>
          <a:p>
            <a:pPr marL="0" indent="0">
              <a:buNone/>
            </a:pPr>
            <a:r>
              <a:rPr lang="en-US" sz="1200" b="1" dirty="0">
                <a:solidFill>
                  <a:srgbClr val="087F82"/>
                </a:solidFill>
                <a:latin typeface="Aptos" pitchFamily="34" charset="0"/>
                <a:ea typeface="Aptos" pitchFamily="34" charset="-122"/>
                <a:cs typeface="Aptos" pitchFamily="34" charset="-120"/>
              </a:rPr>
              <a:t>EXPAND</a:t>
            </a:r>
            <a:endParaRPr lang="en-US" sz="1200" dirty="0"/>
          </a:p>
        </p:txBody>
      </p:sp>
      <p:sp>
        <p:nvSpPr>
          <p:cNvPr id="24" name="Text 19"/>
          <p:cNvSpPr/>
          <p:nvPr/>
        </p:nvSpPr>
        <p:spPr>
          <a:xfrm>
            <a:off x="6437376" y="4224528"/>
            <a:ext cx="4956048" cy="320040"/>
          </a:xfrm>
          <a:prstGeom prst="rect">
            <a:avLst/>
          </a:prstGeom>
          <a:noFill/>
          <a:ln/>
        </p:spPr>
        <p:txBody>
          <a:bodyPr wrap="square" lIns="0" tIns="0" rIns="0" bIns="0" rtlCol="0" anchor="ctr">
            <a:spAutoFit/>
          </a:bodyPr>
          <a:lstStyle/>
          <a:p>
            <a:pPr marL="0" indent="0">
              <a:buNone/>
            </a:pPr>
            <a:r>
              <a:rPr lang="en-US" sz="1950" b="1" dirty="0">
                <a:solidFill>
                  <a:srgbClr val="14263D"/>
                </a:solidFill>
                <a:latin typeface="Aptos" pitchFamily="34" charset="0"/>
                <a:ea typeface="Aptos" pitchFamily="34" charset="-122"/>
                <a:cs typeface="Aptos" pitchFamily="34" charset="-120"/>
              </a:rPr>
              <a:t>An interaction can change the boundary</a:t>
            </a:r>
            <a:endParaRPr lang="en-US" sz="1950" dirty="0"/>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46520" y="4690872"/>
            <a:ext cx="2668123" cy="301752"/>
          </a:xfrm>
          <a:prstGeom prst="rect">
            <a:avLst/>
          </a:prstGeom>
        </p:spPr>
      </p:pic>
      <p:sp>
        <p:nvSpPr>
          <p:cNvPr id="26" name="Shape 20"/>
          <p:cNvSpPr/>
          <p:nvPr/>
        </p:nvSpPr>
        <p:spPr>
          <a:xfrm>
            <a:off x="566928" y="5824728"/>
            <a:ext cx="11045952" cy="457200"/>
          </a:xfrm>
          <a:prstGeom prst="rect">
            <a:avLst/>
          </a:prstGeom>
          <a:solidFill>
            <a:srgbClr val="E7F4F2"/>
          </a:solidFill>
          <a:ln w="6350">
            <a:solidFill>
              <a:srgbClr val="E7F4F2"/>
            </a:solidFill>
            <a:prstDash val="solid"/>
          </a:ln>
        </p:spPr>
      </p:sp>
      <p:sp>
        <p:nvSpPr>
          <p:cNvPr id="27" name="Text 21"/>
          <p:cNvSpPr/>
          <p:nvPr/>
        </p:nvSpPr>
        <p:spPr>
          <a:xfrm>
            <a:off x="758952" y="5861304"/>
            <a:ext cx="10671048" cy="365760"/>
          </a:xfrm>
          <a:prstGeom prst="rect">
            <a:avLst/>
          </a:prstGeom>
          <a:noFill/>
          <a:ln/>
        </p:spPr>
        <p:txBody>
          <a:bodyPr wrap="square" lIns="0" tIns="0" rIns="0" bIns="0" rtlCol="0" anchor="ctr">
            <a:spAutoFit/>
          </a:bodyPr>
          <a:lstStyle/>
          <a:p>
            <a:pPr marL="0" indent="0">
              <a:buNone/>
            </a:pPr>
            <a:r>
              <a:rPr lang="en-US" sz="1900" b="1" dirty="0">
                <a:solidFill>
                  <a:srgbClr val="087F82"/>
                </a:solidFill>
                <a:latin typeface="Aptos" pitchFamily="34" charset="0"/>
                <a:ea typeface="Aptos" pitchFamily="34" charset="-122"/>
                <a:cs typeface="Aptos" pitchFamily="34" charset="-120"/>
              </a:rPr>
              <a:t>Read “true / false / does NOT” carefully. Show your setup for calculations.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4766</Words>
  <Application>Microsoft Office PowerPoint</Application>
  <PresentationFormat>宽屏</PresentationFormat>
  <Paragraphs>289</Paragraphs>
  <Slides>15</Slides>
  <Notes>15</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Aptos</vt:lpstr>
      <vt:lpstr>Aptos Display</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Rutgers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CS461 | Quiz 1 Review</dc:title>
  <dc:subject>20-minute CS461 Quiz 1 review, aligned to public Lecture 05 and 06 sample topics</dc:subject>
  <dc:creator>Yibin Wang</dc:creator>
  <cp:lastModifiedBy>Yibin Wang</cp:lastModifiedBy>
  <cp:revision>2</cp:revision>
  <dcterms:created xsi:type="dcterms:W3CDTF">2026-09-21T15:49:44Z</dcterms:created>
  <dcterms:modified xsi:type="dcterms:W3CDTF">2026-09-21T16:52:48Z</dcterms:modified>
</cp:coreProperties>
</file>